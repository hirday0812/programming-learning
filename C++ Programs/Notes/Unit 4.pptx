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8" r:id="rId13"/>
    <p:sldId id="299" r:id="rId14"/>
    <p:sldId id="300" r:id="rId15"/>
    <p:sldId id="301" r:id="rId16"/>
    <p:sldId id="302" r:id="rId17"/>
    <p:sldId id="307" r:id="rId18"/>
    <p:sldId id="308" r:id="rId19"/>
    <p:sldId id="305" r:id="rId20"/>
    <p:sldId id="303" r:id="rId21"/>
    <p:sldId id="309" r:id="rId22"/>
    <p:sldId id="310" r:id="rId23"/>
    <p:sldId id="311" r:id="rId24"/>
    <p:sldId id="312" r:id="rId25"/>
    <p:sldId id="306" r:id="rId26"/>
    <p:sldId id="304" r:id="rId27"/>
    <p:sldId id="267" r:id="rId28"/>
    <p:sldId id="313" r:id="rId29"/>
    <p:sldId id="268" r:id="rId30"/>
    <p:sldId id="314" r:id="rId31"/>
    <p:sldId id="320" r:id="rId32"/>
    <p:sldId id="317" r:id="rId33"/>
    <p:sldId id="322" r:id="rId34"/>
    <p:sldId id="321" r:id="rId35"/>
    <p:sldId id="315" r:id="rId36"/>
    <p:sldId id="316" r:id="rId37"/>
    <p:sldId id="269" r:id="rId38"/>
    <p:sldId id="318" r:id="rId39"/>
    <p:sldId id="319" r:id="rId40"/>
    <p:sldId id="270" r:id="rId41"/>
    <p:sldId id="323" r:id="rId42"/>
    <p:sldId id="324" r:id="rId43"/>
    <p:sldId id="325" r:id="rId44"/>
    <p:sldId id="326" r:id="rId45"/>
    <p:sldId id="355" r:id="rId46"/>
    <p:sldId id="354" r:id="rId47"/>
    <p:sldId id="327" r:id="rId48"/>
    <p:sldId id="328" r:id="rId49"/>
    <p:sldId id="329" r:id="rId50"/>
    <p:sldId id="330" r:id="rId51"/>
    <p:sldId id="331" r:id="rId52"/>
    <p:sldId id="332" r:id="rId53"/>
    <p:sldId id="333" r:id="rId54"/>
    <p:sldId id="334" r:id="rId55"/>
    <p:sldId id="335" r:id="rId56"/>
    <p:sldId id="336" r:id="rId57"/>
    <p:sldId id="337" r:id="rId58"/>
    <p:sldId id="338" r:id="rId59"/>
    <p:sldId id="339" r:id="rId60"/>
    <p:sldId id="340" r:id="rId61"/>
    <p:sldId id="341" r:id="rId62"/>
    <p:sldId id="342" r:id="rId63"/>
    <p:sldId id="343" r:id="rId64"/>
    <p:sldId id="344" r:id="rId65"/>
    <p:sldId id="345" r:id="rId66"/>
    <p:sldId id="346" r:id="rId67"/>
    <p:sldId id="347" r:id="rId68"/>
    <p:sldId id="348" r:id="rId69"/>
    <p:sldId id="349" r:id="rId70"/>
    <p:sldId id="350" r:id="rId71"/>
    <p:sldId id="351" r:id="rId72"/>
    <p:sldId id="352" r:id="rId73"/>
    <p:sldId id="353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882" autoAdjust="0"/>
  </p:normalViewPr>
  <p:slideViewPr>
    <p:cSldViewPr snapToGrid="0">
      <p:cViewPr varScale="1">
        <p:scale>
          <a:sx n="71" d="100"/>
          <a:sy n="71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FE4A6-2F1C-4CE0-B5A0-A9D7D12E9BB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6A762-809A-4060-956F-6BF682C040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5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Vehicle</a:t>
            </a:r>
            <a:r>
              <a:rPr lang="en-US" dirty="0"/>
              <a:t> contains common features like </a:t>
            </a:r>
            <a:r>
              <a:rPr lang="en-US" b="1" dirty="0"/>
              <a:t>speed, engine control, start(), stop()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</a:t>
            </a:r>
            <a:r>
              <a:rPr lang="en-US" dirty="0"/>
              <a:t> inherits all features of </a:t>
            </a:r>
            <a:r>
              <a:rPr lang="en-US" b="1" dirty="0"/>
              <a:t>Vehicle</a:t>
            </a:r>
            <a:r>
              <a:rPr lang="en-US" dirty="0"/>
              <a:t> and may add </a:t>
            </a:r>
            <a:r>
              <a:rPr lang="en-US" b="1" dirty="0" err="1"/>
              <a:t>numberOfDoors</a:t>
            </a:r>
            <a:r>
              <a:rPr lang="en-US" b="1" dirty="0"/>
              <a:t>, </a:t>
            </a:r>
            <a:r>
              <a:rPr lang="en-US" b="1" dirty="0" err="1"/>
              <a:t>airConditioning</a:t>
            </a:r>
            <a:r>
              <a:rPr lang="en-US" b="1" dirty="0"/>
              <a:t>()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ElectricCar</a:t>
            </a:r>
            <a:r>
              <a:rPr lang="en-US" dirty="0"/>
              <a:t> inherits all features of </a:t>
            </a:r>
            <a:r>
              <a:rPr lang="en-US" b="1" dirty="0"/>
              <a:t>Car</a:t>
            </a:r>
            <a:r>
              <a:rPr lang="en-US" dirty="0"/>
              <a:t> and may add </a:t>
            </a:r>
            <a:r>
              <a:rPr lang="en-US" b="1" dirty="0" err="1"/>
              <a:t>batteryLevel</a:t>
            </a:r>
            <a:r>
              <a:rPr lang="en-US" b="1" dirty="0"/>
              <a:t>, </a:t>
            </a:r>
            <a:r>
              <a:rPr lang="en-US" b="1" dirty="0" err="1"/>
              <a:t>chargeBattery</a:t>
            </a:r>
            <a:r>
              <a:rPr lang="en-US" b="1" dirty="0"/>
              <a:t>()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160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</a:t>
            </a:r>
            <a:r>
              <a:rPr lang="en-US" dirty="0"/>
              <a:t> is the </a:t>
            </a:r>
            <a:r>
              <a:rPr lang="en-US" b="1" dirty="0"/>
              <a:t>base class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Marks</a:t>
            </a:r>
            <a:r>
              <a:rPr lang="en-US" dirty="0"/>
              <a:t> is the </a:t>
            </a:r>
            <a:r>
              <a:rPr lang="en-US" b="1" dirty="0"/>
              <a:t>derived class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Marks</a:t>
            </a:r>
            <a:r>
              <a:rPr lang="en-US" dirty="0"/>
              <a:t> automatically inherits </a:t>
            </a:r>
            <a:r>
              <a:rPr lang="en-US" b="1" dirty="0"/>
              <a:t>roll and </a:t>
            </a:r>
            <a:r>
              <a:rPr lang="en-US" b="1" dirty="0" err="1"/>
              <a:t>getRoll</a:t>
            </a:r>
            <a:r>
              <a:rPr lang="en-US" b="1" dirty="0"/>
              <a:t>()</a:t>
            </a:r>
            <a:r>
              <a:rPr lang="en-US" dirty="0"/>
              <a:t> from Student.</a:t>
            </a:r>
          </a:p>
          <a:p>
            <a:r>
              <a:rPr lang="en-US" dirty="0"/>
              <a:t>So we can directly 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</a:t>
            </a:r>
            <a:r>
              <a:rPr lang="en-US" dirty="0"/>
              <a:t> inside the derived class.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185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Because roll and </a:t>
            </a:r>
            <a:r>
              <a:rPr lang="en-US" b="0" dirty="0" err="1"/>
              <a:t>getRoll</a:t>
            </a:r>
            <a:r>
              <a:rPr lang="en-US" b="0" dirty="0"/>
              <a:t>() are public in Student (in previous example), and the inheritance is public, they remain public in the derived class Marks.</a:t>
            </a:r>
          </a:p>
          <a:p>
            <a:r>
              <a:rPr lang="en-US" b="0" dirty="0"/>
              <a:t>Therefore:</a:t>
            </a:r>
          </a:p>
          <a:p>
            <a:r>
              <a:rPr lang="en-US" b="0" dirty="0"/>
              <a:t>They can be used inside the derived class</a:t>
            </a:r>
          </a:p>
          <a:p>
            <a:r>
              <a:rPr lang="en-US" b="0" dirty="0"/>
              <a:t>They can also be accessed directly in main() using the object</a:t>
            </a:r>
          </a:p>
          <a:p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875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</a:t>
            </a:r>
            <a:r>
              <a:rPr lang="en-US" b="0" dirty="0"/>
              <a:t> members become private inside Marks.</a:t>
            </a:r>
          </a:p>
          <a:p>
            <a:r>
              <a:rPr lang="en-US" b="0" dirty="0"/>
              <a:t>So they cannot be accessed directly in main().</a:t>
            </a:r>
          </a:p>
          <a:p>
            <a:r>
              <a:rPr lang="en-US" b="0" dirty="0"/>
              <a:t>They can only be used inside the derived class functions.</a:t>
            </a:r>
          </a:p>
          <a:p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240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</a:t>
            </a:r>
            <a:r>
              <a:rPr lang="en-US" b="0" dirty="0"/>
              <a:t> is protected in Student.</a:t>
            </a:r>
          </a:p>
          <a:p>
            <a:r>
              <a:rPr lang="en-US" b="0" dirty="0"/>
              <a:t>It cannot be accessed directly in main().</a:t>
            </a:r>
          </a:p>
          <a:p>
            <a:r>
              <a:rPr lang="en-US" b="0" dirty="0"/>
              <a:t>But it can be used inside the derived class.</a:t>
            </a:r>
          </a:p>
          <a:p>
            <a:r>
              <a:rPr lang="en-US" b="0" dirty="0"/>
              <a:t>This is why protected is commonly used in inheritance.</a:t>
            </a:r>
          </a:p>
          <a:p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176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1817-0A6B-FF2D-BD2A-B9106AC8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CF7A5-6A60-8EFB-5613-7326DEEA2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4F856-7B40-85C6-BBB6-A905490E8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557F0-2BA1-B91F-4405-4957002AA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793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859A-BDD0-8986-E6FC-DA2C3053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8C619-BE4C-DD82-0F74-D5321B8F6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DE997-2E15-A2A3-411D-77BA0DA57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Explanation</a:t>
            </a:r>
          </a:p>
          <a:p>
            <a:r>
              <a:rPr lang="en-US" b="0" dirty="0"/>
              <a:t>In the Student class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</a:t>
            </a:r>
            <a:r>
              <a:rPr lang="en-US" b="0" dirty="0"/>
              <a:t> → public</a:t>
            </a:r>
          </a:p>
          <a:p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getRoll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b="0" dirty="0"/>
              <a:t> → public</a:t>
            </a:r>
          </a:p>
          <a:p>
            <a:r>
              <a:rPr lang="en-US" b="0" dirty="0"/>
              <a:t>But because inheritance is protected</a:t>
            </a:r>
          </a:p>
          <a:p>
            <a:pPr rtl="0"/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Marks : protected Student</a:t>
            </a:r>
          </a:p>
          <a:p>
            <a:r>
              <a:rPr lang="en-US" b="0" dirty="0"/>
              <a:t>They become protected inside Marks.</a:t>
            </a:r>
          </a:p>
          <a:p>
            <a:r>
              <a:rPr lang="en-US" b="0" dirty="0"/>
              <a:t>So they can be used: Inside the derived class</a:t>
            </a:r>
          </a:p>
          <a:p>
            <a:pPr rtl="0"/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getRoll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  <a:b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roll;</a:t>
            </a:r>
          </a:p>
          <a:p>
            <a:endParaRPr lang="en-US" b="0" dirty="0"/>
          </a:p>
          <a:p>
            <a:r>
              <a:rPr lang="en-US" b="0" dirty="0"/>
              <a:t>But they cannot be accessed directly in main()</a:t>
            </a:r>
          </a:p>
          <a:p>
            <a:r>
              <a:rPr lang="en-US" b="0" dirty="0"/>
              <a:t>For example, this would cause an error:</a:t>
            </a:r>
          </a:p>
          <a:p>
            <a:pPr rtl="0"/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m.getRoll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   //  not allowed</a:t>
            </a:r>
            <a:b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m.roll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//  not allowed</a:t>
            </a:r>
          </a:p>
          <a:p>
            <a:r>
              <a:rPr lang="en-US" b="0" dirty="0"/>
              <a:t>Because they are now protected members of Marks.</a:t>
            </a:r>
          </a:p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6DBBE-67B7-A6FA-E4EB-DA6559F9D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57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Explanation</a:t>
            </a:r>
          </a:p>
          <a:p>
            <a:r>
              <a:rPr lang="en-US" b="0" dirty="0"/>
              <a:t>When object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en-US" b="0" dirty="0"/>
              <a:t> is created:</a:t>
            </a:r>
          </a:p>
          <a:p>
            <a:r>
              <a:rPr lang="en-US" b="0" dirty="0"/>
              <a:t>Base class constructor executes first</a:t>
            </a:r>
          </a:p>
          <a:p>
            <a:r>
              <a:rPr lang="en-US" b="0" dirty="0"/>
              <a:t>Then derived class constructor executes</a:t>
            </a:r>
          </a:p>
          <a:p>
            <a:r>
              <a:rPr lang="en-US" b="0" dirty="0"/>
              <a:t>This ensures base class initialization happens first.</a:t>
            </a:r>
          </a:p>
          <a:p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624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Output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 Constructor Called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Marks Constructor Called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 No: 101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Marks: 90</a:t>
            </a:r>
          </a:p>
          <a:p>
            <a:r>
              <a:rPr lang="en-US" b="1" dirty="0"/>
              <a:t>Explanation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Student(r)</a:t>
            </a:r>
            <a:r>
              <a:rPr lang="en-US" dirty="0"/>
              <a:t> in the initializer list calls the </a:t>
            </a:r>
            <a:r>
              <a:rPr lang="en-US" b="1" dirty="0"/>
              <a:t>base class constructor before the derived constructor executes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767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576B-4C18-7684-2329-77DD2991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C17D4-E8D2-01B9-8786-74678519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F2426-5D0A-8987-89E0-DC8E8C2B8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AA420-990D-336E-60BB-00FAC1E28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343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Explanation</a:t>
            </a:r>
          </a:p>
          <a:p>
            <a:r>
              <a:rPr lang="en-US" b="0" dirty="0"/>
              <a:t>When program ends:</a:t>
            </a:r>
          </a:p>
          <a:p>
            <a:r>
              <a:rPr lang="en-US" b="0" dirty="0"/>
              <a:t>Derived class destructor executes first</a:t>
            </a:r>
          </a:p>
          <a:p>
            <a:r>
              <a:rPr lang="en-US" b="0" dirty="0"/>
              <a:t>Then base class destructor executes</a:t>
            </a:r>
          </a:p>
          <a:p>
            <a:r>
              <a:rPr lang="en-US" b="0" dirty="0"/>
              <a:t>This ensures derived class resources are released before base class resources.</a:t>
            </a:r>
          </a:p>
          <a:p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600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E77D-1861-A885-752F-6B244D5AD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21A6F-24DB-6EA7-E52E-06D61A512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A77F6-D803-D739-9619-A81EA5C0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Constructor Execution Order</a:t>
            </a:r>
          </a:p>
          <a:p>
            <a:r>
              <a:rPr lang="en-US" dirty="0"/>
              <a:t>If constructors are used, execution order is: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 Constructor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↓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Marks Constructor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↓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 Constructor</a:t>
            </a:r>
          </a:p>
          <a:p>
            <a:r>
              <a:rPr lang="en-US" dirty="0"/>
              <a:t>Because inheritance follows </a:t>
            </a:r>
            <a:r>
              <a:rPr lang="en-US" b="1" dirty="0"/>
              <a:t>top-to-bottom order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Destructor Order</a:t>
            </a:r>
          </a:p>
          <a:p>
            <a:r>
              <a:rPr lang="en-US" dirty="0"/>
              <a:t>Destructors execute in </a:t>
            </a:r>
            <a:r>
              <a:rPr lang="en-US" b="1" dirty="0"/>
              <a:t>reverse order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 Destructor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↓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Marks Destructor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↓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 Destructor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Advantages of Multilevel Inheritance</a:t>
            </a:r>
          </a:p>
          <a:p>
            <a:r>
              <a:rPr lang="en-US" b="1" dirty="0"/>
              <a:t>Code Reusability</a:t>
            </a:r>
            <a:br>
              <a:rPr lang="en-US" dirty="0"/>
            </a:br>
            <a:r>
              <a:rPr lang="en-US" dirty="0"/>
              <a:t>Classes reuse features of previous classes.</a:t>
            </a:r>
          </a:p>
          <a:p>
            <a:r>
              <a:rPr lang="en-US" b="1" dirty="0"/>
              <a:t>Hierarchical Structure</a:t>
            </a:r>
            <a:br>
              <a:rPr lang="en-US" dirty="0"/>
            </a:br>
            <a:r>
              <a:rPr lang="en-US" dirty="0"/>
              <a:t>Programs become well organized.</a:t>
            </a:r>
          </a:p>
          <a:p>
            <a:r>
              <a:rPr lang="en-US" b="1" dirty="0"/>
              <a:t>Easy Extension</a:t>
            </a:r>
            <a:br>
              <a:rPr lang="en-US" dirty="0"/>
            </a:br>
            <a:r>
              <a:rPr lang="en-US" dirty="0"/>
              <a:t>New functionality can be added in further derived classes.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Diagram (Concept)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Student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│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│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Marks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│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│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Result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Points for Exams</a:t>
            </a:r>
          </a:p>
          <a:p>
            <a:r>
              <a:rPr lang="en-US" dirty="0"/>
              <a:t>Multilevel inheritance means </a:t>
            </a:r>
            <a:r>
              <a:rPr lang="en-US" b="1" dirty="0"/>
              <a:t>inheritance chain of classes</a:t>
            </a:r>
            <a:r>
              <a:rPr lang="en-US" dirty="0"/>
              <a:t>.</a:t>
            </a:r>
          </a:p>
          <a:p>
            <a:r>
              <a:rPr lang="en-US" dirty="0"/>
              <a:t>A derived class inherits </a:t>
            </a:r>
            <a:r>
              <a:rPr lang="en-US" b="1" dirty="0"/>
              <a:t>all accessible members of its parent class</a:t>
            </a:r>
            <a:r>
              <a:rPr lang="en-US" dirty="0"/>
              <a:t>.</a:t>
            </a:r>
          </a:p>
          <a:p>
            <a:r>
              <a:rPr lang="en-US" dirty="0"/>
              <a:t>Constructors execute </a:t>
            </a:r>
            <a:r>
              <a:rPr lang="en-US" b="1" dirty="0"/>
              <a:t>from base to derived</a:t>
            </a:r>
            <a:r>
              <a:rPr lang="en-US" dirty="0"/>
              <a:t>.</a:t>
            </a:r>
          </a:p>
          <a:p>
            <a:r>
              <a:rPr lang="en-US" dirty="0"/>
              <a:t>Destructors execute </a:t>
            </a:r>
            <a:r>
              <a:rPr lang="en-US" b="1" dirty="0"/>
              <a:t>from derived to base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you want, I can also show a </a:t>
            </a:r>
            <a:r>
              <a:rPr lang="en-US" b="1" dirty="0"/>
              <a:t>slightly better multilevel example used in most textbooks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 → Test → Sports → Result</a:t>
            </a:r>
          </a:p>
          <a:p>
            <a:r>
              <a:rPr lang="en-US" dirty="0"/>
              <a:t>This example also helps students understand </a:t>
            </a:r>
            <a:r>
              <a:rPr lang="en-US" b="1" dirty="0"/>
              <a:t>how marks from multiple sources combine</a:t>
            </a:r>
            <a:r>
              <a:rPr lang="en-US" dirty="0"/>
              <a:t>, and it is </a:t>
            </a:r>
            <a:r>
              <a:rPr lang="en-US" b="1" dirty="0"/>
              <a:t>commonly asked in university exams</a:t>
            </a:r>
            <a:r>
              <a:rPr lang="en-US" dirty="0"/>
              <a:t>.</a:t>
            </a:r>
          </a:p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D0CB6-9158-7FAA-7DBA-827EA5953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699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45C57-0601-64AE-213C-96522084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27795-2706-D799-0DE4-453BFEF9C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C6A2B-22E1-E046-8720-8A1FB2C4D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FD0C1-36BC-4DF7-0B81-0E026D909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56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AC435-3489-D84D-1B43-804DBB16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44B49-F22F-FDC9-406B-6B70EB305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F3EF1-EF6A-5309-CB16-C54A46751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Error Explanation</a:t>
            </a:r>
          </a:p>
          <a:p>
            <a:r>
              <a:rPr lang="en-US" dirty="0"/>
              <a:t>The compiler finds </a:t>
            </a:r>
            <a:r>
              <a:rPr lang="en-US" b="1" dirty="0"/>
              <a:t>two possible functions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Marks::show()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Comments::show()</a:t>
            </a:r>
          </a:p>
          <a:p>
            <a:r>
              <a:rPr lang="en-US" dirty="0"/>
              <a:t>So when we write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r.show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dirty="0"/>
              <a:t>the compiler </a:t>
            </a:r>
            <a:r>
              <a:rPr lang="en-US" b="1" dirty="0"/>
              <a:t>does not know which function should be called</a:t>
            </a:r>
            <a:r>
              <a:rPr lang="en-US" dirty="0"/>
              <a:t>, resulting in </a:t>
            </a:r>
            <a:r>
              <a:rPr lang="en-US" b="1" dirty="0"/>
              <a:t>ambiguity error</a:t>
            </a:r>
            <a:r>
              <a:rPr lang="en-US" dirty="0"/>
              <a:t>.</a:t>
            </a:r>
          </a:p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082D5-78A7-74FF-DB8F-67522937E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048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BC0B-A47E-5BB0-1CE6-1BB3C3EF9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2A8F6-499D-B57A-C308-1E1FA8308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7C276-5904-4DBD-B47F-6EC6427C4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Explanation</a:t>
            </a:r>
          </a:p>
          <a:p>
            <a:r>
              <a:rPr lang="en-US" dirty="0"/>
              <a:t>Here we explicitly specify </a:t>
            </a:r>
            <a:r>
              <a:rPr lang="en-US" b="1" dirty="0"/>
              <a:t>which class function should be called</a:t>
            </a:r>
            <a:r>
              <a:rPr lang="en-US" dirty="0"/>
              <a:t>.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r.Marks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::show();</a:t>
            </a:r>
          </a:p>
          <a:p>
            <a:r>
              <a:rPr lang="en-US" dirty="0"/>
              <a:t>calls the function from the </a:t>
            </a:r>
            <a:r>
              <a:rPr lang="en-US" b="1" dirty="0"/>
              <a:t>Marks class</a:t>
            </a:r>
            <a:r>
              <a:rPr lang="en-US" dirty="0"/>
              <a:t>.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r.Comments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::show();</a:t>
            </a:r>
          </a:p>
          <a:p>
            <a:r>
              <a:rPr lang="en-US" dirty="0"/>
              <a:t>calls the function from the </a:t>
            </a:r>
            <a:r>
              <a:rPr lang="en-US" b="1" dirty="0"/>
              <a:t>Comments class</a:t>
            </a:r>
            <a:r>
              <a:rPr lang="en-US" dirty="0"/>
              <a:t>.</a:t>
            </a:r>
          </a:p>
          <a:p>
            <a:r>
              <a:rPr lang="en-US" dirty="0"/>
              <a:t>Thus the </a:t>
            </a:r>
            <a:r>
              <a:rPr lang="en-US" b="1" dirty="0"/>
              <a:t>scope resolution operator removes the ambiguity</a:t>
            </a:r>
            <a:r>
              <a:rPr lang="en-US" dirty="0"/>
              <a:t>.</a:t>
            </a:r>
          </a:p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71BEC-407D-295A-B3A1-BAF19A168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310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7CEDD-BE39-97C7-2455-7C490A3C9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4654A-D83F-5A97-30AA-54414F0C3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38DF0-5BB2-73F1-E500-C59DDF358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27B84-AE2C-EAD1-B355-DE9B9EF97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70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EBBED-808D-4996-C990-3B37A277D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B2284-F707-C622-F316-7844079AD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E261A-9912-0AC6-B838-9BB50E1E8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B71BB-C652-ED24-8499-320360DB1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953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DE25-CF91-6ADA-B719-CA36F377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FEC42-842B-5553-9C7C-48E99D0E6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EE019-08EA-77DE-BA7E-AE19FE868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207A7-823F-8424-212A-5EF03277D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3841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2DE7B-81B6-8E6A-6DC8-4DF3B1F2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1FFED-89DE-C0C4-5689-528861E0C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18A87-5876-E525-C1AC-CCA5888CC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Ambiguity in Hybrid Inheritance</a:t>
            </a:r>
          </a:p>
          <a:p>
            <a:r>
              <a:rPr lang="en-US" dirty="0"/>
              <a:t>Because both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Marks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Sports</a:t>
            </a:r>
            <a:r>
              <a:rPr lang="en-US" dirty="0"/>
              <a:t> inherit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</a:t>
            </a:r>
            <a:r>
              <a:rPr lang="en-US" dirty="0"/>
              <a:t>,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en-US" dirty="0"/>
              <a:t> class receives </a:t>
            </a:r>
            <a:r>
              <a:rPr lang="en-US" b="1" dirty="0"/>
              <a:t>two copies of Student</a:t>
            </a:r>
            <a:r>
              <a:rPr lang="en-US" dirty="0"/>
              <a:t>.</a:t>
            </a:r>
          </a:p>
          <a:p>
            <a:r>
              <a:rPr lang="en-US" dirty="0"/>
              <a:t>Therefore accessing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</a:t>
            </a:r>
            <a:r>
              <a:rPr lang="en-US" dirty="0"/>
              <a:t> becomes ambiguous.</a:t>
            </a:r>
          </a:p>
          <a:p>
            <a:r>
              <a:rPr lang="en-US" dirty="0"/>
              <a:t>To solve this we specify: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Marks::roll</a:t>
            </a:r>
          </a:p>
          <a:p>
            <a:r>
              <a:rPr lang="en-US" dirty="0"/>
              <a:t>or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Sports::roll</a:t>
            </a:r>
          </a:p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FF6ED-552E-07E8-BE9E-6F3C9374D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512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7642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</a:t>
            </a:r>
            <a:r>
              <a:rPr lang="en-US" dirty="0"/>
              <a:t> ensures </a:t>
            </a:r>
            <a:r>
              <a:rPr lang="en-US" b="1" dirty="0"/>
              <a:t>only one shared copy of base class A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en-US" dirty="0"/>
              <a:t> now has </a:t>
            </a:r>
            <a:r>
              <a:rPr lang="en-US" b="1" dirty="0"/>
              <a:t>one A</a:t>
            </a:r>
            <a:r>
              <a:rPr lang="en-US" dirty="0"/>
              <a:t>, not two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0163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Output: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constructor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constructor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constructor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constructor</a:t>
            </a:r>
          </a:p>
          <a:p>
            <a:r>
              <a:rPr lang="en-US" dirty="0"/>
              <a:t>Even though B and C inherit A, </a:t>
            </a:r>
            <a:r>
              <a:rPr lang="en-US" b="1" dirty="0"/>
              <a:t>A runs only once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1111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4125-4FBA-0AE2-8235-451A55F1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B0D8B-720F-3FF8-0F2F-336DC4361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9023B-BF81-3703-1768-292DBE099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D48B6-4278-3DFA-B9EC-0EB6AF706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406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BB77-F232-0B51-226A-CC411E54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A83C7-A7CD-9026-0FAD-BED2574EE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B9A6E-F1DC-26A2-88CF-D78074D06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F8026-B04B-5327-8203-D836764BD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3874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Happened?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en-US" dirty="0"/>
              <a:t> has →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and y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/>
              <a:t> gets → only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en-US" dirty="0"/>
              <a:t> is </a:t>
            </a:r>
            <a:r>
              <a:rPr lang="en-US" b="1" dirty="0"/>
              <a:t>lost permanently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8785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Output: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 class</a:t>
            </a:r>
          </a:p>
          <a:p>
            <a:r>
              <a:rPr lang="en-US" dirty="0"/>
              <a:t>Why not "Derived class"?</a:t>
            </a:r>
          </a:p>
          <a:p>
            <a:r>
              <a:rPr lang="en-US" dirty="0"/>
              <a:t>Because: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en-US" dirty="0"/>
              <a:t> is passed </a:t>
            </a:r>
            <a:r>
              <a:rPr lang="en-US" b="1" dirty="0"/>
              <a:t>by value</a:t>
            </a:r>
            <a:r>
              <a:rPr lang="en-US" dirty="0"/>
              <a:t> </a:t>
            </a:r>
          </a:p>
          <a:p>
            <a:r>
              <a:rPr lang="en-US" dirty="0"/>
              <a:t>It becomes a </a:t>
            </a:r>
            <a:r>
              <a:rPr lang="en-US" b="1" dirty="0"/>
              <a:t>Base object</a:t>
            </a:r>
            <a:r>
              <a:rPr lang="en-US" dirty="0"/>
              <a:t> </a:t>
            </a:r>
          </a:p>
          <a:p>
            <a:r>
              <a:rPr lang="en-US" dirty="0"/>
              <a:t>Derived part is sliced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362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though pointer is pointing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Derived</a:t>
            </a:r>
            <a:r>
              <a:rPr lang="en-US" dirty="0"/>
              <a:t>, it behaves like </a:t>
            </a:r>
            <a:r>
              <a:rPr lang="en-US" b="1" dirty="0"/>
              <a:t>Base pointer</a:t>
            </a:r>
            <a:endParaRPr lang="en-US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 allowed = Base members only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492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call is decided by </a:t>
            </a:r>
            <a:r>
              <a:rPr lang="en-US" b="1" dirty="0"/>
              <a:t>pointer type</a:t>
            </a:r>
            <a:r>
              <a:rPr lang="en-US" dirty="0"/>
              <a:t> </a:t>
            </a:r>
          </a:p>
          <a:p>
            <a:r>
              <a:rPr lang="en-US" dirty="0"/>
              <a:t>Pointer is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Base*</a:t>
            </a:r>
            <a:r>
              <a:rPr lang="en-US" dirty="0"/>
              <a:t> </a:t>
            </a:r>
          </a:p>
          <a:p>
            <a:r>
              <a:rPr lang="en-US" dirty="0"/>
              <a:t>So </a:t>
            </a:r>
            <a:r>
              <a:rPr lang="en-US" b="1" dirty="0"/>
              <a:t>Base function is called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7104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function call depends on </a:t>
            </a:r>
            <a:r>
              <a:rPr lang="en-US" b="1" dirty="0"/>
              <a:t>object type (Derived)</a:t>
            </a:r>
            <a:br>
              <a:rPr lang="en-US" dirty="0"/>
            </a:br>
            <a:r>
              <a:rPr lang="en-US" dirty="0"/>
              <a:t>Not on pointer type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6068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Output: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 Circle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 Rectangle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6A762-809A-4060-956F-6BF682C0402A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48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0403-A2E5-96C8-5946-6938E99EC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88305-E34D-372B-E91C-37527A423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3C0AC-41D5-AFA2-BFA5-2B0333A4D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3E9A7-18F4-23B4-B686-9A46BA98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5A0B-FFAC-45B0-013D-DB83588C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42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4CBD-3A88-020B-3DE0-C7497D4A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83392-3B1B-D549-397E-2DCB0BB55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46266-A4B3-0ED9-6C3C-0F645A42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5FD49-07FF-EC36-F7E8-88401AEDF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CADD9-59E7-6767-2F6E-4DFDACE6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74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2F34-BF40-B018-8E06-184D1C1A8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7ED86-E227-1030-8E3B-7DF25B8C0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BF30F-1A56-DDD2-B217-6F999737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4BCC6-CD7F-0FDE-9F22-6C6D781D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EB32C-EC68-248B-5B1A-FA04C275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99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829E-F264-CA8A-CF75-AAE548879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E4CB7-8E60-BA7B-757D-DF067DC45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AD76B-920E-1D98-1FC2-4357AD6FA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87DD1-EBD9-295D-83A0-95A11FE9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09D31-FDFA-4D5B-3A94-2BA459A7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7BE5E-23E7-434C-F84F-55AEFADE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14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4282-368E-42D4-B82D-E9FE22AA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91723-2538-B175-9116-93151E9F3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8E3A1-2264-5C4B-3127-F072C94D5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BAC9D-5F29-EE64-6ADB-B53D9A3F4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6689A-0DD1-2BD7-884E-76821B31D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DCBC12-0F8E-BEB2-AEDE-8AF7B886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64EAF-1B6E-F1AF-DD21-A4644DF2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F2BB1F-BF30-A0ED-7E8C-3D21E05F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21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7DED-D611-5C93-5490-4C9D3265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0E21A7-7FF1-40D6-2C44-49B84351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9F18B-9BD1-4395-53C1-0C38F4B41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B6D90-90F5-2ECB-987A-F02BC97D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67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CC2282-1846-C7F1-26E7-63FFC913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FC942-C75A-310E-75B1-8D3F0332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3FF5C-6C55-2632-4826-D77C425A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41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81B9-F5B3-A57F-5D08-60034D0A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938F9-A118-2B69-AB63-51ED32D57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FEB99-A2DD-E500-778C-8A1360F6B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B343E-60E0-31F2-10F1-D7337A32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89441-999D-65EF-CBF6-E7E6D9C4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0E445-8D00-1F07-9EE9-335839E8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642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DB916-8E8B-CEF9-643D-9885AEA9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C81A7-E452-E9ED-BA7E-856B5E761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12ABE-DC00-D794-0EEC-58366A297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BC5B4-B85E-5B54-CE99-F54643A8D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F1072-4E4E-4FDD-3B13-3BB21D99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198ED-6501-4C9F-E7BE-0886AD37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47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8416-3D29-8AB7-8F42-517BC1A5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28A3A-C075-4567-046B-38E654EB1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3305-1995-73DF-92E7-BEB57F467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FBDE3-824E-C90A-D342-773A6641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59DAC-59A1-3B40-392C-624F7162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7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4A223D-29D9-EB51-C340-F5E9B9A74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3E44D-F9E6-17D4-008D-B3B7E80A4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C42F8-49D2-5D0F-10D4-5991D702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6F65-A7A1-F27B-116A-F2993D17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0FBB7-36BB-E266-BD79-C61D7416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74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02010-1767-8B65-E641-AB5345D9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5E463-D3AF-6B17-789E-1ACC4D0A3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DC54-DBF8-E9F0-160F-9B79D5666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B9E86-0A64-41F9-9B40-6FB8E45F1A64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0DF16-92E1-1275-0FD4-74F51B8E3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D3229-5ECA-37ED-4B6A-D7214D940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805C8-0FA4-4C26-83C6-F6FC2EA17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94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8335-0D37-C449-DED5-5C101F3107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0450D-6D33-0C75-B358-F47B507822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32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CA7D-E1A7-F68D-9AD2-7E1156E1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7F77C-1A59-4D38-EC44-AEC6A2DAE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Inheritance</a:t>
            </a:r>
            <a:r>
              <a:rPr lang="en-US" dirty="0"/>
              <a:t> is an important concept of </a:t>
            </a:r>
            <a:r>
              <a:rPr lang="en-US" b="1" dirty="0"/>
              <a:t>Object-Oriented Programming (OOP)</a:t>
            </a:r>
            <a:r>
              <a:rPr lang="en-US" dirty="0"/>
              <a:t> in C++. It allows a </a:t>
            </a:r>
            <a:r>
              <a:rPr lang="en-US" b="1" dirty="0"/>
              <a:t>new class to acquire the properties and behaviors of an existing class</a:t>
            </a:r>
            <a:r>
              <a:rPr lang="en-US" dirty="0"/>
              <a:t>.</a:t>
            </a:r>
          </a:p>
          <a:p>
            <a:r>
              <a:rPr lang="en-US" dirty="0"/>
              <a:t>The existing class is called the </a:t>
            </a:r>
            <a:r>
              <a:rPr lang="en-US" b="1" dirty="0"/>
              <a:t>Base Class (Parent Class)</a:t>
            </a:r>
            <a:r>
              <a:rPr lang="en-US" dirty="0"/>
              <a:t>.</a:t>
            </a:r>
          </a:p>
          <a:p>
            <a:r>
              <a:rPr lang="en-US" dirty="0"/>
              <a:t>The new class that inherits properties is called the </a:t>
            </a:r>
            <a:r>
              <a:rPr lang="en-US" b="1" dirty="0"/>
              <a:t>Derived Class (Child Class)</a:t>
            </a:r>
            <a:r>
              <a:rPr lang="en-US" dirty="0"/>
              <a:t>.</a:t>
            </a:r>
          </a:p>
          <a:p>
            <a:r>
              <a:rPr lang="en-US" dirty="0"/>
              <a:t>Using inheritance, we can </a:t>
            </a:r>
            <a:r>
              <a:rPr lang="en-US" b="1" dirty="0"/>
              <a:t>reuse code</a:t>
            </a:r>
            <a:r>
              <a:rPr lang="en-US" dirty="0"/>
              <a:t>, </a:t>
            </a:r>
            <a:r>
              <a:rPr lang="en-US" b="1" dirty="0"/>
              <a:t>reduce duplication</a:t>
            </a:r>
            <a:r>
              <a:rPr lang="en-US" dirty="0"/>
              <a:t>, and create a </a:t>
            </a:r>
            <a:r>
              <a:rPr lang="en-US" b="1" dirty="0"/>
              <a:t>hierarchical relationship between classes</a:t>
            </a:r>
            <a:r>
              <a:rPr lang="en-US" dirty="0"/>
              <a:t>.</a:t>
            </a:r>
          </a:p>
          <a:p>
            <a:r>
              <a:rPr lang="en-US" b="1" dirty="0"/>
              <a:t>Basic Idea</a:t>
            </a:r>
          </a:p>
          <a:p>
            <a:r>
              <a:rPr lang="en-US" dirty="0"/>
              <a:t>If a class already contains some data members and functions, another class can </a:t>
            </a:r>
            <a:r>
              <a:rPr lang="en-US" b="1" dirty="0"/>
              <a:t>reuse those features instead of writing them again</a:t>
            </a:r>
            <a:r>
              <a:rPr lang="en-US" dirty="0"/>
              <a:t>.</a:t>
            </a:r>
          </a:p>
          <a:p>
            <a:r>
              <a:rPr lang="en-US" dirty="0"/>
              <a:t>Example concept:</a:t>
            </a:r>
          </a:p>
          <a:p>
            <a:r>
              <a:rPr lang="en-US" dirty="0"/>
              <a:t>Base Class: Vehicle</a:t>
            </a:r>
          </a:p>
          <a:p>
            <a:r>
              <a:rPr lang="en-US" dirty="0"/>
              <a:t>Derived Class: Car</a:t>
            </a:r>
          </a:p>
          <a:p>
            <a:r>
              <a:rPr lang="en-US" dirty="0"/>
              <a:t>The </a:t>
            </a:r>
            <a:r>
              <a:rPr lang="en-US" b="1" dirty="0"/>
              <a:t>Car class automatically gets properties of Vehicle</a:t>
            </a:r>
            <a:r>
              <a:rPr lang="en-US" dirty="0"/>
              <a:t>, such as speed, engine functions,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616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5DBDA-5987-FDD4-914F-9A0681393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r>
              <a:rPr lang="en-US" b="1" dirty="0"/>
              <a:t>General Syntax of Inheritance</a:t>
            </a:r>
          </a:p>
          <a:p>
            <a:r>
              <a:rPr lang="en-US" dirty="0"/>
              <a:t>class </a:t>
            </a:r>
            <a:r>
              <a:rPr lang="en-US" dirty="0" err="1"/>
              <a:t>DerivedClass</a:t>
            </a:r>
            <a:r>
              <a:rPr lang="en-US" dirty="0"/>
              <a:t> : </a:t>
            </a:r>
            <a:r>
              <a:rPr lang="en-US" dirty="0" err="1"/>
              <a:t>access_specifier</a:t>
            </a:r>
            <a:r>
              <a:rPr lang="en-US" dirty="0"/>
              <a:t> </a:t>
            </a:r>
            <a:r>
              <a:rPr lang="en-US" dirty="0" err="1"/>
              <a:t>BaseClass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// additional members of derived class</a:t>
            </a:r>
            <a:br>
              <a:rPr lang="en-US" dirty="0"/>
            </a:br>
            <a:r>
              <a:rPr lang="en-US" dirty="0"/>
              <a:t>};</a:t>
            </a:r>
          </a:p>
          <a:p>
            <a:r>
              <a:rPr lang="en-US" b="1" dirty="0"/>
              <a:t>Access Specifier</a:t>
            </a:r>
          </a:p>
          <a:p>
            <a:r>
              <a:rPr lang="en-US" dirty="0"/>
              <a:t>The access specifier determines </a:t>
            </a:r>
            <a:r>
              <a:rPr lang="en-US" b="1" dirty="0"/>
              <a:t>how the members of the base class are accessible in the derived class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189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F8BBB-76C5-BDEB-79BB-68E01CD8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FB8D1-2CCC-1CD1-AD61-0790A5F69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r>
              <a:rPr lang="en-US" b="1" dirty="0"/>
              <a:t>Advantages of Inheritance</a:t>
            </a:r>
          </a:p>
          <a:p>
            <a:r>
              <a:rPr lang="en-US" b="1" dirty="0"/>
              <a:t>Code Reusability</a:t>
            </a:r>
            <a:br>
              <a:rPr lang="en-US" dirty="0"/>
            </a:br>
            <a:r>
              <a:rPr lang="en-US" dirty="0"/>
              <a:t>Existing code can be reused without rewriting it.</a:t>
            </a:r>
          </a:p>
          <a:p>
            <a:r>
              <a:rPr lang="en-US" b="1" dirty="0"/>
              <a:t>Better Code Organization</a:t>
            </a:r>
            <a:br>
              <a:rPr lang="en-US" dirty="0"/>
            </a:br>
            <a:r>
              <a:rPr lang="en-US" dirty="0"/>
              <a:t>Programs can be structured in a hierarchical manner.</a:t>
            </a:r>
          </a:p>
          <a:p>
            <a:r>
              <a:rPr lang="en-US" b="1" dirty="0"/>
              <a:t>Easy Maintenance</a:t>
            </a:r>
            <a:br>
              <a:rPr lang="en-US" dirty="0"/>
            </a:br>
            <a:r>
              <a:rPr lang="en-US" dirty="0"/>
              <a:t>Changes in the base class automatically affect derived classes.</a:t>
            </a:r>
          </a:p>
          <a:p>
            <a:r>
              <a:rPr lang="en-US" b="1" dirty="0"/>
              <a:t>Extensibility</a:t>
            </a:r>
            <a:br>
              <a:rPr lang="en-US" dirty="0"/>
            </a:br>
            <a:r>
              <a:rPr lang="en-US" dirty="0"/>
              <a:t>New classes can easily be added.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04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2D68-8514-B23D-C93F-B895EABB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673FD-8ABE-D108-6977-36F4C1144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r>
              <a:rPr lang="en-US" b="1" dirty="0"/>
              <a:t>Types of Inheritance in C++</a:t>
            </a:r>
          </a:p>
          <a:p>
            <a:r>
              <a:rPr lang="en-US" dirty="0"/>
              <a:t>There are </a:t>
            </a:r>
            <a:r>
              <a:rPr lang="en-US" b="1" dirty="0"/>
              <a:t>five main types of inheritance</a:t>
            </a:r>
            <a:r>
              <a:rPr lang="en-US" dirty="0"/>
              <a:t> in C++.</a:t>
            </a:r>
          </a:p>
          <a:p>
            <a:r>
              <a:rPr lang="en-US" dirty="0"/>
              <a:t>Single Inheritance</a:t>
            </a:r>
          </a:p>
          <a:p>
            <a:r>
              <a:rPr lang="en-US" dirty="0"/>
              <a:t>Multiple Inheritance</a:t>
            </a:r>
          </a:p>
          <a:p>
            <a:r>
              <a:rPr lang="en-US" dirty="0"/>
              <a:t>Multilevel Inheritance</a:t>
            </a:r>
          </a:p>
          <a:p>
            <a:r>
              <a:rPr lang="en-US" dirty="0"/>
              <a:t>Hierarchical Inheritance</a:t>
            </a:r>
          </a:p>
          <a:p>
            <a:r>
              <a:rPr lang="en-US" dirty="0"/>
              <a:t>Hybrid Inheritance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707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F37C9-54C2-8D6C-8182-E56FCFB3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C09DA-BC87-1208-EBBE-185BA2DB5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r>
              <a:rPr lang="en-US" b="1" dirty="0"/>
              <a:t>1. Single Inheritance</a:t>
            </a:r>
          </a:p>
          <a:p>
            <a:r>
              <a:rPr lang="en-US" dirty="0"/>
              <a:t>Single inheritance means </a:t>
            </a:r>
            <a:r>
              <a:rPr lang="en-US" b="1" dirty="0"/>
              <a:t>one derived class inherits from one base class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:</a:t>
            </a:r>
          </a:p>
          <a:p>
            <a:r>
              <a:rPr lang="en-US" dirty="0"/>
              <a:t>Base Class: Animal</a:t>
            </a:r>
          </a:p>
          <a:p>
            <a:r>
              <a:rPr lang="en-US" dirty="0"/>
              <a:t>Derived Class: Dog</a:t>
            </a:r>
          </a:p>
          <a:p>
            <a:r>
              <a:rPr lang="en-US" dirty="0"/>
              <a:t>Here </a:t>
            </a:r>
            <a:r>
              <a:rPr lang="en-US" b="1" dirty="0"/>
              <a:t>Dog inherits properties of Animal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E5C65E-4D50-C250-CB0F-2BDF9019C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631" y="1807524"/>
            <a:ext cx="2644369" cy="15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281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81804-9BBF-A9DB-6724-2DCBED3C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FDD43-8424-3016-74C4-99C981E51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2. Multiple Inheritance</a:t>
            </a:r>
          </a:p>
          <a:p>
            <a:r>
              <a:rPr lang="en-US" dirty="0"/>
              <a:t>Multiple inheritance means </a:t>
            </a:r>
            <a:r>
              <a:rPr lang="en-US" b="1" dirty="0"/>
              <a:t>one derived class inherits from more than one base class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:</a:t>
            </a:r>
          </a:p>
          <a:p>
            <a:r>
              <a:rPr lang="en-US" dirty="0"/>
              <a:t>Base Class 1: Teacher</a:t>
            </a:r>
          </a:p>
          <a:p>
            <a:r>
              <a:rPr lang="en-US" dirty="0"/>
              <a:t>Base Class 2: Researcher</a:t>
            </a:r>
          </a:p>
          <a:p>
            <a:r>
              <a:rPr lang="en-US" dirty="0"/>
              <a:t>Derived Class: Professor</a:t>
            </a:r>
          </a:p>
          <a:p>
            <a:r>
              <a:rPr lang="en-US" dirty="0"/>
              <a:t>The </a:t>
            </a:r>
            <a:r>
              <a:rPr lang="en-US" b="1" dirty="0"/>
              <a:t>Professor class inherits features of both Teacher and Researcher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2F239-F2AE-C7F0-B394-60928389E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860" y="1524394"/>
            <a:ext cx="4077053" cy="22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4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7DD49-CF22-16D1-D9EF-8172CC5E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63A8B-E2C3-0333-EF5C-005675343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/>
          </a:bodyPr>
          <a:lstStyle/>
          <a:p>
            <a:r>
              <a:rPr lang="en-US" b="1" dirty="0"/>
              <a:t>3. Multilevel Inheritance</a:t>
            </a:r>
          </a:p>
          <a:p>
            <a:r>
              <a:rPr lang="en-US" dirty="0"/>
              <a:t>Multilevel inheritance occurs when </a:t>
            </a:r>
            <a:r>
              <a:rPr lang="en-US" b="1" dirty="0"/>
              <a:t>a class is derived from another derived class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Example - </a:t>
            </a:r>
          </a:p>
          <a:p>
            <a:r>
              <a:rPr lang="en-US" dirty="0"/>
              <a:t>Base Class: Vehicle</a:t>
            </a:r>
          </a:p>
          <a:p>
            <a:r>
              <a:rPr lang="en-US" dirty="0"/>
              <a:t>Derived Class: Car inherits Vehicle</a:t>
            </a:r>
          </a:p>
          <a:p>
            <a:r>
              <a:rPr lang="en-US" dirty="0"/>
              <a:t>Further Derived Class: </a:t>
            </a:r>
            <a:r>
              <a:rPr lang="en-US" dirty="0" err="1"/>
              <a:t>ElectricCar</a:t>
            </a:r>
            <a:r>
              <a:rPr lang="en-US" dirty="0"/>
              <a:t> inherits Car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4E660-AC37-A133-BF7F-676F7A5A4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657" y="1466823"/>
            <a:ext cx="2034716" cy="25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5984-69C7-584A-4EAA-03C1F47B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199E0-7E43-4463-52A8-E485D52DA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4. Hierarchical inheritance</a:t>
            </a:r>
          </a:p>
          <a:p>
            <a:r>
              <a:rPr lang="en-US" b="1" dirty="0"/>
              <a:t>Hierarchical inheritance</a:t>
            </a:r>
            <a:r>
              <a:rPr lang="en-US" dirty="0"/>
              <a:t> is a type of inheritance in which </a:t>
            </a:r>
            <a:r>
              <a:rPr lang="en-US" b="1" dirty="0"/>
              <a:t>one base class is inherited by two or more derived classes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All the derived classes share the </a:t>
            </a:r>
            <a:r>
              <a:rPr lang="en-US" b="1" dirty="0"/>
              <a:t>common properties and functions of the same base class</a:t>
            </a:r>
            <a:r>
              <a:rPr lang="en-US" dirty="0"/>
              <a:t>, but each derived class may also have its </a:t>
            </a:r>
            <a:r>
              <a:rPr lang="en-US" b="1" dirty="0"/>
              <a:t>own additional features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:</a:t>
            </a:r>
          </a:p>
          <a:p>
            <a:r>
              <a:rPr lang="en-US" dirty="0"/>
              <a:t>Base Class: Shape</a:t>
            </a:r>
          </a:p>
          <a:p>
            <a:r>
              <a:rPr lang="en-US" dirty="0"/>
              <a:t>Derived Classes: Circle, Rectangle, Triangle</a:t>
            </a:r>
          </a:p>
          <a:p>
            <a:r>
              <a:rPr lang="en-US" dirty="0"/>
              <a:t>All derived classes </a:t>
            </a:r>
            <a:r>
              <a:rPr lang="en-US" b="1" dirty="0"/>
              <a:t>use features of Shape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E665B-55AF-28CC-CEC3-0A8937248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853" y="2492808"/>
            <a:ext cx="4012407" cy="264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69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C622-E24B-F852-657D-64CA54379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F515-0C9C-6EFA-A04C-1A70E25B0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r>
              <a:rPr lang="en-US" b="1" dirty="0"/>
              <a:t>5. Hybrid Inheritance</a:t>
            </a:r>
          </a:p>
          <a:p>
            <a:r>
              <a:rPr lang="en-US" dirty="0"/>
              <a:t>Hybrid inheritance is a </a:t>
            </a:r>
            <a:r>
              <a:rPr lang="en-US" b="1" dirty="0"/>
              <a:t>combination of two or more types of inheritance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A combination of </a:t>
            </a:r>
            <a:r>
              <a:rPr lang="en-US" b="1" dirty="0"/>
              <a:t>multiple inheritance and multilevel inheritance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4E6BA-EBBF-A5BB-7623-69730A50C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029" y="1551728"/>
            <a:ext cx="2598645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72F4-66B0-1CAD-C693-666080E86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5F8A-BEE6-B79A-AE9D-D67BDF9C4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32500" lnSpcReduction="20000"/>
          </a:bodyPr>
          <a:lstStyle/>
          <a:p>
            <a:r>
              <a:rPr lang="en-IN" b="1" dirty="0"/>
              <a:t>1. Single Inheritance</a:t>
            </a:r>
          </a:p>
          <a:p>
            <a:r>
              <a:rPr lang="en-US" dirty="0"/>
              <a:t>One class inherits from one base class.</a:t>
            </a:r>
          </a:p>
          <a:p>
            <a:r>
              <a:rPr lang="en-US" dirty="0"/>
              <a:t>Student  →  Marks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getRoll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Roll No: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class Marks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B57E5-4DC0-FA40-3C39-7B71CA48D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getMarks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Marks: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Marks m;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m.getRoll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m.getMarks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1672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FF382-0459-2C74-7055-F712181C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C1041-2B2D-9B10-FBB5-ED78E8088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984443"/>
            <a:ext cx="5257800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/>
              <a:t>Public Derivation</a:t>
            </a:r>
          </a:p>
          <a:p>
            <a:r>
              <a:rPr lang="en-US"/>
              <a:t>When a class is inherited using </a:t>
            </a:r>
            <a:r>
              <a:rPr lang="en-US" b="1"/>
              <a:t>public</a:t>
            </a:r>
            <a:r>
              <a:rPr lang="en-US"/>
              <a:t>, the access levels remain mostly the same.</a:t>
            </a:r>
          </a:p>
          <a:p>
            <a:endParaRPr lang="en-US"/>
          </a:p>
          <a:p>
            <a:pPr marL="0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5EC1F36-BB56-619A-D418-E9D656868A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54139543"/>
              </p:ext>
            </p:extLst>
          </p:nvPr>
        </p:nvGraphicFramePr>
        <p:xfrm>
          <a:off x="6541053" y="1652571"/>
          <a:ext cx="4777381" cy="33801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67851">
                  <a:extLst>
                    <a:ext uri="{9D8B030D-6E8A-4147-A177-3AD203B41FA5}">
                      <a16:colId xmlns:a16="http://schemas.microsoft.com/office/drawing/2014/main" val="2119405424"/>
                    </a:ext>
                  </a:extLst>
                </a:gridCol>
                <a:gridCol w="2609530">
                  <a:extLst>
                    <a:ext uri="{9D8B030D-6E8A-4147-A177-3AD203B41FA5}">
                      <a16:colId xmlns:a16="http://schemas.microsoft.com/office/drawing/2014/main" val="3869394648"/>
                    </a:ext>
                  </a:extLst>
                </a:gridCol>
              </a:tblGrid>
              <a:tr h="115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 cap="none" spc="0">
                          <a:solidFill>
                            <a:schemeClr val="tx1"/>
                          </a:solidFill>
                        </a:rPr>
                        <a:t>Base Class Member</a:t>
                      </a:r>
                    </a:p>
                  </a:txBody>
                  <a:tcPr marL="88281" marR="88281" marT="125412" marB="125412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1" cap="none" spc="0" dirty="0">
                          <a:solidFill>
                            <a:schemeClr val="tx1"/>
                          </a:solidFill>
                        </a:rPr>
                        <a:t>After Public Inheritance</a:t>
                      </a:r>
                    </a:p>
                  </a:txBody>
                  <a:tcPr marL="88281" marR="88281" marT="125412" marB="125412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621775"/>
                  </a:ext>
                </a:extLst>
              </a:tr>
              <a:tr h="740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cap="none" spc="0">
                          <a:solidFill>
                            <a:schemeClr val="tx1"/>
                          </a:solidFill>
                        </a:rPr>
                        <a:t>public</a:t>
                      </a:r>
                    </a:p>
                  </a:txBody>
                  <a:tcPr marL="88281" marR="88281" marT="125412" marB="125412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cap="none" spc="0">
                          <a:solidFill>
                            <a:schemeClr val="tx1"/>
                          </a:solidFill>
                        </a:rPr>
                        <a:t>public</a:t>
                      </a:r>
                    </a:p>
                  </a:txBody>
                  <a:tcPr marL="88281" marR="88281" marT="125412" marB="125412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143187"/>
                  </a:ext>
                </a:extLst>
              </a:tr>
              <a:tr h="740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cap="none" spc="0">
                          <a:solidFill>
                            <a:schemeClr val="tx1"/>
                          </a:solidFill>
                        </a:rPr>
                        <a:t>protected</a:t>
                      </a:r>
                    </a:p>
                  </a:txBody>
                  <a:tcPr marL="88281" marR="88281" marT="125412" marB="125412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cap="none" spc="0">
                          <a:solidFill>
                            <a:schemeClr val="tx1"/>
                          </a:solidFill>
                        </a:rPr>
                        <a:t>protected</a:t>
                      </a:r>
                    </a:p>
                  </a:txBody>
                  <a:tcPr marL="88281" marR="88281" marT="125412" marB="125412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547130"/>
                  </a:ext>
                </a:extLst>
              </a:tr>
              <a:tr h="740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cap="none" spc="0">
                          <a:solidFill>
                            <a:schemeClr val="tx1"/>
                          </a:solidFill>
                        </a:rPr>
                        <a:t>private</a:t>
                      </a:r>
                    </a:p>
                  </a:txBody>
                  <a:tcPr marL="88281" marR="88281" marT="125412" marB="125412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cap="none" spc="0" dirty="0">
                          <a:solidFill>
                            <a:schemeClr val="tx1"/>
                          </a:solidFill>
                        </a:rPr>
                        <a:t>not accessible</a:t>
                      </a:r>
                    </a:p>
                  </a:txBody>
                  <a:tcPr marL="88281" marR="88281" marT="125412" marB="125412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00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17E05-1A9F-3AEC-A5AD-88CFA944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D281-C6B7-26DF-4C83-311CAFD5E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Private Derivation</a:t>
            </a:r>
          </a:p>
          <a:p>
            <a:r>
              <a:rPr lang="en-US" dirty="0"/>
              <a:t>When inheritance is </a:t>
            </a:r>
            <a:r>
              <a:rPr lang="en-US" b="1" dirty="0"/>
              <a:t>private</a:t>
            </a:r>
            <a:r>
              <a:rPr lang="en-US" dirty="0"/>
              <a:t>, the base class members become more restricted.</a:t>
            </a:r>
          </a:p>
          <a:p>
            <a:endParaRPr lang="en-US" dirty="0"/>
          </a:p>
          <a:p>
            <a:pPr marL="0"/>
            <a:endParaRPr lang="en-US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45E2D3C-CD67-0095-1C6E-E7564819290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61032702"/>
              </p:ext>
            </p:extLst>
          </p:nvPr>
        </p:nvGraphicFramePr>
        <p:xfrm>
          <a:off x="703182" y="1921013"/>
          <a:ext cx="4777382" cy="2846233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179072">
                  <a:extLst>
                    <a:ext uri="{9D8B030D-6E8A-4147-A177-3AD203B41FA5}">
                      <a16:colId xmlns:a16="http://schemas.microsoft.com/office/drawing/2014/main" val="1062251076"/>
                    </a:ext>
                  </a:extLst>
                </a:gridCol>
                <a:gridCol w="2598310">
                  <a:extLst>
                    <a:ext uri="{9D8B030D-6E8A-4147-A177-3AD203B41FA5}">
                      <a16:colId xmlns:a16="http://schemas.microsoft.com/office/drawing/2014/main" val="81677265"/>
                    </a:ext>
                  </a:extLst>
                </a:gridCol>
              </a:tblGrid>
              <a:tr h="1010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Base Class Member</a:t>
                      </a:r>
                    </a:p>
                  </a:txBody>
                  <a:tcPr marL="117812" marR="117812" marT="58907" marB="58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After Private Inheritance</a:t>
                      </a:r>
                    </a:p>
                  </a:txBody>
                  <a:tcPr marL="117812" marR="117812" marT="58907" marB="58907" anchor="ctr"/>
                </a:tc>
                <a:extLst>
                  <a:ext uri="{0D108BD9-81ED-4DB2-BD59-A6C34878D82A}">
                    <a16:rowId xmlns:a16="http://schemas.microsoft.com/office/drawing/2014/main" val="3105414193"/>
                  </a:ext>
                </a:extLst>
              </a:tr>
              <a:tr h="61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public</a:t>
                      </a:r>
                    </a:p>
                  </a:txBody>
                  <a:tcPr marL="117812" marR="117812" marT="58907" marB="58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private</a:t>
                      </a:r>
                    </a:p>
                  </a:txBody>
                  <a:tcPr marL="117812" marR="117812" marT="58907" marB="58907" anchor="ctr"/>
                </a:tc>
                <a:extLst>
                  <a:ext uri="{0D108BD9-81ED-4DB2-BD59-A6C34878D82A}">
                    <a16:rowId xmlns:a16="http://schemas.microsoft.com/office/drawing/2014/main" val="3838560265"/>
                  </a:ext>
                </a:extLst>
              </a:tr>
              <a:tr h="61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protected</a:t>
                      </a:r>
                    </a:p>
                  </a:txBody>
                  <a:tcPr marL="117812" marR="117812" marT="58907" marB="58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private</a:t>
                      </a:r>
                    </a:p>
                  </a:txBody>
                  <a:tcPr marL="117812" marR="117812" marT="58907" marB="58907" anchor="ctr"/>
                </a:tc>
                <a:extLst>
                  <a:ext uri="{0D108BD9-81ED-4DB2-BD59-A6C34878D82A}">
                    <a16:rowId xmlns:a16="http://schemas.microsoft.com/office/drawing/2014/main" val="1444928305"/>
                  </a:ext>
                </a:extLst>
              </a:tr>
              <a:tr h="61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private</a:t>
                      </a:r>
                    </a:p>
                  </a:txBody>
                  <a:tcPr marL="117812" marR="117812" marT="58907" marB="589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not accessible</a:t>
                      </a:r>
                    </a:p>
                  </a:txBody>
                  <a:tcPr marL="117812" marR="117812" marT="58907" marB="58907" anchor="ctr"/>
                </a:tc>
                <a:extLst>
                  <a:ext uri="{0D108BD9-81ED-4DB2-BD59-A6C34878D82A}">
                    <a16:rowId xmlns:a16="http://schemas.microsoft.com/office/drawing/2014/main" val="371616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057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143E-2150-AABB-6D68-7D8FC724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7CADC-1056-4F32-C949-396DC317A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6518" y="245806"/>
            <a:ext cx="5643282" cy="593115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Example –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getRoll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roll = 101;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D093C-8D23-8DD2-AF9F-FFDBB5CE6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class Marks : private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getRoll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Marks m;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m.show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5550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ABE36-56FB-9661-CC89-8BDDDEA8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9801D-69EB-CA8B-65BB-31A34E0E8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Protected Member</a:t>
            </a:r>
          </a:p>
          <a:p>
            <a:r>
              <a:rPr lang="en-US" dirty="0"/>
              <a:t>Protected members can be accessed inside derived classes but not outside the class.</a:t>
            </a:r>
          </a:p>
          <a:p>
            <a:pPr marL="0"/>
            <a:endParaRPr lang="en-US"/>
          </a:p>
          <a:p>
            <a:pPr marL="0"/>
            <a:endParaRPr lang="en-US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AEE73716-E006-D0E7-3BF1-A037365456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73380027"/>
              </p:ext>
            </p:extLst>
          </p:nvPr>
        </p:nvGraphicFramePr>
        <p:xfrm>
          <a:off x="703182" y="2304755"/>
          <a:ext cx="4777383" cy="2078749"/>
        </p:xfrm>
        <a:graphic>
          <a:graphicData uri="http://schemas.openxmlformats.org/drawingml/2006/table">
            <a:tbl>
              <a:tblPr/>
              <a:tblGrid>
                <a:gridCol w="1373211">
                  <a:extLst>
                    <a:ext uri="{9D8B030D-6E8A-4147-A177-3AD203B41FA5}">
                      <a16:colId xmlns:a16="http://schemas.microsoft.com/office/drawing/2014/main" val="432917030"/>
                    </a:ext>
                  </a:extLst>
                </a:gridCol>
                <a:gridCol w="1000323">
                  <a:extLst>
                    <a:ext uri="{9D8B030D-6E8A-4147-A177-3AD203B41FA5}">
                      <a16:colId xmlns:a16="http://schemas.microsoft.com/office/drawing/2014/main" val="2421340180"/>
                    </a:ext>
                  </a:extLst>
                </a:gridCol>
                <a:gridCol w="1203441">
                  <a:extLst>
                    <a:ext uri="{9D8B030D-6E8A-4147-A177-3AD203B41FA5}">
                      <a16:colId xmlns:a16="http://schemas.microsoft.com/office/drawing/2014/main" val="1466979492"/>
                    </a:ext>
                  </a:extLst>
                </a:gridCol>
                <a:gridCol w="1200408">
                  <a:extLst>
                    <a:ext uri="{9D8B030D-6E8A-4147-A177-3AD203B41FA5}">
                      <a16:colId xmlns:a16="http://schemas.microsoft.com/office/drawing/2014/main" val="2055752550"/>
                    </a:ext>
                  </a:extLst>
                </a:gridCol>
              </a:tblGrid>
              <a:tr h="737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Access Modifier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Same Class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Derived Class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Outside Class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268228"/>
                  </a:ext>
                </a:extLst>
              </a:tr>
              <a:tr h="44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private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Yes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No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No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387817"/>
                  </a:ext>
                </a:extLst>
              </a:tr>
              <a:tr h="44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protected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Yes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Yes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No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95733"/>
                  </a:ext>
                </a:extLst>
              </a:tr>
              <a:tr h="446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public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Yes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Yes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Yes</a:t>
                      </a:r>
                    </a:p>
                  </a:txBody>
                  <a:tcPr marL="86044" marR="86044" marT="43023" marB="430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86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861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C3E62-5CBC-1582-ADA7-A4CED2C51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18A9C-1F7D-49A4-4748-D273F5DA2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getRoll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roll = 101;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7E5B9-E7B6-477A-77A0-39B7BD000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class Marks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display()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Marks m;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m.getRoll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3330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8F179-8D95-7661-AF9E-94354933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7A4D6-8143-0F9E-BEF6-119D9C6DD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Protected Derivation</a:t>
            </a:r>
          </a:p>
          <a:p>
            <a:endParaRPr lang="en-US" b="1" dirty="0"/>
          </a:p>
          <a:p>
            <a:r>
              <a:rPr lang="en-US" dirty="0"/>
              <a:t>In </a:t>
            </a:r>
            <a:r>
              <a:rPr lang="en-US" b="1" dirty="0"/>
              <a:t>protected inheritance</a:t>
            </a:r>
            <a:r>
              <a:rPr lang="en-US" dirty="0"/>
              <a:t>, the public and protected members of the base class become </a:t>
            </a:r>
            <a:r>
              <a:rPr lang="en-US" b="1" dirty="0"/>
              <a:t>protected in the derived class</a:t>
            </a:r>
            <a:r>
              <a:rPr lang="en-US" dirty="0"/>
              <a:t>.</a:t>
            </a:r>
          </a:p>
          <a:p>
            <a:pPr marL="0"/>
            <a:endParaRPr lang="en-US"/>
          </a:p>
          <a:p>
            <a:pPr marL="0"/>
            <a:endParaRPr lang="en-US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B295C52-9DF3-AB8B-F0CE-F15A7B98FE3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68721248"/>
              </p:ext>
            </p:extLst>
          </p:nvPr>
        </p:nvGraphicFramePr>
        <p:xfrm>
          <a:off x="703182" y="1952451"/>
          <a:ext cx="4777382" cy="2783355"/>
        </p:xfrm>
        <a:graphic>
          <a:graphicData uri="http://schemas.openxmlformats.org/drawingml/2006/table">
            <a:tbl>
              <a:tblPr/>
              <a:tblGrid>
                <a:gridCol w="2130933">
                  <a:extLst>
                    <a:ext uri="{9D8B030D-6E8A-4147-A177-3AD203B41FA5}">
                      <a16:colId xmlns:a16="http://schemas.microsoft.com/office/drawing/2014/main" val="3617999349"/>
                    </a:ext>
                  </a:extLst>
                </a:gridCol>
                <a:gridCol w="2646449">
                  <a:extLst>
                    <a:ext uri="{9D8B030D-6E8A-4147-A177-3AD203B41FA5}">
                      <a16:colId xmlns:a16="http://schemas.microsoft.com/office/drawing/2014/main" val="2645680948"/>
                    </a:ext>
                  </a:extLst>
                </a:gridCol>
              </a:tblGrid>
              <a:tr h="988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Base Class Member</a:t>
                      </a:r>
                    </a:p>
                  </a:txBody>
                  <a:tcPr marL="115209" marR="115209" marT="57606" marB="57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After Protected Inheritance</a:t>
                      </a:r>
                    </a:p>
                  </a:txBody>
                  <a:tcPr marL="115209" marR="115209" marT="57606" marB="57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174254"/>
                  </a:ext>
                </a:extLst>
              </a:tr>
              <a:tr h="598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public</a:t>
                      </a:r>
                    </a:p>
                  </a:txBody>
                  <a:tcPr marL="115209" marR="115209" marT="57606" marB="57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protected</a:t>
                      </a:r>
                    </a:p>
                  </a:txBody>
                  <a:tcPr marL="115209" marR="115209" marT="57606" marB="57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382484"/>
                  </a:ext>
                </a:extLst>
              </a:tr>
              <a:tr h="598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protected</a:t>
                      </a:r>
                    </a:p>
                  </a:txBody>
                  <a:tcPr marL="115209" marR="115209" marT="57606" marB="57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protected</a:t>
                      </a:r>
                    </a:p>
                  </a:txBody>
                  <a:tcPr marL="115209" marR="115209" marT="57606" marB="57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818209"/>
                  </a:ext>
                </a:extLst>
              </a:tr>
              <a:tr h="598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private</a:t>
                      </a:r>
                    </a:p>
                  </a:txBody>
                  <a:tcPr marL="115209" marR="115209" marT="57606" marB="57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not accessible</a:t>
                      </a:r>
                    </a:p>
                  </a:txBody>
                  <a:tcPr marL="115209" marR="115209" marT="57606" marB="57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896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69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8645E-045F-D546-5F47-DC779EF95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1F9A6-00A9-D29C-569D-42C96EDEE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getRoll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roll = 101;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B5CCE-825F-05A5-1329-580D31D91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class Marks : protected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display()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getRoll</a:t>
            </a:r>
            <a:r>
              <a:rPr lang="en-IN" dirty="0"/>
              <a:t>();   // allowed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Marks m;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85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6D18A-CEC9-12E2-7B06-FA4C9A580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Constructor in Derived Class</a:t>
            </a:r>
            <a:br>
              <a:rPr lang="en-US" b="1" dirty="0"/>
            </a:br>
            <a:r>
              <a:rPr lang="en-US" dirty="0"/>
              <a:t>When a </a:t>
            </a:r>
            <a:r>
              <a:rPr lang="en-US" b="1" dirty="0"/>
              <a:t>derived class object is created</a:t>
            </a:r>
            <a:r>
              <a:rPr lang="en-US" dirty="0"/>
              <a:t>, the </a:t>
            </a:r>
            <a:r>
              <a:rPr lang="en-US" b="1" dirty="0"/>
              <a:t>base class constructor runs first</a:t>
            </a:r>
            <a:r>
              <a:rPr lang="en-US" dirty="0"/>
              <a:t>, then the </a:t>
            </a:r>
            <a:r>
              <a:rPr lang="en-US" b="1" dirty="0"/>
              <a:t>derived class constructor runs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Execution order:</a:t>
            </a:r>
            <a:br>
              <a:rPr lang="en-US" b="1" dirty="0"/>
            </a:br>
            <a:r>
              <a:rPr lang="en-US" dirty="0"/>
              <a:t>Base Constructor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Derived Constructor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327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295A-F60B-883D-7394-2902DE82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D8B89-D201-049B-E01A-AEC4E6A32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Student()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"Student Constructor Called"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ACA8B-F26B-4457-A9DD-5727DB0FC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class Marks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Marks()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 Constructor Called"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Marks m;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Student Constructor Called</a:t>
            </a:r>
            <a:br>
              <a:rPr lang="en-US" dirty="0"/>
            </a:br>
            <a:r>
              <a:rPr lang="en-US" dirty="0"/>
              <a:t>Marks Constructor Called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521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058EE-9E02-687B-B15A-5E58289D4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3944"/>
            <a:ext cx="10515600" cy="5553019"/>
          </a:xfrm>
        </p:spPr>
        <p:txBody>
          <a:bodyPr/>
          <a:lstStyle/>
          <a:p>
            <a:r>
              <a:rPr lang="en-US" b="1" dirty="0"/>
              <a:t>How Base Class Constructor is Called</a:t>
            </a:r>
          </a:p>
          <a:p>
            <a:r>
              <a:rPr lang="en-US" dirty="0"/>
              <a:t>A base class constructor can be called in two ways:</a:t>
            </a:r>
          </a:p>
          <a:p>
            <a:r>
              <a:rPr lang="en-US" b="1" dirty="0"/>
              <a:t>Automatically (Default Constructor)</a:t>
            </a:r>
            <a:endParaRPr lang="en-US" dirty="0"/>
          </a:p>
          <a:p>
            <a:r>
              <a:rPr lang="en-US" b="1" dirty="0"/>
              <a:t>Explicitly using Initializer List</a:t>
            </a:r>
            <a:endParaRPr lang="en-US" dirty="0"/>
          </a:p>
          <a:p>
            <a:r>
              <a:rPr lang="en-US" dirty="0"/>
              <a:t>General syntax:</a:t>
            </a:r>
          </a:p>
          <a:p>
            <a:r>
              <a:rPr lang="en-US" dirty="0"/>
              <a:t>Derived(parameters) : Base(arguments)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// body of derived constructor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Case 1: Base Class has Default Constructor – Already covered in previous example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663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7A614-19E9-813A-538D-4E9A59410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4245"/>
            <a:ext cx="5181600" cy="5832718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Case 2: Base Class has Parameterized Constructor</a:t>
            </a:r>
          </a:p>
          <a:p>
            <a:r>
              <a:rPr lang="en-US" dirty="0"/>
              <a:t>If the base class constructor requires parameters, the derived class must </a:t>
            </a:r>
            <a:r>
              <a:rPr lang="en-US" b="1" dirty="0"/>
              <a:t>explicitly call it using initializer list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Student(int r)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roll = r;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"Student Constructor Called"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Marks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A1D0C8-130C-476F-3B34-58F3063B9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5912"/>
            <a:ext cx="5181600" cy="595105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/>
              <a:t>Marks(int r, int m) : Student(r)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marks = m;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 Constructor Called"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Marks m(101, 90);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477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1B6C7-42B5-94A1-AA02-6ABAF9D6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5943D-68C4-9439-FBE3-CF93149C9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4245"/>
            <a:ext cx="5181600" cy="5832718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Case 3: Base Class Has Both Default and Parameterized Constructors</a:t>
            </a:r>
          </a:p>
          <a:p>
            <a:r>
              <a:rPr lang="en-US" dirty="0"/>
              <a:t>If both constructors exist, then:</a:t>
            </a:r>
          </a:p>
          <a:p>
            <a:r>
              <a:rPr lang="en-US" dirty="0"/>
              <a:t>Default constructor is called automatically.</a:t>
            </a:r>
          </a:p>
          <a:p>
            <a:r>
              <a:rPr lang="en-US" dirty="0"/>
              <a:t>Parameterized constructor can be called explicitly.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Student()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"Default Student Constructor"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Student(int r)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"Parameterized Student Constructor: " &lt;&lt; r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D29F48-6023-0350-0782-710D0AE85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5912"/>
            <a:ext cx="5181600" cy="595105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Marks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Marks()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 Constructor"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Marks m;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r>
              <a:rPr lang="en-US" dirty="0"/>
              <a:t>If we want the parameterized constructor:</a:t>
            </a:r>
          </a:p>
          <a:p>
            <a:r>
              <a:rPr lang="en-US" dirty="0"/>
              <a:t>class Marks : public Student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public:</a:t>
            </a:r>
            <a:br>
              <a:rPr lang="en-US" dirty="0"/>
            </a:br>
            <a:r>
              <a:rPr lang="en-US" dirty="0"/>
              <a:t>    Marks() : Student(101)</a:t>
            </a:r>
            <a:br>
              <a:rPr lang="en-US" dirty="0"/>
            </a:br>
            <a:r>
              <a:rPr lang="en-US" dirty="0"/>
              <a:t>   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"Marks Constructor" &lt;&lt; </a:t>
            </a:r>
            <a:r>
              <a:rPr lang="en-US" dirty="0" err="1"/>
              <a:t>endl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264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E8A810-444B-A164-AE31-14619227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90DE0-FA26-CAB9-75E7-AAA4FFDCB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Case 4: Base Class Has Only Parameterized Constructor (No Default)</a:t>
            </a:r>
          </a:p>
          <a:p>
            <a:r>
              <a:rPr lang="en-US" dirty="0"/>
              <a:t>If the base class has </a:t>
            </a:r>
            <a:r>
              <a:rPr lang="en-US" b="1" dirty="0"/>
              <a:t>no default constructor</a:t>
            </a:r>
            <a:r>
              <a:rPr lang="en-US" dirty="0"/>
              <a:t>, then the derived class </a:t>
            </a:r>
            <a:r>
              <a:rPr lang="en-US" b="1" dirty="0"/>
              <a:t>must call the base constructor explicitly</a:t>
            </a:r>
            <a:r>
              <a:rPr lang="en-US" dirty="0"/>
              <a:t>.</a:t>
            </a:r>
          </a:p>
          <a:p>
            <a:r>
              <a:rPr lang="en-US" dirty="0"/>
              <a:t>Otherwise the program will produce a </a:t>
            </a:r>
            <a:r>
              <a:rPr lang="en-US" b="1" dirty="0"/>
              <a:t>compile-time error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170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1E94C-362D-879A-FBEC-793574F8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34E594-55CC-FB60-08FD-AEC160E4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Destructor in Derived Class</a:t>
            </a:r>
          </a:p>
          <a:p>
            <a:r>
              <a:rPr lang="en-US" dirty="0"/>
              <a:t>When an object is destroyed, </a:t>
            </a:r>
            <a:r>
              <a:rPr lang="en-US" b="1" dirty="0"/>
              <a:t>destructors run in reverse order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Execution order:</a:t>
            </a:r>
          </a:p>
          <a:p>
            <a:r>
              <a:rPr lang="en-US" dirty="0"/>
              <a:t>Derived Destructor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Base Destructor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338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4199-AEDD-49C6-FBF9-60783AB39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2C51B-93E7-6F3D-EB2C-AF5047728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~Student()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"Student Destructor Called"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F1387-8F31-7E5A-44CA-E58D275C6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class Marks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~Marks()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 Destructor Called"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Marks m;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r>
              <a:rPr lang="en-US" b="1" dirty="0"/>
              <a:t>Output</a:t>
            </a:r>
          </a:p>
          <a:p>
            <a:r>
              <a:rPr lang="en-US" dirty="0"/>
              <a:t>Marks Destructor Called</a:t>
            </a:r>
            <a:br>
              <a:rPr lang="en-US" dirty="0"/>
            </a:br>
            <a:r>
              <a:rPr lang="en-US" dirty="0"/>
              <a:t>Student Destructor Called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172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C099-E1B2-67AA-EE9B-09C91EEAC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9F045-8555-74F2-0865-9866D4A5A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Multilevel Inheritance – </a:t>
            </a:r>
          </a:p>
          <a:p>
            <a:r>
              <a:rPr lang="en-US" b="1" dirty="0"/>
              <a:t>Multilevel inheritance</a:t>
            </a:r>
            <a:r>
              <a:rPr lang="en-US" dirty="0"/>
              <a:t> occurs when a class is derived from another derived class.</a:t>
            </a:r>
            <a:br>
              <a:rPr lang="en-US" dirty="0"/>
            </a:br>
            <a:r>
              <a:rPr lang="en-US" dirty="0"/>
              <a:t>This creates a </a:t>
            </a:r>
            <a:r>
              <a:rPr lang="en-US" b="1" dirty="0"/>
              <a:t>chain of inheritance</a:t>
            </a:r>
            <a:r>
              <a:rPr lang="en-US" dirty="0"/>
              <a:t>.</a:t>
            </a:r>
          </a:p>
          <a:p>
            <a:r>
              <a:rPr lang="en-US" dirty="0"/>
              <a:t>Structure:</a:t>
            </a:r>
          </a:p>
          <a:p>
            <a:r>
              <a:rPr lang="en-US" dirty="0"/>
              <a:t>Base Class  →  Derived Class  →  Further Derived Class</a:t>
            </a:r>
          </a:p>
          <a:p>
            <a:r>
              <a:rPr lang="en-US" dirty="0"/>
              <a:t>Each derived class </a:t>
            </a:r>
            <a:r>
              <a:rPr lang="en-US" b="1" dirty="0"/>
              <a:t>inherits the properties of all the classes above it</a:t>
            </a:r>
            <a:r>
              <a:rPr lang="en-US" dirty="0"/>
              <a:t>.</a:t>
            </a:r>
          </a:p>
          <a:p>
            <a:r>
              <a:rPr lang="en-US" dirty="0"/>
              <a:t>Example structure:</a:t>
            </a:r>
          </a:p>
          <a:p>
            <a:r>
              <a:rPr lang="en-US" dirty="0"/>
              <a:t>Student → Marks → Result</a:t>
            </a:r>
          </a:p>
          <a:p>
            <a:r>
              <a:rPr lang="en-US" dirty="0"/>
              <a:t>Student → Base class</a:t>
            </a:r>
          </a:p>
          <a:p>
            <a:r>
              <a:rPr lang="en-US" dirty="0"/>
              <a:t>Marks → Derived from Student</a:t>
            </a:r>
          </a:p>
          <a:p>
            <a:r>
              <a:rPr lang="en-US" dirty="0"/>
              <a:t>Result → Derived from Marks</a:t>
            </a:r>
          </a:p>
          <a:p>
            <a:r>
              <a:rPr lang="en-US" dirty="0"/>
              <a:t>Here </a:t>
            </a:r>
            <a:r>
              <a:rPr lang="en-US" b="1" dirty="0"/>
              <a:t>Result inherits properties of both Marks and Student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205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7479A-5F7F-C358-DF43-A272BDDCC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1C12D-BDB9-3585-F023-D4ACB9957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getRoll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Roll No: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Marks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D0D49-23AF-A155-3975-84B7FE10E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getMarks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Marks: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Result : public Marks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display()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Result r;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r.getRoll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r.getMarks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2632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A8CB8-F095-BB48-4000-86F52520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5A302-4627-A952-A038-BD4FF52B4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Multiple Inheritance – </a:t>
            </a:r>
          </a:p>
          <a:p>
            <a:r>
              <a:rPr lang="en-US" b="1" dirty="0"/>
              <a:t>Multiple inheritance</a:t>
            </a:r>
            <a:r>
              <a:rPr lang="en-US" dirty="0"/>
              <a:t> occurs when </a:t>
            </a:r>
            <a:r>
              <a:rPr lang="en-US" b="1" dirty="0"/>
              <a:t>one derived class inherits from more than one base class</a:t>
            </a:r>
            <a:r>
              <a:rPr lang="en-US" dirty="0"/>
              <a:t>.</a:t>
            </a:r>
          </a:p>
          <a:p>
            <a:r>
              <a:rPr lang="en-US" dirty="0"/>
              <a:t>Structure:</a:t>
            </a:r>
          </a:p>
          <a:p>
            <a:r>
              <a:rPr lang="en-US" dirty="0"/>
              <a:t>Base Class 1</a:t>
            </a:r>
            <a:br>
              <a:rPr lang="en-US" dirty="0"/>
            </a:br>
            <a:r>
              <a:rPr lang="en-US" dirty="0"/>
              <a:t>        \</a:t>
            </a:r>
            <a:br>
              <a:rPr lang="en-US" dirty="0"/>
            </a:br>
            <a:r>
              <a:rPr lang="en-US" dirty="0"/>
              <a:t>         \</a:t>
            </a:r>
            <a:br>
              <a:rPr lang="en-US" dirty="0"/>
            </a:br>
            <a:r>
              <a:rPr lang="en-US" dirty="0"/>
              <a:t>          Derived Class</a:t>
            </a:r>
            <a:br>
              <a:rPr lang="en-US" dirty="0"/>
            </a:br>
            <a:r>
              <a:rPr lang="en-US" dirty="0"/>
              <a:t>         /</a:t>
            </a:r>
            <a:br>
              <a:rPr lang="en-US" dirty="0"/>
            </a:br>
            <a:r>
              <a:rPr lang="en-US" dirty="0"/>
              <a:t>        /</a:t>
            </a:r>
            <a:br>
              <a:rPr lang="en-US" dirty="0"/>
            </a:br>
            <a:r>
              <a:rPr lang="en-US" dirty="0"/>
              <a:t>Base Class 2</a:t>
            </a:r>
          </a:p>
          <a:p>
            <a:r>
              <a:rPr lang="en-US" dirty="0"/>
              <a:t>In this case, the </a:t>
            </a:r>
            <a:r>
              <a:rPr lang="en-US" b="1" dirty="0"/>
              <a:t>derived class gets properties and functions from multiple base classes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Example Structure</a:t>
            </a:r>
          </a:p>
          <a:p>
            <a:r>
              <a:rPr lang="en-US" dirty="0"/>
              <a:t>Student      Sports</a:t>
            </a:r>
            <a:br>
              <a:rPr lang="en-US" dirty="0"/>
            </a:br>
            <a:r>
              <a:rPr lang="en-US" dirty="0"/>
              <a:t>       \                /</a:t>
            </a:r>
            <a:br>
              <a:rPr lang="en-US" dirty="0"/>
            </a:br>
            <a:r>
              <a:rPr lang="en-US" dirty="0"/>
              <a:t>          Result</a:t>
            </a:r>
          </a:p>
          <a:p>
            <a:r>
              <a:rPr lang="en-US" dirty="0"/>
              <a:t>Student → Base class</a:t>
            </a:r>
          </a:p>
          <a:p>
            <a:r>
              <a:rPr lang="en-US" dirty="0"/>
              <a:t>Sports → Base class</a:t>
            </a:r>
          </a:p>
          <a:p>
            <a:r>
              <a:rPr lang="en-US" dirty="0"/>
              <a:t>Result → Derived class</a:t>
            </a:r>
          </a:p>
          <a:p>
            <a:r>
              <a:rPr lang="en-US" dirty="0"/>
              <a:t>The </a:t>
            </a:r>
            <a:r>
              <a:rPr lang="en-US" b="1" dirty="0"/>
              <a:t>Result class inherits features from both Student and Sports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Syntax of Multiple Inheritance</a:t>
            </a:r>
          </a:p>
          <a:p>
            <a:r>
              <a:rPr lang="en-US" dirty="0"/>
              <a:t>class </a:t>
            </a:r>
            <a:r>
              <a:rPr lang="en-US" dirty="0" err="1"/>
              <a:t>DerivedClass</a:t>
            </a:r>
            <a:r>
              <a:rPr lang="en-US" dirty="0"/>
              <a:t> : access BaseClass1, access BaseClass2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};</a:t>
            </a:r>
          </a:p>
          <a:p>
            <a:r>
              <a:rPr lang="en-US" dirty="0"/>
              <a:t>Example: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581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14A0-3E14-E78F-C62E-5EFD9B2D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0C787-F10E-05F5-9455-0E991FDD7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getRoll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Roll No: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Marks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getMarks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DCF4F-6C8D-5E1B-92F2-A28FBD7DA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6062"/>
            <a:ext cx="5181600" cy="642231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 err="1"/>
              <a:t>cout</a:t>
            </a:r>
            <a:r>
              <a:rPr lang="en-IN" dirty="0"/>
              <a:t> &lt;&lt; "Enter Marks: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Result : public Student, public Marks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display()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Result r;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r.getRoll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r.getMarks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152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3667D-AF8C-AC6D-B263-3BF2E098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153CC-D776-5C91-5BCC-CE65A06BC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Ambiguity Resolution  (Multiple Inheritance) – </a:t>
            </a:r>
          </a:p>
          <a:p>
            <a:r>
              <a:rPr lang="en-US" b="1" dirty="0"/>
              <a:t>Ambiguity</a:t>
            </a:r>
            <a:r>
              <a:rPr lang="en-US" dirty="0"/>
              <a:t> occurs in C++ when </a:t>
            </a:r>
            <a:r>
              <a:rPr lang="en-US" b="1" dirty="0"/>
              <a:t>two base classes contain a member with the same name</a:t>
            </a:r>
            <a:r>
              <a:rPr lang="en-US" dirty="0"/>
              <a:t>, and the derived class inherits from both of them.</a:t>
            </a:r>
          </a:p>
          <a:p>
            <a:r>
              <a:rPr lang="en-US" dirty="0"/>
              <a:t>When the derived class tries to access that member, the </a:t>
            </a:r>
            <a:r>
              <a:rPr lang="en-US" b="1" dirty="0"/>
              <a:t>compiler cannot determine which base class member should be used</a:t>
            </a:r>
            <a:r>
              <a:rPr lang="en-US" dirty="0"/>
              <a:t>. This situation is called </a:t>
            </a:r>
            <a:r>
              <a:rPr lang="en-US" b="1" dirty="0"/>
              <a:t>ambiguity</a:t>
            </a:r>
            <a:r>
              <a:rPr lang="en-US" dirty="0"/>
              <a:t>.</a:t>
            </a:r>
          </a:p>
          <a:p>
            <a:r>
              <a:rPr lang="en-US" b="1" dirty="0"/>
              <a:t>Example Structure - </a:t>
            </a:r>
          </a:p>
          <a:p>
            <a:r>
              <a:rPr lang="en-US" dirty="0"/>
              <a:t>Class A        Class B</a:t>
            </a:r>
            <a:br>
              <a:rPr lang="en-US" dirty="0"/>
            </a:br>
            <a:r>
              <a:rPr lang="en-US" dirty="0"/>
              <a:t>    \                     /</a:t>
            </a:r>
            <a:br>
              <a:rPr lang="en-US" dirty="0"/>
            </a:br>
            <a:r>
              <a:rPr lang="en-US" dirty="0"/>
              <a:t>     \                 /</a:t>
            </a:r>
            <a:br>
              <a:rPr lang="en-US" dirty="0"/>
            </a:br>
            <a:r>
              <a:rPr lang="en-US" dirty="0"/>
              <a:t>        Class C</a:t>
            </a:r>
          </a:p>
          <a:p>
            <a:r>
              <a:rPr lang="en-US" dirty="0"/>
              <a:t>If </a:t>
            </a:r>
            <a:r>
              <a:rPr lang="en-US" b="1" dirty="0"/>
              <a:t>Class A and Class B contain a function with the same name</a:t>
            </a:r>
            <a:r>
              <a:rPr lang="en-US" dirty="0"/>
              <a:t>, then Class C inherits </a:t>
            </a:r>
            <a:r>
              <a:rPr lang="en-US" b="1" dirty="0"/>
              <a:t>two versions of that function</a:t>
            </a:r>
            <a:r>
              <a:rPr lang="en-US" dirty="0"/>
              <a:t>, causing confusion.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34619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0EF9-5A20-67E0-630A-D9EA6DDE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CBC4B-C120-DF34-A90A-D28770361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Example Problem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Marks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 class function"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3AD0E-EE5F-8D8B-0FCB-E65A2A9F9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class Comments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"Comments class function"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Result : public Marks, public Comments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Result r;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r.show</a:t>
            </a:r>
            <a:r>
              <a:rPr lang="en-IN" dirty="0"/>
              <a:t>();   // ambiguity occurs here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337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635C8-24BD-62D8-4852-50CFCF221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F5FD9-E149-4E66-54F8-9F2BF6238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Resolving Ambiguity Using Scope Resolution Operator</a:t>
            </a:r>
          </a:p>
          <a:p>
            <a:r>
              <a:rPr lang="en-US" dirty="0"/>
              <a:t>The ambiguity can be resolved using the </a:t>
            </a:r>
            <a:r>
              <a:rPr lang="en-US" b="1" dirty="0"/>
              <a:t>scope resolution operator ::</a:t>
            </a:r>
            <a:r>
              <a:rPr lang="en-US" dirty="0"/>
              <a:t>.</a:t>
            </a:r>
          </a:p>
          <a:p>
            <a:r>
              <a:rPr lang="en-US" b="1" dirty="0"/>
              <a:t>Correct Program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Marks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 class function"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C5595-5B7F-B407-8271-ABE3FD835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Comments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"Comments class function"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Result : public Marks, public Comments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Result r;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r.Marks</a:t>
            </a:r>
            <a:r>
              <a:rPr lang="en-IN" dirty="0"/>
              <a:t>::show();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r.Comments</a:t>
            </a:r>
            <a:r>
              <a:rPr lang="en-IN" dirty="0"/>
              <a:t>::show();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8811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320B2-D825-DCF0-DED0-2A5E78E4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C404-1A06-7FB1-6AED-B467AC54D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Hierarchical Inheritance – </a:t>
            </a:r>
          </a:p>
          <a:p>
            <a:r>
              <a:rPr lang="en-US" b="1" dirty="0"/>
              <a:t>Hierarchical inheritance</a:t>
            </a:r>
            <a:r>
              <a:rPr lang="en-US" dirty="0"/>
              <a:t> occurs when </a:t>
            </a:r>
            <a:r>
              <a:rPr lang="en-US" b="1" dirty="0"/>
              <a:t>multiple derived classes inherit from the same base class</a:t>
            </a:r>
            <a:r>
              <a:rPr lang="en-US" dirty="0"/>
              <a:t>.</a:t>
            </a:r>
          </a:p>
          <a:p>
            <a:r>
              <a:rPr lang="en-US" dirty="0"/>
              <a:t>Structure:</a:t>
            </a:r>
          </a:p>
          <a:p>
            <a:r>
              <a:rPr lang="en-US" dirty="0"/>
              <a:t>                  Base Class</a:t>
            </a:r>
            <a:br>
              <a:rPr lang="en-US" dirty="0"/>
            </a:br>
            <a:r>
              <a:rPr lang="en-US" dirty="0"/>
              <a:t>                 /                     \</a:t>
            </a:r>
            <a:br>
              <a:rPr lang="en-US" dirty="0"/>
            </a:br>
            <a:r>
              <a:rPr lang="en-US" dirty="0"/>
              <a:t>Derived Class1      Derived Class2</a:t>
            </a:r>
          </a:p>
          <a:p>
            <a:r>
              <a:rPr lang="en-US" dirty="0"/>
              <a:t>Each derived class </a:t>
            </a:r>
            <a:r>
              <a:rPr lang="en-US" b="1" dirty="0"/>
              <a:t>inherits the properties and functions of the same base class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Example Structure</a:t>
            </a:r>
          </a:p>
          <a:p>
            <a:r>
              <a:rPr lang="en-US" dirty="0"/>
              <a:t>               Student</a:t>
            </a:r>
            <a:br>
              <a:rPr lang="en-US" dirty="0"/>
            </a:br>
            <a:r>
              <a:rPr lang="en-US" dirty="0"/>
              <a:t>                /          \</a:t>
            </a:r>
            <a:br>
              <a:rPr lang="en-US" dirty="0"/>
            </a:br>
            <a:r>
              <a:rPr lang="en-US" dirty="0"/>
              <a:t>      Marks      Comments</a:t>
            </a:r>
          </a:p>
          <a:p>
            <a:r>
              <a:rPr lang="en-US" dirty="0"/>
              <a:t>Student → Base class</a:t>
            </a:r>
          </a:p>
          <a:p>
            <a:r>
              <a:rPr lang="en-US" dirty="0"/>
              <a:t>Marks → Derived class</a:t>
            </a:r>
          </a:p>
          <a:p>
            <a:r>
              <a:rPr lang="en-US" dirty="0"/>
              <a:t>Comments → Derived class</a:t>
            </a:r>
          </a:p>
          <a:p>
            <a:r>
              <a:rPr lang="en-US" dirty="0"/>
              <a:t>Both Marks and Comments </a:t>
            </a:r>
            <a:r>
              <a:rPr lang="en-US" b="1" dirty="0"/>
              <a:t>inherit the features of Student</a:t>
            </a:r>
            <a:r>
              <a:rPr lang="en-US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16080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CF1B0-026B-F490-41C2-DA1A6D436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1C922-206B-03DF-C532-3B068CD81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getRoll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Roll No: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D026E-2FBA-249B-FF16-01883235A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Marks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getMarks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Marks: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void </a:t>
            </a:r>
            <a:r>
              <a:rPr lang="en-IN" dirty="0" err="1"/>
              <a:t>displayMarks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422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C7124-6E99-1D3C-7787-E118E0E6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E0E85-8F6C-7C3A-043D-2D500D81A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class Comments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private:</a:t>
            </a:r>
          </a:p>
          <a:p>
            <a:pPr marL="0" indent="0">
              <a:buNone/>
            </a:pPr>
            <a:r>
              <a:rPr lang="en-IN" dirty="0"/>
              <a:t>    string comment;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getComment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Comment: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comment;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displayComment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"Comment: " &lt;&lt; comment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CBA47-4EC1-82BD-91CC-CFD2E1AE3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Marks m;</a:t>
            </a:r>
          </a:p>
          <a:p>
            <a:pPr marL="0" indent="0">
              <a:buNone/>
            </a:pPr>
            <a:r>
              <a:rPr lang="en-IN" dirty="0"/>
              <a:t>    Comments c;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m.getRoll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m.getMarks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m.displayMarks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c.getRoll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c.getComment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c.displayComment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072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59C52-38A7-F633-BD50-ADB03F85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8E833-B496-FFF2-FA8F-7028AF72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Hybrid Inheritance – </a:t>
            </a:r>
          </a:p>
          <a:p>
            <a:r>
              <a:rPr lang="en-US" b="1" dirty="0"/>
              <a:t>Hybrid inheritance</a:t>
            </a:r>
            <a:r>
              <a:rPr lang="en-US" dirty="0"/>
              <a:t> is a combination of </a:t>
            </a:r>
            <a:r>
              <a:rPr lang="en-US" b="1" dirty="0"/>
              <a:t>two or more types of inheritance</a:t>
            </a:r>
            <a:r>
              <a:rPr lang="en-US" dirty="0"/>
              <a:t>.</a:t>
            </a:r>
          </a:p>
          <a:p>
            <a:r>
              <a:rPr lang="en-US" dirty="0"/>
              <a:t>It usually combines:</a:t>
            </a:r>
          </a:p>
          <a:p>
            <a:r>
              <a:rPr lang="en-US" dirty="0"/>
              <a:t>Multiple inheritance</a:t>
            </a:r>
          </a:p>
          <a:p>
            <a:r>
              <a:rPr lang="en-US" dirty="0"/>
              <a:t>Multilevel inheritance</a:t>
            </a:r>
          </a:p>
          <a:p>
            <a:r>
              <a:rPr lang="en-US" dirty="0"/>
              <a:t>Hierarchical inheritance</a:t>
            </a:r>
          </a:p>
          <a:p>
            <a:r>
              <a:rPr lang="en-US" dirty="0"/>
              <a:t>Hybrid inheritance is used when a program requires </a:t>
            </a:r>
            <a:r>
              <a:rPr lang="en-US" b="1" dirty="0"/>
              <a:t>multiple inheritance structures together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Structure Example</a:t>
            </a:r>
          </a:p>
          <a:p>
            <a:r>
              <a:rPr lang="en-US" dirty="0"/>
              <a:t>A common hybrid inheritance structure is:</a:t>
            </a:r>
          </a:p>
          <a:p>
            <a:r>
              <a:rPr lang="en-US" dirty="0"/>
              <a:t>        Student</a:t>
            </a:r>
            <a:br>
              <a:rPr lang="en-US" dirty="0"/>
            </a:br>
            <a:r>
              <a:rPr lang="en-US" dirty="0"/>
              <a:t>       /               \</a:t>
            </a:r>
            <a:br>
              <a:rPr lang="en-US" dirty="0"/>
            </a:br>
            <a:r>
              <a:rPr lang="en-US" dirty="0"/>
              <a:t>    Marks    Sports</a:t>
            </a:r>
            <a:br>
              <a:rPr lang="en-US" dirty="0"/>
            </a:br>
            <a:r>
              <a:rPr lang="en-US" dirty="0"/>
              <a:t>       \             /</a:t>
            </a:r>
            <a:br>
              <a:rPr lang="en-US" dirty="0"/>
            </a:br>
            <a:r>
              <a:rPr lang="en-US" dirty="0"/>
              <a:t>         Result</a:t>
            </a:r>
          </a:p>
          <a:p>
            <a:r>
              <a:rPr lang="en-US" dirty="0"/>
              <a:t>This structure combines:</a:t>
            </a:r>
          </a:p>
          <a:p>
            <a:r>
              <a:rPr lang="en-US" b="1" dirty="0"/>
              <a:t>Hierarchical inheritance</a:t>
            </a:r>
            <a:br>
              <a:rPr lang="en-US" dirty="0"/>
            </a:br>
            <a:r>
              <a:rPr lang="en-US" dirty="0"/>
              <a:t>Student → Marks</a:t>
            </a:r>
            <a:br>
              <a:rPr lang="en-US" dirty="0"/>
            </a:br>
            <a:r>
              <a:rPr lang="en-US" dirty="0"/>
              <a:t>Student → Sports</a:t>
            </a:r>
          </a:p>
          <a:p>
            <a:r>
              <a:rPr lang="en-US" b="1" dirty="0"/>
              <a:t>Multiple inheritance</a:t>
            </a:r>
            <a:br>
              <a:rPr lang="en-US" dirty="0"/>
            </a:br>
            <a:r>
              <a:rPr lang="en-US" dirty="0"/>
              <a:t>Marks + Sports → Result</a:t>
            </a:r>
          </a:p>
          <a:p>
            <a:r>
              <a:rPr lang="en-US" dirty="0"/>
              <a:t>Therefore this becomes </a:t>
            </a:r>
            <a:r>
              <a:rPr lang="en-US" b="1" dirty="0"/>
              <a:t>Hybrid Inheritance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51428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EC341-1157-4F46-A45F-0738F1A7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436C-B3BC-6B71-AD8B-B82B19EF2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getRoll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Roll No: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A77F2-A2A2-978B-9BB5-B210DF0CF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class Marks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getMarks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Marks: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646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5BFA1-DEFE-4CC0-8583-F5DE7104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DF243-F8DF-2997-F38D-352A4CECF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class Sports :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score;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getScore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Sports Score: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score;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Result : public Marks, public Sports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display()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Marks::roll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"Sports Score: " &lt;&lt; score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C84FF-3C7C-4519-9051-276BD338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Result r;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r.Marks</a:t>
            </a:r>
            <a:r>
              <a:rPr lang="en-IN" dirty="0"/>
              <a:t>::</a:t>
            </a:r>
            <a:r>
              <a:rPr lang="en-IN" dirty="0" err="1"/>
              <a:t>getRoll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r.getMarks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r.getScore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r.display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037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6FED3-FA66-FB71-0623-B6CFCD6E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B10B3-27FD-BF75-FFA0-B4F6C2923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940" y="511293"/>
            <a:ext cx="3611864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C0F82-C8A2-F621-1C27-728223987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892885"/>
            <a:ext cx="5458838" cy="5284078"/>
          </a:xfrm>
        </p:spPr>
        <p:txBody>
          <a:bodyPr>
            <a:normAutofit/>
          </a:bodyPr>
          <a:lstStyle/>
          <a:p>
            <a:r>
              <a:rPr lang="en-IN" b="1" dirty="0"/>
              <a:t>Virtual Base Class- </a:t>
            </a:r>
          </a:p>
          <a:p>
            <a:r>
              <a:rPr lang="en-US" dirty="0"/>
              <a:t>A </a:t>
            </a:r>
            <a:r>
              <a:rPr lang="en-US" b="1" dirty="0"/>
              <a:t>virtual base class</a:t>
            </a:r>
            <a:r>
              <a:rPr lang="en-US" dirty="0"/>
              <a:t> in C++ is used to solve the </a:t>
            </a:r>
            <a:r>
              <a:rPr lang="en-US" b="1" dirty="0"/>
              <a:t>diamond problem</a:t>
            </a:r>
            <a:r>
              <a:rPr lang="en-US" dirty="0"/>
              <a:t> in multiple inheritance. It ensures that only </a:t>
            </a:r>
            <a:r>
              <a:rPr lang="en-US" b="1" dirty="0"/>
              <a:t>one copy of a base class</a:t>
            </a:r>
            <a:r>
              <a:rPr lang="en-US" dirty="0"/>
              <a:t> is inherited, even if multiple paths exist.</a:t>
            </a:r>
          </a:p>
          <a:p>
            <a:r>
              <a:rPr lang="en-US" dirty="0"/>
              <a:t>Class B and C both inherit from A </a:t>
            </a:r>
          </a:p>
          <a:p>
            <a:r>
              <a:rPr lang="en-US" dirty="0"/>
              <a:t>Class D inherits from both B and C </a:t>
            </a:r>
          </a:p>
          <a:p>
            <a:r>
              <a:rPr lang="en-US" dirty="0"/>
              <a:t> Now D gets </a:t>
            </a:r>
            <a:r>
              <a:rPr lang="en-US" b="1" dirty="0"/>
              <a:t>two copies of A</a:t>
            </a:r>
            <a:r>
              <a:rPr lang="en-US" dirty="0"/>
              <a:t> → ambiguity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4468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9A04C-C6EF-D387-2C97-6167252EE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44DAC-C3E0-B3F1-D3DD-2C8301AB6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Without Virtual Base Class (Problem Code)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A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x;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 : public A {};</a:t>
            </a:r>
          </a:p>
          <a:p>
            <a:pPr marL="0" indent="0">
              <a:buNone/>
            </a:pPr>
            <a:r>
              <a:rPr lang="en-IN" dirty="0"/>
              <a:t>class C : public A {};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 : public B, public C {};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D </a:t>
            </a:r>
            <a:r>
              <a:rPr lang="en-IN" dirty="0" err="1"/>
              <a:t>obj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obj.x</a:t>
            </a:r>
            <a:r>
              <a:rPr lang="en-IN" dirty="0"/>
              <a:t> = 10; // Error: ambiguous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r>
              <a:rPr lang="en-US" dirty="0"/>
              <a:t>Compiler gets confused: Should x come from B→A or C→A?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232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223C1-BAFC-8AC0-10A1-1FE02B8CE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618FC-6A8E-675A-EA7A-3E5AD2E45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Solution: Virtual Base Class</a:t>
            </a:r>
          </a:p>
          <a:p>
            <a:r>
              <a:rPr lang="en-US" dirty="0"/>
              <a:t>We use virtual keyword while inheriting:</a:t>
            </a:r>
          </a:p>
          <a:p>
            <a:r>
              <a:rPr lang="en-US" dirty="0"/>
              <a:t>class B : virtual public A {};</a:t>
            </a:r>
            <a:br>
              <a:rPr lang="en-US" dirty="0"/>
            </a:br>
            <a:r>
              <a:rPr lang="en-US" dirty="0"/>
              <a:t>class C : virtual public A {};</a:t>
            </a:r>
          </a:p>
          <a:p>
            <a:r>
              <a:rPr lang="en-US" dirty="0"/>
              <a:t>virtual ensures </a:t>
            </a:r>
            <a:r>
              <a:rPr lang="en-US" b="1" dirty="0"/>
              <a:t>only one shared copy of base class A</a:t>
            </a:r>
          </a:p>
          <a:p>
            <a:endParaRPr lang="en-US" b="1" dirty="0"/>
          </a:p>
          <a:p>
            <a:r>
              <a:rPr lang="en-IN" b="1" dirty="0"/>
              <a:t>With Virtual Base Class (Correct Code)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A {</a:t>
            </a:r>
            <a:br>
              <a:rPr lang="en-IN" dirty="0"/>
            </a:br>
            <a:r>
              <a:rPr lang="en-IN" dirty="0"/>
              <a:t>public:</a:t>
            </a:r>
            <a:br>
              <a:rPr lang="en-IN" dirty="0"/>
            </a:br>
            <a:r>
              <a:rPr lang="en-IN" dirty="0"/>
              <a:t>    int x;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B : virtual public A {};</a:t>
            </a:r>
            <a:br>
              <a:rPr lang="en-IN" dirty="0"/>
            </a:br>
            <a:r>
              <a:rPr lang="en-IN" dirty="0"/>
              <a:t>class C : virtual public A {};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D : public B, public C {};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D </a:t>
            </a:r>
            <a:r>
              <a:rPr lang="en-IN" dirty="0" err="1"/>
              <a:t>obj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obj.x</a:t>
            </a:r>
            <a:r>
              <a:rPr lang="en-IN" dirty="0"/>
              <a:t> = 10;   // No ambiguity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obj.x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4740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F53C-9F8C-D72F-D0DC-0724D46E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F69CE-59CC-0FE3-5382-DDC868B8D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80913"/>
            <a:ext cx="5181600" cy="5596050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Constructor </a:t>
            </a:r>
            <a:r>
              <a:rPr lang="en-IN" b="1" dirty="0" err="1"/>
              <a:t>Behavior</a:t>
            </a:r>
            <a:r>
              <a:rPr lang="en-IN" b="1" dirty="0"/>
              <a:t> – </a:t>
            </a:r>
          </a:p>
          <a:p>
            <a:r>
              <a:rPr lang="en-US" dirty="0"/>
              <a:t>Virtual base class constructor is called only once, by the most derived class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A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A()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"A constructor\n";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 : virtual public A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B()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"B constructor\n";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7072E-F687-FA85-72EF-BAD6FD9A5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80913"/>
            <a:ext cx="5181600" cy="559605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C : virtual public A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C()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 constructor\n";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 : public B, public C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 constructor\n";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D </a:t>
            </a:r>
            <a:r>
              <a:rPr lang="en-IN" dirty="0" err="1"/>
              <a:t>obj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1371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675C-4484-FC79-50DD-A6FE389D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E3191-535F-1041-DE91-27A604C64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r>
              <a:rPr lang="en-US" b="1" dirty="0"/>
              <a:t>When to Use Virtual Base Class</a:t>
            </a:r>
          </a:p>
          <a:p>
            <a:r>
              <a:rPr lang="en-US" dirty="0"/>
              <a:t>Use it when:</a:t>
            </a:r>
          </a:p>
          <a:p>
            <a:r>
              <a:rPr lang="en-US" dirty="0"/>
              <a:t>Multiple inheritance exists </a:t>
            </a:r>
          </a:p>
          <a:p>
            <a:r>
              <a:rPr lang="en-US" dirty="0"/>
              <a:t>Same base class appears multiple times </a:t>
            </a:r>
          </a:p>
          <a:p>
            <a:r>
              <a:rPr lang="en-US" dirty="0"/>
              <a:t>You want to avoid duplication &amp; ambiguity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07359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01220-45BC-4EAD-8F54-D447B54F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E5CE9-1C3A-8460-1BA3-6D722A354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roll;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getRoll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Roll No: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roll;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562F6-064A-8FBD-0B4E-7950FFF3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class Marks : virtual 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getMarks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Marks: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marks;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2412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7D96-B8FD-B4D8-03BF-B9B7F477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BF53E-BA0B-2073-8A54-157A68FDD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806"/>
            <a:ext cx="5181600" cy="593115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Sports : virtual  public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protected:</a:t>
            </a:r>
          </a:p>
          <a:p>
            <a:pPr marL="0" indent="0">
              <a:buNone/>
            </a:pPr>
            <a:r>
              <a:rPr lang="en-IN" dirty="0"/>
              <a:t>    int score;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getScore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Sports Score: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score;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r>
              <a:rPr lang="en-IN" dirty="0"/>
              <a:t>class Result : public Marks, public Sports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public:</a:t>
            </a:r>
            <a:br>
              <a:rPr lang="en-IN" dirty="0"/>
            </a:br>
            <a:r>
              <a:rPr lang="en-IN" dirty="0"/>
              <a:t>    void display()</a:t>
            </a:r>
            <a:br>
              <a:rPr lang="en-IN" dirty="0"/>
            </a:br>
            <a:r>
              <a:rPr lang="en-IN" dirty="0"/>
              <a:t>   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"Roll No: " &lt;&lt; roll &lt;&lt; </a:t>
            </a:r>
            <a:r>
              <a:rPr lang="en-IN" dirty="0" err="1"/>
              <a:t>endl</a:t>
            </a:r>
            <a:r>
              <a:rPr lang="en-IN" dirty="0"/>
              <a:t>;  // no ambiguity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"Marks: " &lt;&lt; marks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"Sports Score: " &lt;&lt; score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B622B-DD71-85B5-CF4A-A65A6547B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34297"/>
            <a:ext cx="5181600" cy="584266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int main()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Result r;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r.getRoll</a:t>
            </a:r>
            <a:r>
              <a:rPr lang="en-IN" dirty="0"/>
              <a:t>();   // only one Student now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r.getMarks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r.getScore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r.display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7923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8016C-9A73-0EB9-44C2-875CE358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FFCD1-E58F-4B05-2562-E03FBAD09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r>
              <a:rPr lang="en-IN" b="1" dirty="0"/>
              <a:t>Object Slicing – </a:t>
            </a:r>
          </a:p>
          <a:p>
            <a:r>
              <a:rPr lang="en-US" b="1" dirty="0"/>
              <a:t>Object slicing</a:t>
            </a:r>
            <a:r>
              <a:rPr lang="en-US" dirty="0"/>
              <a:t> happens when a </a:t>
            </a:r>
            <a:r>
              <a:rPr lang="en-US" b="1" dirty="0"/>
              <a:t>derived class object is assigned to a base class object</a:t>
            </a:r>
            <a:r>
              <a:rPr lang="en-US" dirty="0"/>
              <a:t>, and the </a:t>
            </a:r>
            <a:r>
              <a:rPr lang="en-US" b="1" dirty="0"/>
              <a:t>extra (derived) part is “sliced off”</a:t>
            </a:r>
            <a:r>
              <a:rPr lang="en-US" dirty="0"/>
              <a:t>.</a:t>
            </a:r>
          </a:p>
          <a:p>
            <a:r>
              <a:rPr lang="en-US" dirty="0"/>
              <a:t> Only the </a:t>
            </a:r>
            <a:r>
              <a:rPr lang="en-US" b="1" dirty="0"/>
              <a:t>base class portion remains</a:t>
            </a:r>
            <a:r>
              <a:rPr lang="en-US" dirty="0"/>
              <a:t>, derived data is lost.</a:t>
            </a:r>
          </a:p>
          <a:p>
            <a:r>
              <a:rPr lang="en-US" dirty="0"/>
              <a:t>Think like:</a:t>
            </a:r>
          </a:p>
          <a:p>
            <a:r>
              <a:rPr lang="en-US" dirty="0"/>
              <a:t>Derived object = </a:t>
            </a:r>
            <a:r>
              <a:rPr lang="en-US" b="1" dirty="0"/>
              <a:t>Base + Extra data</a:t>
            </a:r>
            <a:r>
              <a:rPr lang="en-US" dirty="0"/>
              <a:t> (from derived class)</a:t>
            </a:r>
          </a:p>
          <a:p>
            <a:r>
              <a:rPr lang="en-US" dirty="0"/>
              <a:t>After slicing → only </a:t>
            </a:r>
            <a:r>
              <a:rPr lang="en-US" b="1" dirty="0"/>
              <a:t>Base part survives</a:t>
            </a:r>
            <a:endParaRPr lang="en-US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663279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4108-9FE6-697D-1EEA-9CD21634F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217D1-6C48-7D4E-ED3C-C7F1A35F1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Example 1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Base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x;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Derived : public Base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y;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Derived d;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d.x</a:t>
            </a:r>
            <a:r>
              <a:rPr lang="en-IN" dirty="0"/>
              <a:t> = 10;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d.y</a:t>
            </a:r>
            <a:r>
              <a:rPr lang="en-IN" dirty="0"/>
              <a:t> = 20;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Base b = d;   // ⚠️ Object slicing happens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b.x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 // 10</a:t>
            </a:r>
          </a:p>
          <a:p>
            <a:pPr marL="0" indent="0">
              <a:buNone/>
            </a:pPr>
            <a:r>
              <a:rPr lang="en-IN" dirty="0"/>
              <a:t>    //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b.y</a:t>
            </a:r>
            <a:r>
              <a:rPr lang="en-IN" dirty="0"/>
              <a:t>; Error (y is sliced off)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31665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9D73-7C59-DA3B-2A90-8E499ACA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B213B-A11E-AE60-EC74-F2E3F64F6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Example 2: Function Parameter Slicing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Base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"Base class\n";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Derived : public Base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"Derived class\n";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void display(Base </a:t>
            </a:r>
            <a:r>
              <a:rPr lang="en-IN" dirty="0" err="1"/>
              <a:t>obj</a:t>
            </a:r>
            <a:r>
              <a:rPr lang="en-IN" dirty="0"/>
              <a:t>) {   // ⚠️ slicing here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obj.show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Derived d;</a:t>
            </a:r>
          </a:p>
          <a:p>
            <a:pPr marL="0" indent="0">
              <a:buNone/>
            </a:pPr>
            <a:r>
              <a:rPr lang="en-IN" dirty="0"/>
              <a:t>    display(d);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5097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D9FBE-CC8C-D3B2-90D9-A87A3B82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8D2C6-643A-98F5-9896-8A824B984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8184"/>
            <a:ext cx="5181600" cy="5918779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Pointer to Base and Derived Class – </a:t>
            </a:r>
          </a:p>
          <a:p>
            <a:r>
              <a:rPr lang="en-US" dirty="0"/>
              <a:t>In inheritance:</a:t>
            </a:r>
          </a:p>
          <a:p>
            <a:r>
              <a:rPr lang="en-US" dirty="0"/>
              <a:t>A </a:t>
            </a:r>
            <a:r>
              <a:rPr lang="en-US" b="1" dirty="0"/>
              <a:t>base class pointer can point to a derived class object</a:t>
            </a:r>
            <a:r>
              <a:rPr lang="en-US" dirty="0"/>
              <a:t> </a:t>
            </a:r>
          </a:p>
          <a:p>
            <a:r>
              <a:rPr lang="en-US" dirty="0"/>
              <a:t>But access is </a:t>
            </a:r>
            <a:r>
              <a:rPr lang="en-US" b="1" dirty="0"/>
              <a:t>limited to base class members only</a:t>
            </a:r>
          </a:p>
          <a:p>
            <a:r>
              <a:rPr lang="en-US" b="1" dirty="0"/>
              <a:t>Base Pointer → Derived Object (Allowed )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Base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x;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showBase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"Base function\n";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A1AED-6175-6C18-8743-4A9D5402C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8184"/>
            <a:ext cx="5181600" cy="591877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Derived : public Base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int y;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showDerived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"Derived function\n";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Derived 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Base *</a:t>
            </a:r>
            <a:r>
              <a:rPr lang="en-IN" dirty="0" err="1"/>
              <a:t>ptr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 = &amp;d;   //  Allowed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-&gt;x = 10;        // OK (Base member)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-&gt;</a:t>
            </a:r>
            <a:r>
              <a:rPr lang="en-IN" dirty="0" err="1"/>
              <a:t>showBase</a:t>
            </a:r>
            <a:r>
              <a:rPr lang="en-IN" dirty="0"/>
              <a:t>();    // OK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</a:t>
            </a:r>
            <a:r>
              <a:rPr lang="en-IN" dirty="0" err="1"/>
              <a:t>ptr</a:t>
            </a:r>
            <a:r>
              <a:rPr lang="en-IN" dirty="0"/>
              <a:t>-&gt;y = 20;     Not allowed</a:t>
            </a:r>
          </a:p>
          <a:p>
            <a:pPr marL="0" indent="0">
              <a:buNone/>
            </a:pPr>
            <a:r>
              <a:rPr lang="en-IN" dirty="0"/>
              <a:t>    // </a:t>
            </a:r>
            <a:r>
              <a:rPr lang="en-IN" dirty="0" err="1"/>
              <a:t>ptr</a:t>
            </a:r>
            <a:r>
              <a:rPr lang="en-IN" dirty="0"/>
              <a:t>-&gt;</a:t>
            </a:r>
            <a:r>
              <a:rPr lang="en-IN" dirty="0" err="1"/>
              <a:t>showDerived</a:t>
            </a:r>
            <a:r>
              <a:rPr lang="en-IN" dirty="0"/>
              <a:t>();  Not allowed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81825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7BBC8-9DC3-D488-E50C-617C07F6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DD48E-1D92-9A0F-FC09-3CC9F3721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r>
              <a:rPr lang="en-IN" b="1" dirty="0"/>
              <a:t>Derived Pointer → Base Object (Not Allowed )</a:t>
            </a:r>
          </a:p>
          <a:p>
            <a:r>
              <a:rPr lang="en-IN" b="1" dirty="0"/>
              <a:t>Example 2</a:t>
            </a:r>
          </a:p>
          <a:p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Base b;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Derived *</a:t>
            </a:r>
            <a:r>
              <a:rPr lang="en-IN" dirty="0" err="1"/>
              <a:t>ptr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 = &amp;b;   //  Error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US" b="1" dirty="0"/>
              <a:t>Using Type Casting -</a:t>
            </a:r>
          </a:p>
          <a:p>
            <a:r>
              <a:rPr lang="en-US" dirty="0"/>
              <a:t>You can force it using casting:</a:t>
            </a:r>
          </a:p>
          <a:p>
            <a:r>
              <a:rPr lang="en-US" dirty="0"/>
              <a:t>Derived *</a:t>
            </a:r>
            <a:r>
              <a:rPr lang="en-US" dirty="0" err="1"/>
              <a:t>ptr</a:t>
            </a:r>
            <a:r>
              <a:rPr lang="en-US" dirty="0"/>
              <a:t> = (Derived*)&amp;b;  //  Dangerous</a:t>
            </a:r>
          </a:p>
          <a:p>
            <a:r>
              <a:rPr lang="en-US" dirty="0"/>
              <a:t>But this is </a:t>
            </a:r>
            <a:r>
              <a:rPr lang="en-US" b="1" dirty="0"/>
              <a:t>unsafe</a:t>
            </a:r>
            <a:br>
              <a:rPr lang="en-US" dirty="0"/>
            </a:br>
            <a:r>
              <a:rPr lang="en-US" dirty="0"/>
              <a:t>May lead to </a:t>
            </a:r>
            <a:r>
              <a:rPr lang="en-US" b="1" dirty="0"/>
              <a:t>garbage values / crash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0114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45115-D92E-9021-06B1-35CD742E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36058-EA4E-76B6-B737-D4647D7E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Example 2 – </a:t>
            </a:r>
          </a:p>
          <a:p>
            <a:pPr marL="0" indent="0">
              <a:buNone/>
            </a:pPr>
            <a:r>
              <a:rPr lang="en-IN" dirty="0"/>
              <a:t>class Base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"Base show\n";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Derived : public Base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"Derived show\n";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Derived d;</a:t>
            </a:r>
          </a:p>
          <a:p>
            <a:pPr marL="0" indent="0">
              <a:buNone/>
            </a:pPr>
            <a:r>
              <a:rPr lang="en-IN" dirty="0"/>
              <a:t>    Base *</a:t>
            </a:r>
            <a:r>
              <a:rPr lang="en-IN" dirty="0" err="1"/>
              <a:t>ptr</a:t>
            </a:r>
            <a:r>
              <a:rPr lang="en-IN" dirty="0"/>
              <a:t> = &amp;d;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-&gt;show();   //  Which one?  - Base show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460675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D935D-C189-F49D-D5B1-7D8ED6EB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65FC0-CA64-E357-8174-8083BC06F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Virtual Function – </a:t>
            </a:r>
          </a:p>
          <a:p>
            <a:r>
              <a:rPr lang="en-US" dirty="0"/>
              <a:t>A </a:t>
            </a:r>
            <a:r>
              <a:rPr lang="en-US" b="1" dirty="0"/>
              <a:t>virtual function</a:t>
            </a:r>
            <a:r>
              <a:rPr lang="en-US" dirty="0"/>
              <a:t> is a member function of a base class that is </a:t>
            </a:r>
            <a:r>
              <a:rPr lang="en-US" b="1" dirty="0"/>
              <a:t>redefined in derived class</a:t>
            </a:r>
            <a:r>
              <a:rPr lang="en-US" dirty="0"/>
              <a:t> and is </a:t>
            </a:r>
            <a:r>
              <a:rPr lang="en-US" b="1" dirty="0"/>
              <a:t>called based on object type (not pointer type)</a:t>
            </a:r>
            <a:r>
              <a:rPr lang="en-US" dirty="0"/>
              <a:t>.</a:t>
            </a:r>
          </a:p>
          <a:p>
            <a:r>
              <a:rPr lang="en-US" dirty="0"/>
              <a:t>Virtual function enables runtime decision of which function to call</a:t>
            </a:r>
          </a:p>
          <a:p>
            <a:endParaRPr lang="en-US" dirty="0"/>
          </a:p>
          <a:p>
            <a:r>
              <a:rPr lang="en-US" b="1" dirty="0"/>
              <a:t>Why Virtual Function is Needed?</a:t>
            </a:r>
          </a:p>
          <a:p>
            <a:r>
              <a:rPr lang="en-US" dirty="0"/>
              <a:t>From previous topic:</a:t>
            </a:r>
          </a:p>
          <a:p>
            <a:r>
              <a:rPr lang="en-US" dirty="0"/>
              <a:t>Base *</a:t>
            </a:r>
            <a:r>
              <a:rPr lang="en-US" dirty="0" err="1"/>
              <a:t>ptr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Derived d;</a:t>
            </a:r>
            <a:br>
              <a:rPr lang="en-US" dirty="0"/>
            </a:br>
            <a:r>
              <a:rPr lang="en-US" dirty="0" err="1"/>
              <a:t>ptr</a:t>
            </a:r>
            <a:r>
              <a:rPr lang="en-US" dirty="0"/>
              <a:t> = &amp;d;</a:t>
            </a:r>
            <a:br>
              <a:rPr lang="en-US" dirty="0"/>
            </a:br>
            <a:r>
              <a:rPr lang="en-US" dirty="0" err="1"/>
              <a:t>ptr</a:t>
            </a:r>
            <a:r>
              <a:rPr lang="en-US" dirty="0"/>
              <a:t>-&gt;show();   //  calls Base function</a:t>
            </a:r>
          </a:p>
          <a:p>
            <a:endParaRPr lang="en-US" dirty="0"/>
          </a:p>
          <a:p>
            <a:r>
              <a:rPr lang="en-US" dirty="0"/>
              <a:t>Problem:</a:t>
            </a:r>
            <a:br>
              <a:rPr lang="en-US" dirty="0"/>
            </a:br>
            <a:r>
              <a:rPr lang="en-US" dirty="0"/>
              <a:t>Even though object is Derived, still </a:t>
            </a:r>
            <a:r>
              <a:rPr lang="en-US" b="1" dirty="0"/>
              <a:t>Base function is called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Solution: Virtual Function</a:t>
            </a:r>
          </a:p>
          <a:p>
            <a:r>
              <a:rPr lang="en-US" dirty="0"/>
              <a:t>We use virtual keyword in base class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3531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4E73-41A4-2347-000D-8E05485A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61484-95A2-6560-578D-5B7016CAA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Example 1: Without Virtual Function - 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Base {</a:t>
            </a:r>
            <a:br>
              <a:rPr lang="en-IN" dirty="0"/>
            </a:br>
            <a:r>
              <a:rPr lang="en-IN" dirty="0"/>
              <a:t>public:</a:t>
            </a:r>
            <a:br>
              <a:rPr lang="en-IN" dirty="0"/>
            </a:br>
            <a:r>
              <a:rPr lang="en-IN" dirty="0"/>
              <a:t>    void show()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"Base show\n";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Derived : public Base {</a:t>
            </a:r>
            <a:br>
              <a:rPr lang="en-IN" dirty="0"/>
            </a:br>
            <a:r>
              <a:rPr lang="en-IN" dirty="0"/>
              <a:t>public:</a:t>
            </a:r>
            <a:br>
              <a:rPr lang="en-IN" dirty="0"/>
            </a:br>
            <a:r>
              <a:rPr lang="en-IN" dirty="0"/>
              <a:t>    void show()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"Derived show\n";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Base *</a:t>
            </a:r>
            <a:r>
              <a:rPr lang="en-IN" dirty="0" err="1"/>
              <a:t>ptr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Derived 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 = &amp;d;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-&gt;show();   //  Base show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7477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E2F5B-A887-C986-F7BD-27238D246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8AC79-9B25-8D17-4E60-2F7D36577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Example 2: With Virtual Function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Base {</a:t>
            </a:r>
            <a:br>
              <a:rPr lang="en-IN" dirty="0"/>
            </a:br>
            <a:r>
              <a:rPr lang="en-IN" dirty="0"/>
              <a:t>public:</a:t>
            </a:r>
            <a:br>
              <a:rPr lang="en-IN" dirty="0"/>
            </a:br>
            <a:r>
              <a:rPr lang="en-IN" dirty="0"/>
              <a:t>    virtual void show() {   //  virtual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"Base show\n";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Derived : public Base {</a:t>
            </a:r>
            <a:br>
              <a:rPr lang="en-IN" dirty="0"/>
            </a:br>
            <a:r>
              <a:rPr lang="en-IN" dirty="0"/>
              <a:t>public:</a:t>
            </a:r>
            <a:br>
              <a:rPr lang="en-IN" dirty="0"/>
            </a:br>
            <a:r>
              <a:rPr lang="en-IN" dirty="0"/>
              <a:t>    void show()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"Derived show\n";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Base *</a:t>
            </a:r>
            <a:r>
              <a:rPr lang="en-IN" dirty="0" err="1"/>
              <a:t>ptr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Derived 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 = &amp;d;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-&gt;show();   //  Derived show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6473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F9D4D-DCD7-E20F-2716-FCAA07FE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EED59-66B1-E86C-E191-0D690E95B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84094"/>
            <a:ext cx="5181600" cy="5692869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Example 3: Multiple Derived Classes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Shape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virtual void draw()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"Drawing Shape\n";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Circle : public Shape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draw()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"Drawing Circle\n";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CCDBC-D2F4-45F8-52C5-590131C4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84094"/>
            <a:ext cx="5181600" cy="56928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Rectangle : public Shape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draw()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"Drawing Rectangle\n";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Shape *</a:t>
            </a:r>
            <a:r>
              <a:rPr lang="en-IN" dirty="0" err="1"/>
              <a:t>ptr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Circle c;</a:t>
            </a:r>
          </a:p>
          <a:p>
            <a:pPr marL="0" indent="0">
              <a:buNone/>
            </a:pPr>
            <a:r>
              <a:rPr lang="en-IN" dirty="0"/>
              <a:t>    Rectangle r;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 = &amp;c;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-&gt;draw();   // Circle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 = &amp;r;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-&gt;draw();   // Rectangle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9298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A663-9F38-F98F-36DE-76A1E1187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B0D0-D36A-656F-5AF2-269E82B2C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>
            <a:normAutofit/>
          </a:bodyPr>
          <a:lstStyle/>
          <a:p>
            <a:r>
              <a:rPr lang="en-US" b="1" dirty="0"/>
              <a:t>Important Rules</a:t>
            </a:r>
          </a:p>
          <a:p>
            <a:r>
              <a:rPr lang="en-US" b="1" dirty="0"/>
              <a:t>Rule 1:</a:t>
            </a:r>
          </a:p>
          <a:p>
            <a:r>
              <a:rPr lang="en-US" dirty="0"/>
              <a:t>Virtual function must be in </a:t>
            </a:r>
            <a:r>
              <a:rPr lang="en-US" b="1" dirty="0"/>
              <a:t>base class</a:t>
            </a:r>
          </a:p>
          <a:p>
            <a:r>
              <a:rPr lang="en-US" b="1" dirty="0"/>
              <a:t> Rule 2:</a:t>
            </a:r>
          </a:p>
          <a:p>
            <a:r>
              <a:rPr lang="en-US" dirty="0"/>
              <a:t>Call should be through </a:t>
            </a:r>
            <a:r>
              <a:rPr lang="en-US" b="1" dirty="0"/>
              <a:t>base class pointer</a:t>
            </a:r>
            <a:endParaRPr lang="en-US" dirty="0"/>
          </a:p>
          <a:p>
            <a:r>
              <a:rPr lang="en-US" b="1" dirty="0"/>
              <a:t>Rule 3:</a:t>
            </a:r>
          </a:p>
          <a:p>
            <a:r>
              <a:rPr lang="en-US" dirty="0"/>
              <a:t>Function name &amp; parameters must be same</a:t>
            </a:r>
          </a:p>
          <a:p>
            <a:r>
              <a:rPr lang="en-US" b="1" dirty="0"/>
              <a:t>Rule 4:</a:t>
            </a:r>
          </a:p>
          <a:p>
            <a:r>
              <a:rPr lang="en-US" dirty="0"/>
              <a:t>If you call using object:</a:t>
            </a:r>
          </a:p>
          <a:p>
            <a:r>
              <a:rPr lang="en-US" dirty="0"/>
              <a:t>Derived d;</a:t>
            </a:r>
            <a:br>
              <a:rPr lang="en-US" dirty="0"/>
            </a:br>
            <a:r>
              <a:rPr lang="en-US" dirty="0" err="1"/>
              <a:t>d.show</a:t>
            </a:r>
            <a:r>
              <a:rPr lang="en-US" dirty="0"/>
              <a:t>();   // No virtual concept here</a:t>
            </a:r>
          </a:p>
          <a:p>
            <a:r>
              <a:rPr lang="en-US" dirty="0"/>
              <a:t>It will directly call derived function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5551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0E3F-E6E9-2261-0B00-A4FBD115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64850-1241-777D-829E-D427DA765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41698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F510-10CB-51E6-75D9-93C48E07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2F3AE-AA71-9766-0B58-B39A73261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68397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0D8E-C315-862F-8EEF-E3B8F50F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79F4F-3796-5BAF-4E2D-9D598486A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6137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12A68-6DF3-3BF7-4798-E5C3A10C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9961E-2A75-E1A1-F7E7-271702A2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36317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F5767-25AD-2BB8-C353-EA3287672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2EBCA-887D-C5F6-23D2-C5ED07CE7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2870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347EF-7B4A-93D1-1F36-BDDD83FB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38AF0-AF3A-37DE-654D-38D588EE5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7009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7D392-D7BB-6B63-509B-22E3E64E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11F9C-23C2-B380-33B4-13B2BA6B2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2164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A924F-3D14-963A-3B79-3BD4DECE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11AEB-7B84-E156-9F9F-DCB75747C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414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F2F7-72E4-1662-C0C7-CDE7CC41A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9611-301E-1579-439D-7A109DAC0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7591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BE9A6-D37F-B36A-359B-358CEED2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A5773-8681-ACB3-B0BD-C1C2B41AE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9653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8735B-0487-AB5A-B715-03F9C241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CF096-FD86-47AC-F4AF-512206097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1354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F6379-5A3A-D3DB-31C3-3491A239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A21A4-3C8B-4107-8A68-D36CD2D92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8443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A61D-6B5B-B0E7-29C5-894B74E5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7658C-5E11-80E0-3942-072B0C849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779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DA153-21CD-29B8-C8A7-8AB83213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E2723-1C5C-1C10-ED6F-A0DB55EB3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3941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B6F5B-27F6-F957-A381-5BA51C11E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1F70E-8C75-F4CF-929B-B027A4F90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1694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DB99-7DA8-D303-20FE-FC9E5FB0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1E94-9E38-D2B7-A177-6B3DD2857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626"/>
            <a:ext cx="10515600" cy="600750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32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5697</Words>
  <Application>Microsoft Office PowerPoint</Application>
  <PresentationFormat>Widescreen</PresentationFormat>
  <Paragraphs>1210</Paragraphs>
  <Slides>73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Aptos</vt:lpstr>
      <vt:lpstr>Aptos Display</vt:lpstr>
      <vt:lpstr>Arial</vt:lpstr>
      <vt:lpstr>Calibri</vt:lpstr>
      <vt:lpstr>Office Theme</vt:lpstr>
      <vt:lpstr>Unit 4</vt:lpstr>
      <vt:lpstr>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Kamboj</dc:creator>
  <cp:lastModifiedBy>Rohit Kamboj</cp:lastModifiedBy>
  <cp:revision>185</cp:revision>
  <dcterms:created xsi:type="dcterms:W3CDTF">2026-03-14T06:54:19Z</dcterms:created>
  <dcterms:modified xsi:type="dcterms:W3CDTF">2026-04-04T04:02:47Z</dcterms:modified>
</cp:coreProperties>
</file>