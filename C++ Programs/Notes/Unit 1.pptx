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embeddedFontLst>
    <p:embeddedFont>
      <p:font typeface="Play"/>
      <p:regular r:id="rId36"/>
      <p:bold r:id="rId37"/>
    </p:embeddedFont>
    <p:embeddedFont>
      <p:font typeface="Pinyon Script"/>
      <p:regular r:id="rId38"/>
    </p:embeddedFont>
    <p:embeddedFont>
      <p:font typeface="Corbel"/>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UjLHjg5Ww669CzF2YAF6lFhFT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orbel-bold.fntdata"/><Relationship Id="rId20" Type="http://schemas.openxmlformats.org/officeDocument/2006/relationships/slide" Target="slides/slide16.xml"/><Relationship Id="rId42" Type="http://schemas.openxmlformats.org/officeDocument/2006/relationships/font" Target="fonts/Corbel-boldItalic.fntdata"/><Relationship Id="rId41" Type="http://schemas.openxmlformats.org/officeDocument/2006/relationships/font" Target="fonts/Corbel-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Play-bold.fntdata"/><Relationship Id="rId14" Type="http://schemas.openxmlformats.org/officeDocument/2006/relationships/slide" Target="slides/slide10.xml"/><Relationship Id="rId36" Type="http://schemas.openxmlformats.org/officeDocument/2006/relationships/font" Target="fonts/Play-regular.fntdata"/><Relationship Id="rId17" Type="http://schemas.openxmlformats.org/officeDocument/2006/relationships/slide" Target="slides/slide13.xml"/><Relationship Id="rId39" Type="http://schemas.openxmlformats.org/officeDocument/2006/relationships/font" Target="fonts/Corbel-regular.fntdata"/><Relationship Id="rId16" Type="http://schemas.openxmlformats.org/officeDocument/2006/relationships/slide" Target="slides/slide12.xml"/><Relationship Id="rId38" Type="http://schemas.openxmlformats.org/officeDocument/2006/relationships/font" Target="fonts/PinyonScript-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4"/>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4"/>
          <p:cNvSpPr txBox="1"/>
          <p:nvPr>
            <p:ph idx="1" type="body"/>
          </p:nvPr>
        </p:nvSpPr>
        <p:spPr>
          <a:xfrm>
            <a:off x="836425" y="2297668"/>
            <a:ext cx="10914195" cy="405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29" name="Google Shape;29;p34"/>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35"/>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37" name="Google Shape;37;p35"/>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1" name="Google Shape;4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44" name="Google Shape;44;p36"/>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7"/>
          <p:cNvSpPr txBox="1"/>
          <p:nvPr>
            <p:ph type="title"/>
          </p:nvPr>
        </p:nvSpPr>
        <p:spPr>
          <a:xfrm>
            <a:off x="839788" y="74789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54" name="Google Shape;54;p37"/>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8"/>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60" name="Google Shape;60;p38"/>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65" name="Google Shape;65;p39"/>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40"/>
          <p:cNvSpPr txBox="1"/>
          <p:nvPr>
            <p:ph type="title"/>
          </p:nvPr>
        </p:nvSpPr>
        <p:spPr>
          <a:xfrm>
            <a:off x="839788" y="987424"/>
            <a:ext cx="3932237" cy="1069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73" name="Google Shape;73;p40"/>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41"/>
          <p:cNvSpPr txBox="1"/>
          <p:nvPr>
            <p:ph type="title"/>
          </p:nvPr>
        </p:nvSpPr>
        <p:spPr>
          <a:xfrm>
            <a:off x="839788" y="987424"/>
            <a:ext cx="3932237" cy="1069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p:nvPr>
            <p:ph idx="2" type="pic"/>
          </p:nvPr>
        </p:nvSpPr>
        <p:spPr>
          <a:xfrm>
            <a:off x="5183188" y="987425"/>
            <a:ext cx="6172200" cy="4873625"/>
          </a:xfrm>
          <a:prstGeom prst="rect">
            <a:avLst/>
          </a:prstGeom>
          <a:noFill/>
          <a:ln>
            <a:noFill/>
          </a:ln>
        </p:spPr>
      </p:sp>
      <p:sp>
        <p:nvSpPr>
          <p:cNvPr id="77" name="Google Shape;77;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81" name="Google Shape;81;p41"/>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42"/>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42"/>
          <p:cNvSpPr txBox="1"/>
          <p:nvPr>
            <p:ph idx="1" type="body"/>
          </p:nvPr>
        </p:nvSpPr>
        <p:spPr>
          <a:xfrm rot="5400000">
            <a:off x="4264182" y="-1130089"/>
            <a:ext cx="4058682" cy="1091419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88" name="Google Shape;88;p42"/>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43"/>
          <p:cNvSpPr txBox="1"/>
          <p:nvPr>
            <p:ph type="title"/>
          </p:nvPr>
        </p:nvSpPr>
        <p:spPr>
          <a:xfrm rot="5400000">
            <a:off x="7446169" y="2269331"/>
            <a:ext cx="518636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3"/>
          <p:cNvSpPr txBox="1"/>
          <p:nvPr>
            <p:ph idx="1" type="body"/>
          </p:nvPr>
        </p:nvSpPr>
        <p:spPr>
          <a:xfrm rot="5400000">
            <a:off x="2112169" y="-283368"/>
            <a:ext cx="5186362"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95" name="Google Shape;95;p43"/>
          <p:cNvPicPr preferRelativeResize="0"/>
          <p:nvPr/>
        </p:nvPicPr>
        <p:blipFill rotWithShape="1">
          <a:blip r:embed="rId2">
            <a:alphaModFix/>
          </a:blip>
          <a:srcRect b="0" l="0" r="0" t="0"/>
          <a:stretch/>
        </p:blipFill>
        <p:spPr>
          <a:xfrm>
            <a:off x="144017" y="208994"/>
            <a:ext cx="2347573" cy="7816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836425" y="2297668"/>
            <a:ext cx="10914195" cy="405868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Top Private University in India | MBA, BBA, B.Tech ..." id="15" name="Google Shape;15;p32"/>
          <p:cNvPicPr preferRelativeResize="0"/>
          <p:nvPr/>
        </p:nvPicPr>
        <p:blipFill rotWithShape="1">
          <a:blip r:embed="rId1">
            <a:alphaModFix/>
          </a:blip>
          <a:srcRect b="0" l="0" r="0" t="0"/>
          <a:stretch/>
        </p:blipFill>
        <p:spPr>
          <a:xfrm>
            <a:off x="144017" y="208994"/>
            <a:ext cx="2347573" cy="781607"/>
          </a:xfrm>
          <a:prstGeom prst="rect">
            <a:avLst/>
          </a:prstGeom>
          <a:noFill/>
          <a:ln>
            <a:noFill/>
          </a:ln>
        </p:spPr>
      </p:pic>
      <p:pic>
        <p:nvPicPr>
          <p:cNvPr id="16" name="Google Shape;16;p32"/>
          <p:cNvPicPr preferRelativeResize="0"/>
          <p:nvPr/>
        </p:nvPicPr>
        <p:blipFill rotWithShape="1">
          <a:blip r:embed="rId2">
            <a:alphaModFix amt="7000"/>
          </a:blip>
          <a:srcRect b="0" l="0" r="0" t="0"/>
          <a:stretch/>
        </p:blipFill>
        <p:spPr>
          <a:xfrm>
            <a:off x="1236794" y="2297668"/>
            <a:ext cx="9718411" cy="2721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0.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jpg"/><Relationship Id="rId5"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jp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1" lang="en-US" sz="4400">
                <a:latin typeface="Times New Roman"/>
                <a:ea typeface="Times New Roman"/>
                <a:cs typeface="Times New Roman"/>
                <a:sym typeface="Times New Roman"/>
              </a:rPr>
              <a:t>School of Computer Science and Engineering</a:t>
            </a:r>
            <a:br>
              <a:rPr b="1" lang="en-US" sz="4400">
                <a:latin typeface="Times New Roman"/>
                <a:ea typeface="Times New Roman"/>
                <a:cs typeface="Times New Roman"/>
                <a:sym typeface="Times New Roman"/>
              </a:rPr>
            </a:br>
            <a:r>
              <a:rPr b="1" lang="en-US" sz="3600">
                <a:latin typeface="Times New Roman"/>
                <a:ea typeface="Times New Roman"/>
                <a:cs typeface="Times New Roman"/>
                <a:sym typeface="Times New Roman"/>
              </a:rPr>
              <a:t>B.Tech (CSE) 2</a:t>
            </a:r>
            <a:r>
              <a:rPr b="1" baseline="30000" lang="en-US" sz="3600">
                <a:latin typeface="Times New Roman"/>
                <a:ea typeface="Times New Roman"/>
                <a:cs typeface="Times New Roman"/>
                <a:sym typeface="Times New Roman"/>
              </a:rPr>
              <a:t>nd</a:t>
            </a:r>
            <a:r>
              <a:rPr b="1" lang="en-US" sz="3600">
                <a:latin typeface="Times New Roman"/>
                <a:ea typeface="Times New Roman"/>
                <a:cs typeface="Times New Roman"/>
                <a:sym typeface="Times New Roman"/>
              </a:rPr>
              <a:t> Semester</a:t>
            </a:r>
            <a:endParaRPr sz="4400"/>
          </a:p>
        </p:txBody>
      </p:sp>
      <p:sp>
        <p:nvSpPr>
          <p:cNvPr id="101" name="Google Shape;101;p1"/>
          <p:cNvSpPr txBox="1"/>
          <p:nvPr>
            <p:ph idx="1" type="subTitle"/>
          </p:nvPr>
        </p:nvSpPr>
        <p:spPr>
          <a:xfrm>
            <a:off x="1524000" y="3602037"/>
            <a:ext cx="9265920" cy="213359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US">
                <a:latin typeface="Times New Roman"/>
                <a:ea typeface="Times New Roman"/>
                <a:cs typeface="Times New Roman"/>
                <a:sym typeface="Times New Roman"/>
              </a:rPr>
              <a:t>Course Name : OOPs with C++</a:t>
            </a:r>
            <a:endParaRPr b="1">
              <a:solidFill>
                <a:srgbClr val="9E0F00"/>
              </a:solidFill>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b="1" lang="en-US">
                <a:latin typeface="Times New Roman"/>
                <a:ea typeface="Times New Roman"/>
                <a:cs typeface="Times New Roman"/>
                <a:sym typeface="Times New Roman"/>
              </a:rPr>
              <a:t>Course Code:</a:t>
            </a:r>
            <a:br>
              <a:rPr b="1" lang="en-US">
                <a:latin typeface="Times New Roman"/>
                <a:ea typeface="Times New Roman"/>
                <a:cs typeface="Times New Roman"/>
                <a:sym typeface="Times New Roman"/>
              </a:rPr>
            </a:br>
            <a:r>
              <a:rPr b="1" lang="en-US" sz="2000">
                <a:latin typeface="Times New Roman"/>
                <a:ea typeface="Times New Roman"/>
                <a:cs typeface="Times New Roman"/>
                <a:sym typeface="Times New Roman"/>
              </a:rPr>
              <a:t>Topic: </a:t>
            </a:r>
            <a:r>
              <a:rPr b="1" lang="en-US"/>
              <a:t>Introduction </a:t>
            </a:r>
            <a:r>
              <a:rPr b="1" lang="en-US" sz="2800">
                <a:solidFill>
                  <a:srgbClr val="002060"/>
                </a:solidFill>
                <a:latin typeface="Times New Roman"/>
                <a:ea typeface="Times New Roman"/>
                <a:cs typeface="Times New Roman"/>
                <a:sym typeface="Times New Roman"/>
              </a:rPr>
              <a:t>(Unit-1)</a:t>
            </a:r>
            <a:endParaRPr/>
          </a:p>
          <a:p>
            <a:pPr indent="0" lvl="0" marL="0" rtl="0" algn="ctr">
              <a:lnSpc>
                <a:spcPct val="90000"/>
              </a:lnSpc>
              <a:spcBef>
                <a:spcPts val="1000"/>
              </a:spcBef>
              <a:spcAft>
                <a:spcPts val="0"/>
              </a:spcAft>
              <a:buClr>
                <a:schemeClr val="dk1"/>
              </a:buClr>
              <a:buSzPts val="900"/>
              <a:buNone/>
            </a:pPr>
            <a:r>
              <a:t/>
            </a:r>
            <a:endParaRPr sz="9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000"/>
              <a:buNone/>
            </a:pPr>
            <a:r>
              <a:rPr b="1" lang="en-US" sz="2000">
                <a:latin typeface="Times New Roman"/>
                <a:ea typeface="Times New Roman"/>
                <a:cs typeface="Times New Roman"/>
                <a:sym typeface="Times New Roman"/>
              </a:rPr>
              <a:t>Dr. Sahil Kansal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838199" y="932660"/>
            <a:ext cx="10914195" cy="698177"/>
          </a:xfrm>
          <a:prstGeom prst="rect">
            <a:avLst/>
          </a:prstGeom>
          <a:noFill/>
          <a:ln>
            <a:noFill/>
          </a:ln>
        </p:spPr>
        <p:txBody>
          <a:bodyPr anchorCtr="0" anchor="ctr" bIns="45700" lIns="91425" spcFirstLastPara="1" rIns="91425" wrap="square" tIns="45700">
            <a:normAutofit fontScale="90000"/>
          </a:bodyPr>
          <a:lstStyle/>
          <a:p>
            <a:pPr indent="0" lvl="0" marL="12700" marR="5080" rtl="0" algn="ctr">
              <a:lnSpc>
                <a:spcPct val="88409"/>
              </a:lnSpc>
              <a:spcBef>
                <a:spcPts val="0"/>
              </a:spcBef>
              <a:spcAft>
                <a:spcPts val="0"/>
              </a:spcAft>
              <a:buClr>
                <a:schemeClr val="dk1"/>
              </a:buClr>
              <a:buSzPct val="100000"/>
              <a:buFont typeface="Corbel"/>
              <a:buNone/>
            </a:pPr>
            <a:r>
              <a:rPr lang="en-US">
                <a:latin typeface="Corbel"/>
                <a:ea typeface="Corbel"/>
                <a:cs typeface="Corbel"/>
                <a:sym typeface="Corbel"/>
              </a:rPr>
              <a:t> Programming  Languages</a:t>
            </a:r>
            <a:br>
              <a:rPr lang="en-US">
                <a:latin typeface="Corbel"/>
                <a:ea typeface="Corbel"/>
                <a:cs typeface="Corbel"/>
                <a:sym typeface="Corbel"/>
              </a:rPr>
            </a:br>
            <a:endParaRPr>
              <a:latin typeface="Corbel"/>
              <a:ea typeface="Corbel"/>
              <a:cs typeface="Corbel"/>
              <a:sym typeface="Corbel"/>
            </a:endParaRPr>
          </a:p>
        </p:txBody>
      </p:sp>
      <p:sp>
        <p:nvSpPr>
          <p:cNvPr id="108" name="Google Shape;108;p2"/>
          <p:cNvSpPr txBox="1"/>
          <p:nvPr>
            <p:ph idx="1" type="body"/>
          </p:nvPr>
        </p:nvSpPr>
        <p:spPr>
          <a:xfrm>
            <a:off x="836426" y="1753386"/>
            <a:ext cx="10810744" cy="460296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585858"/>
              </a:buClr>
              <a:buSzPts val="3200"/>
              <a:buChar char="•"/>
            </a:pPr>
            <a:r>
              <a:rPr lang="en-US" sz="3200">
                <a:solidFill>
                  <a:srgbClr val="585858"/>
                </a:solidFill>
                <a:latin typeface="Corbel"/>
                <a:ea typeface="Corbel"/>
                <a:cs typeface="Corbel"/>
                <a:sym typeface="Corbel"/>
              </a:rPr>
              <a:t>Programming languages allow programmers to code software</a:t>
            </a:r>
            <a:endParaRPr/>
          </a:p>
          <a:p>
            <a:pPr indent="-228600" lvl="0" marL="228600" rtl="0" algn="just">
              <a:lnSpc>
                <a:spcPct val="90000"/>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The three major families of languages are</a:t>
            </a:r>
            <a:endParaRPr/>
          </a:p>
          <a:p>
            <a:pPr indent="-457200" lvl="0" marL="469900" rtl="0" algn="l">
              <a:lnSpc>
                <a:spcPct val="100000"/>
              </a:lnSpc>
              <a:spcBef>
                <a:spcPts val="1065"/>
              </a:spcBef>
              <a:spcAft>
                <a:spcPts val="0"/>
              </a:spcAft>
              <a:buClr>
                <a:srgbClr val="40B9D2"/>
              </a:buClr>
              <a:buSzPts val="2800"/>
              <a:buAutoNum type="arabicPeriod"/>
            </a:pPr>
            <a:r>
              <a:rPr lang="en-US">
                <a:solidFill>
                  <a:srgbClr val="585858"/>
                </a:solidFill>
                <a:latin typeface="Corbel"/>
                <a:ea typeface="Corbel"/>
                <a:cs typeface="Corbel"/>
                <a:sym typeface="Corbel"/>
              </a:rPr>
              <a:t>Machine language</a:t>
            </a:r>
            <a:endParaRPr>
              <a:latin typeface="Corbel"/>
              <a:ea typeface="Corbel"/>
              <a:cs typeface="Corbel"/>
              <a:sym typeface="Corbel"/>
            </a:endParaRPr>
          </a:p>
          <a:p>
            <a:pPr indent="-457200" lvl="0" marL="469900" rtl="0" algn="l">
              <a:lnSpc>
                <a:spcPct val="100000"/>
              </a:lnSpc>
              <a:spcBef>
                <a:spcPts val="960"/>
              </a:spcBef>
              <a:spcAft>
                <a:spcPts val="0"/>
              </a:spcAft>
              <a:buClr>
                <a:srgbClr val="40B9D2"/>
              </a:buClr>
              <a:buSzPts val="2800"/>
              <a:buAutoNum type="arabicPeriod"/>
            </a:pPr>
            <a:r>
              <a:rPr lang="en-US">
                <a:solidFill>
                  <a:srgbClr val="585858"/>
                </a:solidFill>
                <a:latin typeface="Corbel"/>
                <a:ea typeface="Corbel"/>
                <a:cs typeface="Corbel"/>
                <a:sym typeface="Corbel"/>
              </a:rPr>
              <a:t>Assembly language</a:t>
            </a:r>
            <a:endParaRPr>
              <a:latin typeface="Corbel"/>
              <a:ea typeface="Corbel"/>
              <a:cs typeface="Corbel"/>
              <a:sym typeface="Corbel"/>
            </a:endParaRPr>
          </a:p>
          <a:p>
            <a:pPr indent="-457200" lvl="0" marL="469900" rtl="0" algn="l">
              <a:lnSpc>
                <a:spcPct val="100000"/>
              </a:lnSpc>
              <a:spcBef>
                <a:spcPts val="965"/>
              </a:spcBef>
              <a:spcAft>
                <a:spcPts val="0"/>
              </a:spcAft>
              <a:buClr>
                <a:srgbClr val="40B9D2"/>
              </a:buClr>
              <a:buSzPts val="2800"/>
              <a:buAutoNum type="arabicPeriod"/>
            </a:pPr>
            <a:r>
              <a:rPr lang="en-US">
                <a:solidFill>
                  <a:srgbClr val="585858"/>
                </a:solidFill>
                <a:latin typeface="Corbel"/>
                <a:ea typeface="Corbel"/>
                <a:cs typeface="Corbel"/>
                <a:sym typeface="Corbel"/>
              </a:rPr>
              <a:t>High-Level languages</a:t>
            </a:r>
            <a:endParaRPr>
              <a:latin typeface="Corbel"/>
              <a:ea typeface="Corbel"/>
              <a:cs typeface="Corbel"/>
              <a:sym typeface="Corbel"/>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866480" y="1121196"/>
            <a:ext cx="10914195" cy="8867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Machine  Language</a:t>
            </a:r>
            <a:br>
              <a:rPr lang="en-US">
                <a:latin typeface="Corbel"/>
                <a:ea typeface="Corbel"/>
                <a:cs typeface="Corbel"/>
                <a:sym typeface="Corbel"/>
              </a:rPr>
            </a:br>
            <a:endParaRPr/>
          </a:p>
        </p:txBody>
      </p:sp>
      <p:sp>
        <p:nvSpPr>
          <p:cNvPr id="114" name="Google Shape;114;p3"/>
          <p:cNvSpPr txBox="1"/>
          <p:nvPr>
            <p:ph idx="1" type="body"/>
          </p:nvPr>
        </p:nvSpPr>
        <p:spPr>
          <a:xfrm>
            <a:off x="638902" y="1696826"/>
            <a:ext cx="10914195" cy="4367294"/>
          </a:xfrm>
          <a:prstGeom prst="rect">
            <a:avLst/>
          </a:prstGeom>
          <a:noFill/>
          <a:ln>
            <a:noFill/>
          </a:ln>
        </p:spPr>
        <p:txBody>
          <a:bodyPr anchorCtr="0" anchor="t" bIns="45700" lIns="91425" spcFirstLastPara="1" rIns="91425" wrap="square" tIns="45700">
            <a:normAutofit lnSpcReduction="10000"/>
          </a:bodyPr>
          <a:lstStyle/>
          <a:p>
            <a:pPr indent="-12700" lvl="0" marL="12700" rtl="0" algn="l">
              <a:lnSpc>
                <a:spcPct val="100000"/>
              </a:lnSpc>
              <a:spcBef>
                <a:spcPts val="0"/>
              </a:spcBef>
              <a:spcAft>
                <a:spcPts val="0"/>
              </a:spcAft>
              <a:buClr>
                <a:srgbClr val="585858"/>
              </a:buClr>
              <a:buSzPts val="2800"/>
              <a:buChar char="•"/>
            </a:pPr>
            <a:r>
              <a:rPr lang="en-US">
                <a:solidFill>
                  <a:srgbClr val="585858"/>
                </a:solidFill>
                <a:latin typeface="Corbel"/>
                <a:ea typeface="Corbel"/>
                <a:cs typeface="Corbel"/>
                <a:sym typeface="Corbel"/>
              </a:rPr>
              <a:t>Machine language is the language which a CPU understands</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It consists only of numbers: 0 &amp; 1.</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Example of code:</a:t>
            </a:r>
            <a:r>
              <a:rPr b="1" lang="en-US">
                <a:solidFill>
                  <a:srgbClr val="585858"/>
                </a:solidFill>
                <a:latin typeface="Corbel"/>
                <a:ea typeface="Corbel"/>
                <a:cs typeface="Corbel"/>
                <a:sym typeface="Corbel"/>
              </a:rPr>
              <a:t>1110100010101	111010101110</a:t>
            </a:r>
            <a:endParaRPr>
              <a:latin typeface="Corbel"/>
              <a:ea typeface="Corbel"/>
              <a:cs typeface="Corbel"/>
              <a:sym typeface="Corbel"/>
            </a:endParaRPr>
          </a:p>
          <a:p>
            <a:pPr indent="0" lvl="0" marL="0" rtl="0" algn="l">
              <a:lnSpc>
                <a:spcPct val="100000"/>
              </a:lnSpc>
              <a:spcBef>
                <a:spcPts val="960"/>
              </a:spcBef>
              <a:spcAft>
                <a:spcPts val="0"/>
              </a:spcAft>
              <a:buClr>
                <a:srgbClr val="585858"/>
              </a:buClr>
              <a:buSzPts val="2800"/>
              <a:buNone/>
            </a:pPr>
            <a:r>
              <a:rPr b="1" lang="en-US">
                <a:solidFill>
                  <a:srgbClr val="585858"/>
                </a:solidFill>
                <a:latin typeface="Corbel"/>
                <a:ea typeface="Corbel"/>
                <a:cs typeface="Corbel"/>
                <a:sym typeface="Corbel"/>
              </a:rPr>
              <a:t>10111010110100	10100011110111</a:t>
            </a:r>
            <a:endParaRPr>
              <a:latin typeface="Corbel"/>
              <a:ea typeface="Corbel"/>
              <a:cs typeface="Corbel"/>
              <a:sym typeface="Corbel"/>
            </a:endParaRPr>
          </a:p>
          <a:p>
            <a:pPr indent="-12700" lvl="0" marL="12700" rtl="0" algn="l">
              <a:lnSpc>
                <a:spcPct val="81428"/>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Any computer can directly understand only its own machine</a:t>
            </a:r>
            <a:endParaRPr>
              <a:latin typeface="Corbel"/>
              <a:ea typeface="Corbel"/>
              <a:cs typeface="Corbel"/>
              <a:sym typeface="Corbel"/>
            </a:endParaRPr>
          </a:p>
          <a:p>
            <a:pPr indent="-195580" lvl="0" marL="195580" rtl="0" algn="l">
              <a:lnSpc>
                <a:spcPct val="81428"/>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language, defined by its hardware design.</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Machine dependent</a:t>
            </a:r>
            <a:endParaRPr>
              <a:latin typeface="Corbel"/>
              <a:ea typeface="Corbel"/>
              <a:cs typeface="Corbel"/>
              <a:sym typeface="Corbel"/>
            </a:endParaRPr>
          </a:p>
          <a:p>
            <a:pPr indent="-12700" lvl="0" marL="12700" rtl="0" algn="l">
              <a:lnSpc>
                <a:spcPct val="81428"/>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Difficult to program –</a:t>
            </a:r>
            <a:r>
              <a:rPr b="1" lang="en-US">
                <a:solidFill>
                  <a:srgbClr val="585858"/>
                </a:solidFill>
                <a:latin typeface="Corbel"/>
                <a:ea typeface="Corbel"/>
                <a:cs typeface="Corbel"/>
                <a:sym typeface="Corbel"/>
              </a:rPr>
              <a:t>one misplaced 1 or 0 will cause the</a:t>
            </a:r>
            <a:endParaRPr>
              <a:latin typeface="Corbel"/>
              <a:ea typeface="Corbel"/>
              <a:cs typeface="Corbel"/>
              <a:sym typeface="Corbel"/>
            </a:endParaRPr>
          </a:p>
          <a:p>
            <a:pPr indent="-195580" lvl="0" marL="195580" rtl="0" algn="l">
              <a:lnSpc>
                <a:spcPct val="81428"/>
              </a:lnSpc>
              <a:spcBef>
                <a:spcPts val="1000"/>
              </a:spcBef>
              <a:spcAft>
                <a:spcPts val="0"/>
              </a:spcAft>
              <a:buClr>
                <a:srgbClr val="585858"/>
              </a:buClr>
              <a:buSzPts val="2800"/>
              <a:buChar char="•"/>
            </a:pPr>
            <a:r>
              <a:rPr b="1" lang="en-US">
                <a:solidFill>
                  <a:srgbClr val="585858"/>
                </a:solidFill>
                <a:latin typeface="Corbel"/>
                <a:ea typeface="Corbel"/>
                <a:cs typeface="Corbel"/>
                <a:sym typeface="Corbel"/>
              </a:rPr>
              <a:t>program to fail.</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838199" y="1432874"/>
            <a:ext cx="10914195" cy="75414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Assembly  Language</a:t>
            </a:r>
            <a:br>
              <a:rPr lang="en-US">
                <a:latin typeface="Corbel"/>
                <a:ea typeface="Corbel"/>
                <a:cs typeface="Corbel"/>
                <a:sym typeface="Corbel"/>
              </a:rPr>
            </a:br>
            <a:endParaRPr/>
          </a:p>
        </p:txBody>
      </p:sp>
      <p:sp>
        <p:nvSpPr>
          <p:cNvPr id="120" name="Google Shape;120;p4"/>
          <p:cNvSpPr txBox="1"/>
          <p:nvPr>
            <p:ph idx="1" type="body"/>
          </p:nvPr>
        </p:nvSpPr>
        <p:spPr>
          <a:xfrm>
            <a:off x="836425" y="2297668"/>
            <a:ext cx="10914195" cy="405868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585858"/>
              </a:buClr>
              <a:buSzPct val="100000"/>
              <a:buChar char="•"/>
            </a:pPr>
            <a:r>
              <a:rPr lang="en-US">
                <a:solidFill>
                  <a:srgbClr val="585858"/>
                </a:solidFill>
                <a:latin typeface="Corbel"/>
                <a:ea typeface="Corbel"/>
                <a:cs typeface="Corbel"/>
                <a:sym typeface="Corbel"/>
              </a:rPr>
              <a:t>Assembly languages are a step towards easier programming</a:t>
            </a:r>
            <a:endParaRPr/>
          </a:p>
          <a:p>
            <a:pPr indent="-228600" lvl="0" marL="228600" rtl="0" algn="l">
              <a:lnSpc>
                <a:spcPct val="90000"/>
              </a:lnSpc>
              <a:spcBef>
                <a:spcPts val="1000"/>
              </a:spcBef>
              <a:spcAft>
                <a:spcPts val="0"/>
              </a:spcAft>
              <a:buClr>
                <a:schemeClr val="dk1"/>
              </a:buClr>
              <a:buSzPct val="100000"/>
              <a:buChar char="•"/>
            </a:pPr>
            <a:r>
              <a:rPr lang="en-US"/>
              <a:t>Similar to machine language, but use naturally understandable  symbols called “</a:t>
            </a:r>
            <a:r>
              <a:rPr b="1" lang="en-US">
                <a:latin typeface="Corbel"/>
                <a:ea typeface="Corbel"/>
                <a:cs typeface="Corbel"/>
                <a:sym typeface="Corbel"/>
              </a:rPr>
              <a:t>Mnemonics</a:t>
            </a:r>
            <a:r>
              <a:rPr lang="en-US"/>
              <a:t>” for numeric instructions present in  the machine language.</a:t>
            </a:r>
            <a:endParaRPr/>
          </a:p>
          <a:p>
            <a:pPr indent="-12700" lvl="0" marL="12700" rtl="0" algn="l">
              <a:lnSpc>
                <a:spcPct val="100000"/>
              </a:lnSpc>
              <a:spcBef>
                <a:spcPts val="1055"/>
              </a:spcBef>
              <a:spcAft>
                <a:spcPts val="0"/>
              </a:spcAft>
              <a:buClr>
                <a:srgbClr val="585858"/>
              </a:buClr>
              <a:buSzPct val="100000"/>
              <a:buChar char="•"/>
            </a:pPr>
            <a:r>
              <a:rPr lang="en-US">
                <a:solidFill>
                  <a:srgbClr val="585858"/>
                </a:solidFill>
                <a:latin typeface="Corbel"/>
                <a:ea typeface="Corbel"/>
                <a:cs typeface="Corbel"/>
                <a:sym typeface="Corbel"/>
              </a:rPr>
              <a:t>Example:</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ct val="100000"/>
              <a:buChar char="•"/>
            </a:pPr>
            <a:r>
              <a:rPr b="1" lang="en-US">
                <a:solidFill>
                  <a:srgbClr val="585858"/>
                </a:solidFill>
                <a:latin typeface="Corbel"/>
                <a:ea typeface="Corbel"/>
                <a:cs typeface="Corbel"/>
                <a:sym typeface="Corbel"/>
              </a:rPr>
              <a:t>Load 5, Load 1, Add</a:t>
            </a:r>
            <a:endParaRPr>
              <a:latin typeface="Corbel"/>
              <a:ea typeface="Corbel"/>
              <a:cs typeface="Corbel"/>
              <a:sym typeface="Corbel"/>
            </a:endParaRPr>
          </a:p>
          <a:p>
            <a:pPr indent="-12700" lvl="0" marL="12700" rtl="0" algn="l">
              <a:lnSpc>
                <a:spcPct val="100000"/>
              </a:lnSpc>
              <a:spcBef>
                <a:spcPts val="965"/>
              </a:spcBef>
              <a:spcAft>
                <a:spcPts val="0"/>
              </a:spcAft>
              <a:buClr>
                <a:srgbClr val="585858"/>
              </a:buClr>
              <a:buSzPct val="100000"/>
              <a:buChar char="•"/>
            </a:pPr>
            <a:r>
              <a:rPr b="1" lang="en-US">
                <a:solidFill>
                  <a:srgbClr val="585858"/>
                </a:solidFill>
                <a:latin typeface="Corbel"/>
                <a:ea typeface="Corbel"/>
                <a:cs typeface="Corbel"/>
                <a:sym typeface="Corbel"/>
              </a:rPr>
              <a:t>ADD  1001010, 1011010</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ct val="100000"/>
              <a:buChar char="•"/>
            </a:pPr>
            <a:r>
              <a:rPr lang="en-US">
                <a:solidFill>
                  <a:srgbClr val="585858"/>
                </a:solidFill>
                <a:latin typeface="Corbel"/>
                <a:ea typeface="Corbel"/>
                <a:cs typeface="Corbel"/>
                <a:sym typeface="Corbel"/>
              </a:rPr>
              <a:t>It works directly with microprocessor</a:t>
            </a:r>
            <a:endParaRPr>
              <a:latin typeface="Corbel"/>
              <a:ea typeface="Corbel"/>
              <a:cs typeface="Corbel"/>
              <a:sym typeface="Corbel"/>
            </a:endParaRPr>
          </a:p>
          <a:p>
            <a:pPr indent="-12700" lvl="0" marL="12700" rtl="0" algn="l">
              <a:lnSpc>
                <a:spcPct val="81428"/>
              </a:lnSpc>
              <a:spcBef>
                <a:spcPts val="960"/>
              </a:spcBef>
              <a:spcAft>
                <a:spcPts val="0"/>
              </a:spcAft>
              <a:buClr>
                <a:srgbClr val="585858"/>
              </a:buClr>
              <a:buSzPct val="100000"/>
              <a:buChar char="•"/>
            </a:pPr>
            <a:r>
              <a:rPr lang="en-US">
                <a:solidFill>
                  <a:srgbClr val="585858"/>
                </a:solidFill>
                <a:latin typeface="Corbel"/>
                <a:ea typeface="Corbel"/>
                <a:cs typeface="Corbel"/>
                <a:sym typeface="Corbel"/>
              </a:rPr>
              <a:t>Assembly language code needs to be translated to machinelanguage before the computer processes it.</a:t>
            </a:r>
            <a:endParaRPr>
              <a:latin typeface="Corbel"/>
              <a:ea typeface="Corbel"/>
              <a:cs typeface="Corbel"/>
              <a:sym typeface="Corbel"/>
            </a:endParaRPr>
          </a:p>
          <a:p>
            <a:pPr indent="-12700" lvl="0" marL="12700" rtl="0" algn="l">
              <a:lnSpc>
                <a:spcPct val="81428"/>
              </a:lnSpc>
              <a:spcBef>
                <a:spcPts val="960"/>
              </a:spcBef>
              <a:spcAft>
                <a:spcPts val="0"/>
              </a:spcAft>
              <a:buClr>
                <a:srgbClr val="585858"/>
              </a:buClr>
              <a:buSzPct val="100000"/>
              <a:buChar char="•"/>
            </a:pPr>
            <a:r>
              <a:rPr lang="en-US">
                <a:solidFill>
                  <a:srgbClr val="585858"/>
                </a:solidFill>
                <a:latin typeface="Corbel"/>
                <a:ea typeface="Corbel"/>
                <a:cs typeface="Corbel"/>
                <a:sym typeface="Corbel"/>
              </a:rPr>
              <a:t>Assembly language is </a:t>
            </a:r>
            <a:r>
              <a:rPr b="1" lang="en-US">
                <a:solidFill>
                  <a:srgbClr val="585858"/>
                </a:solidFill>
                <a:latin typeface="Corbel"/>
                <a:ea typeface="Corbel"/>
                <a:cs typeface="Corbel"/>
                <a:sym typeface="Corbel"/>
              </a:rPr>
              <a:t>intermediate </a:t>
            </a:r>
            <a:r>
              <a:rPr lang="en-US">
                <a:solidFill>
                  <a:srgbClr val="585858"/>
                </a:solidFill>
                <a:latin typeface="Corbel"/>
                <a:ea typeface="Corbel"/>
                <a:cs typeface="Corbel"/>
                <a:sym typeface="Corbel"/>
              </a:rPr>
              <a:t>between high level language and machine code.</a:t>
            </a:r>
            <a:endParaRPr>
              <a:latin typeface="Corbel"/>
              <a:ea typeface="Corbel"/>
              <a:cs typeface="Corbel"/>
              <a:sym typeface="Corbel"/>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838199" y="932660"/>
            <a:ext cx="10914195" cy="88671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POP vs. OOP</a:t>
            </a:r>
            <a:endParaRPr/>
          </a:p>
        </p:txBody>
      </p:sp>
      <p:pic>
        <p:nvPicPr>
          <p:cNvPr id="126" name="Google Shape;126;p5"/>
          <p:cNvPicPr preferRelativeResize="0"/>
          <p:nvPr>
            <p:ph idx="1" type="body"/>
          </p:nvPr>
        </p:nvPicPr>
        <p:blipFill rotWithShape="1">
          <a:blip r:embed="rId3">
            <a:alphaModFix/>
          </a:blip>
          <a:srcRect b="0" l="0" r="0" t="0"/>
          <a:stretch/>
        </p:blipFill>
        <p:spPr>
          <a:xfrm>
            <a:off x="838199" y="1995455"/>
            <a:ext cx="4282747" cy="4059237"/>
          </a:xfrm>
          <a:prstGeom prst="rect">
            <a:avLst/>
          </a:prstGeom>
          <a:noFill/>
          <a:ln>
            <a:noFill/>
          </a:ln>
        </p:spPr>
      </p:pic>
      <p:pic>
        <p:nvPicPr>
          <p:cNvPr id="127" name="Google Shape;127;p5"/>
          <p:cNvPicPr preferRelativeResize="0"/>
          <p:nvPr/>
        </p:nvPicPr>
        <p:blipFill rotWithShape="1">
          <a:blip r:embed="rId4">
            <a:alphaModFix/>
          </a:blip>
          <a:srcRect b="0" l="0" r="0" t="0"/>
          <a:stretch/>
        </p:blipFill>
        <p:spPr>
          <a:xfrm>
            <a:off x="6720745" y="2258222"/>
            <a:ext cx="3740525" cy="3794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838199" y="932660"/>
            <a:ext cx="10914195" cy="104697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Difference : POP vs. OOP</a:t>
            </a:r>
            <a:endParaRPr/>
          </a:p>
        </p:txBody>
      </p:sp>
      <p:pic>
        <p:nvPicPr>
          <p:cNvPr id="133" name="Google Shape;133;p6"/>
          <p:cNvPicPr preferRelativeResize="0"/>
          <p:nvPr>
            <p:ph idx="1" type="body"/>
          </p:nvPr>
        </p:nvPicPr>
        <p:blipFill rotWithShape="1">
          <a:blip r:embed="rId3">
            <a:alphaModFix/>
          </a:blip>
          <a:srcRect b="0" l="0" r="0" t="0"/>
          <a:stretch/>
        </p:blipFill>
        <p:spPr>
          <a:xfrm>
            <a:off x="2086476" y="1979630"/>
            <a:ext cx="8019048" cy="38476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838199" y="932659"/>
            <a:ext cx="10914195" cy="9432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Difference : POP vs. OOP cont..</a:t>
            </a:r>
            <a:endParaRPr/>
          </a:p>
        </p:txBody>
      </p:sp>
      <p:pic>
        <p:nvPicPr>
          <p:cNvPr id="139" name="Google Shape;139;p7"/>
          <p:cNvPicPr preferRelativeResize="0"/>
          <p:nvPr>
            <p:ph idx="1" type="body"/>
          </p:nvPr>
        </p:nvPicPr>
        <p:blipFill rotWithShape="1">
          <a:blip r:embed="rId3">
            <a:alphaModFix/>
          </a:blip>
          <a:srcRect b="0" l="0" r="0" t="0"/>
          <a:stretch/>
        </p:blipFill>
        <p:spPr>
          <a:xfrm>
            <a:off x="2242915" y="1996696"/>
            <a:ext cx="8104762" cy="40190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838199" y="1225484"/>
            <a:ext cx="10914195" cy="75414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Object  Oriented  Concept</a:t>
            </a:r>
            <a:br>
              <a:rPr lang="en-US">
                <a:latin typeface="Corbel"/>
                <a:ea typeface="Corbel"/>
                <a:cs typeface="Corbel"/>
                <a:sym typeface="Corbel"/>
              </a:rPr>
            </a:br>
            <a:endParaRPr/>
          </a:p>
        </p:txBody>
      </p:sp>
      <p:sp>
        <p:nvSpPr>
          <p:cNvPr id="145" name="Google Shape;145;p8"/>
          <p:cNvSpPr txBox="1"/>
          <p:nvPr>
            <p:ph idx="1" type="body"/>
          </p:nvPr>
        </p:nvSpPr>
        <p:spPr>
          <a:xfrm>
            <a:off x="836425" y="1979629"/>
            <a:ext cx="10914195" cy="4376721"/>
          </a:xfrm>
          <a:prstGeom prst="rect">
            <a:avLst/>
          </a:prstGeom>
          <a:noFill/>
          <a:ln>
            <a:noFill/>
          </a:ln>
        </p:spPr>
        <p:txBody>
          <a:bodyPr anchorCtr="0" anchor="t" bIns="45700" lIns="91425" spcFirstLastPara="1" rIns="91425" wrap="square" tIns="45700">
            <a:normAutofit/>
          </a:bodyPr>
          <a:lstStyle/>
          <a:p>
            <a:pPr indent="-457200" lvl="0" marL="469900" rtl="0" algn="l">
              <a:lnSpc>
                <a:spcPct val="100000"/>
              </a:lnSpc>
              <a:spcBef>
                <a:spcPts val="0"/>
              </a:spcBef>
              <a:spcAft>
                <a:spcPts val="0"/>
              </a:spcAft>
              <a:buClr>
                <a:srgbClr val="40B9D2"/>
              </a:buClr>
              <a:buSzPts val="2800"/>
              <a:buChar char="•"/>
            </a:pPr>
            <a:r>
              <a:rPr lang="en-US">
                <a:solidFill>
                  <a:srgbClr val="585858"/>
                </a:solidFill>
                <a:latin typeface="Corbel"/>
                <a:ea typeface="Corbel"/>
                <a:cs typeface="Corbel"/>
                <a:sym typeface="Corbel"/>
              </a:rPr>
              <a:t>Class</a:t>
            </a:r>
            <a:endParaRPr>
              <a:latin typeface="Corbel"/>
              <a:ea typeface="Corbel"/>
              <a:cs typeface="Corbel"/>
              <a:sym typeface="Corbel"/>
            </a:endParaRPr>
          </a:p>
          <a:p>
            <a:pPr indent="-457200" lvl="0" marL="469900" rtl="0" algn="l">
              <a:lnSpc>
                <a:spcPct val="100000"/>
              </a:lnSpc>
              <a:spcBef>
                <a:spcPts val="700"/>
              </a:spcBef>
              <a:spcAft>
                <a:spcPts val="0"/>
              </a:spcAft>
              <a:buClr>
                <a:srgbClr val="40B9D2"/>
              </a:buClr>
              <a:buSzPts val="2800"/>
              <a:buChar char="•"/>
            </a:pPr>
            <a:r>
              <a:rPr lang="en-US">
                <a:solidFill>
                  <a:srgbClr val="585858"/>
                </a:solidFill>
                <a:latin typeface="Corbel"/>
                <a:ea typeface="Corbel"/>
                <a:cs typeface="Corbel"/>
                <a:sym typeface="Corbel"/>
              </a:rPr>
              <a:t>Object</a:t>
            </a:r>
            <a:endParaRPr>
              <a:latin typeface="Corbel"/>
              <a:ea typeface="Corbel"/>
              <a:cs typeface="Corbel"/>
              <a:sym typeface="Corbel"/>
            </a:endParaRPr>
          </a:p>
          <a:p>
            <a:pPr indent="-457200" lvl="0" marL="469900" rtl="0" algn="l">
              <a:lnSpc>
                <a:spcPct val="100000"/>
              </a:lnSpc>
              <a:spcBef>
                <a:spcPts val="700"/>
              </a:spcBef>
              <a:spcAft>
                <a:spcPts val="0"/>
              </a:spcAft>
              <a:buClr>
                <a:srgbClr val="40B9D2"/>
              </a:buClr>
              <a:buSzPts val="2800"/>
              <a:buChar char="•"/>
            </a:pPr>
            <a:r>
              <a:rPr lang="en-US">
                <a:solidFill>
                  <a:srgbClr val="585858"/>
                </a:solidFill>
                <a:latin typeface="Corbel"/>
                <a:ea typeface="Corbel"/>
                <a:cs typeface="Corbel"/>
                <a:sym typeface="Corbel"/>
              </a:rPr>
              <a:t>Abstraction</a:t>
            </a:r>
            <a:endParaRPr>
              <a:latin typeface="Corbel"/>
              <a:ea typeface="Corbel"/>
              <a:cs typeface="Corbel"/>
              <a:sym typeface="Corbel"/>
            </a:endParaRPr>
          </a:p>
          <a:p>
            <a:pPr indent="-457200" lvl="0" marL="469900" rtl="0" algn="l">
              <a:lnSpc>
                <a:spcPct val="100000"/>
              </a:lnSpc>
              <a:spcBef>
                <a:spcPts val="720"/>
              </a:spcBef>
              <a:spcAft>
                <a:spcPts val="0"/>
              </a:spcAft>
              <a:buClr>
                <a:srgbClr val="40B9D2"/>
              </a:buClr>
              <a:buSzPts val="2800"/>
              <a:buChar char="•"/>
            </a:pPr>
            <a:r>
              <a:rPr lang="en-US">
                <a:solidFill>
                  <a:srgbClr val="585858"/>
                </a:solidFill>
                <a:latin typeface="Corbel"/>
                <a:ea typeface="Corbel"/>
                <a:cs typeface="Corbel"/>
                <a:sym typeface="Corbel"/>
              </a:rPr>
              <a:t>Encapsulation</a:t>
            </a:r>
            <a:endParaRPr>
              <a:latin typeface="Corbel"/>
              <a:ea typeface="Corbel"/>
              <a:cs typeface="Corbel"/>
              <a:sym typeface="Corbel"/>
            </a:endParaRPr>
          </a:p>
          <a:p>
            <a:pPr indent="-457200" lvl="0" marL="469900" rtl="0" algn="l">
              <a:lnSpc>
                <a:spcPct val="100000"/>
              </a:lnSpc>
              <a:spcBef>
                <a:spcPts val="695"/>
              </a:spcBef>
              <a:spcAft>
                <a:spcPts val="0"/>
              </a:spcAft>
              <a:buClr>
                <a:srgbClr val="40B9D2"/>
              </a:buClr>
              <a:buSzPts val="2800"/>
              <a:buChar char="•"/>
            </a:pPr>
            <a:r>
              <a:rPr lang="en-US">
                <a:solidFill>
                  <a:srgbClr val="585858"/>
                </a:solidFill>
                <a:latin typeface="Corbel"/>
                <a:ea typeface="Corbel"/>
                <a:cs typeface="Corbel"/>
                <a:sym typeface="Corbel"/>
              </a:rPr>
              <a:t>Inheritance</a:t>
            </a:r>
            <a:endParaRPr>
              <a:latin typeface="Corbel"/>
              <a:ea typeface="Corbel"/>
              <a:cs typeface="Corbel"/>
              <a:sym typeface="Corbel"/>
            </a:endParaRPr>
          </a:p>
          <a:p>
            <a:pPr indent="-457200" lvl="0" marL="469900" rtl="0" algn="l">
              <a:lnSpc>
                <a:spcPct val="100000"/>
              </a:lnSpc>
              <a:spcBef>
                <a:spcPts val="695"/>
              </a:spcBef>
              <a:spcAft>
                <a:spcPts val="0"/>
              </a:spcAft>
              <a:buClr>
                <a:srgbClr val="40B9D2"/>
              </a:buClr>
              <a:buSzPts val="2800"/>
              <a:buChar char="•"/>
            </a:pPr>
            <a:r>
              <a:rPr lang="en-US">
                <a:solidFill>
                  <a:srgbClr val="585858"/>
                </a:solidFill>
                <a:latin typeface="Corbel"/>
                <a:ea typeface="Corbel"/>
                <a:cs typeface="Corbel"/>
                <a:sym typeface="Corbel"/>
              </a:rPr>
              <a:t>Polymorphism</a:t>
            </a:r>
            <a:endParaRPr>
              <a:latin typeface="Corbel"/>
              <a:ea typeface="Corbel"/>
              <a:cs typeface="Corbel"/>
              <a:sym typeface="Corbel"/>
            </a:endParaRPr>
          </a:p>
          <a:p>
            <a:pPr indent="-457200" lvl="0" marL="469900" rtl="0" algn="l">
              <a:lnSpc>
                <a:spcPct val="100000"/>
              </a:lnSpc>
              <a:spcBef>
                <a:spcPts val="700"/>
              </a:spcBef>
              <a:spcAft>
                <a:spcPts val="0"/>
              </a:spcAft>
              <a:buClr>
                <a:srgbClr val="40B9D2"/>
              </a:buClr>
              <a:buSzPts val="2800"/>
              <a:buChar char="•"/>
            </a:pPr>
            <a:r>
              <a:rPr lang="en-US">
                <a:solidFill>
                  <a:srgbClr val="585858"/>
                </a:solidFill>
                <a:latin typeface="Corbel"/>
                <a:ea typeface="Corbel"/>
                <a:cs typeface="Corbel"/>
                <a:sym typeface="Corbel"/>
              </a:rPr>
              <a:t>Dynamic binding</a:t>
            </a:r>
            <a:endParaRPr>
              <a:latin typeface="Corbel"/>
              <a:ea typeface="Corbel"/>
              <a:cs typeface="Corbel"/>
              <a:sym typeface="Corbel"/>
            </a:endParaRPr>
          </a:p>
          <a:p>
            <a:pPr indent="-457200" lvl="0" marL="469900" rtl="0" algn="l">
              <a:lnSpc>
                <a:spcPct val="100000"/>
              </a:lnSpc>
              <a:spcBef>
                <a:spcPts val="700"/>
              </a:spcBef>
              <a:spcAft>
                <a:spcPts val="0"/>
              </a:spcAft>
              <a:buClr>
                <a:srgbClr val="40B9D2"/>
              </a:buClr>
              <a:buSzPts val="2800"/>
              <a:buChar char="•"/>
            </a:pPr>
            <a:r>
              <a:rPr lang="en-US">
                <a:solidFill>
                  <a:srgbClr val="585858"/>
                </a:solidFill>
                <a:latin typeface="Corbel"/>
                <a:ea typeface="Corbel"/>
                <a:cs typeface="Corbel"/>
                <a:sym typeface="Corbel"/>
              </a:rPr>
              <a:t>Message Passing</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838199" y="828964"/>
            <a:ext cx="10914195" cy="95270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Class</a:t>
            </a:r>
            <a:endParaRPr/>
          </a:p>
        </p:txBody>
      </p:sp>
      <p:sp>
        <p:nvSpPr>
          <p:cNvPr id="151" name="Google Shape;151;p9"/>
          <p:cNvSpPr txBox="1"/>
          <p:nvPr>
            <p:ph idx="1" type="body"/>
          </p:nvPr>
        </p:nvSpPr>
        <p:spPr>
          <a:xfrm>
            <a:off x="838199" y="1781666"/>
            <a:ext cx="10914195" cy="434844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585858"/>
              </a:buClr>
              <a:buSzPts val="2800"/>
              <a:buChar char="•"/>
            </a:pPr>
            <a:r>
              <a:rPr lang="en-US">
                <a:solidFill>
                  <a:srgbClr val="585858"/>
                </a:solidFill>
                <a:latin typeface="Corbel"/>
                <a:ea typeface="Corbel"/>
                <a:cs typeface="Corbel"/>
                <a:sym typeface="Corbel"/>
              </a:rPr>
              <a:t>It is a user-defined data type, which holds its own data members  and member functions, which can be accessed and used by  creating an instance of that </a:t>
            </a:r>
            <a:r>
              <a:rPr b="1" lang="en-US">
                <a:solidFill>
                  <a:srgbClr val="585858"/>
                </a:solidFill>
                <a:latin typeface="Corbel"/>
                <a:ea typeface="Corbel"/>
                <a:cs typeface="Corbel"/>
                <a:sym typeface="Corbel"/>
              </a:rPr>
              <a:t>class</a:t>
            </a:r>
            <a:endParaRPr/>
          </a:p>
          <a:p>
            <a:pPr indent="-228600" lvl="0" marL="228600" rtl="0" algn="l">
              <a:lnSpc>
                <a:spcPct val="90000"/>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Class is Blueprint for any entity which defines properties and  Function.</a:t>
            </a:r>
            <a:endParaRPr>
              <a:latin typeface="Corbel"/>
              <a:ea typeface="Corbel"/>
              <a:cs typeface="Corbel"/>
              <a:sym typeface="Corbel"/>
            </a:endParaRPr>
          </a:p>
          <a:p>
            <a:pPr indent="-228600" lvl="0" marL="228600" rtl="0" algn="l">
              <a:lnSpc>
                <a:spcPct val="90000"/>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For Example:</a:t>
            </a:r>
            <a:endParaRPr>
              <a:latin typeface="Corbel"/>
              <a:ea typeface="Corbel"/>
              <a:cs typeface="Corbel"/>
              <a:sym typeface="Corbel"/>
            </a:endParaRPr>
          </a:p>
          <a:p>
            <a:pPr indent="-228600" lvl="0" marL="228600" rtl="0" algn="l">
              <a:lnSpc>
                <a:spcPct val="90000"/>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Class: CAT, CAR, HUMAN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2" name="Google Shape;152;p9"/>
          <p:cNvPicPr preferRelativeResize="0"/>
          <p:nvPr/>
        </p:nvPicPr>
        <p:blipFill rotWithShape="1">
          <a:blip r:embed="rId3">
            <a:alphaModFix/>
          </a:blip>
          <a:srcRect b="0" l="0" r="0" t="0"/>
          <a:stretch/>
        </p:blipFill>
        <p:spPr>
          <a:xfrm>
            <a:off x="1613995" y="4793026"/>
            <a:ext cx="2097024" cy="1956816"/>
          </a:xfrm>
          <a:prstGeom prst="rect">
            <a:avLst/>
          </a:prstGeom>
          <a:noFill/>
          <a:ln>
            <a:noFill/>
          </a:ln>
        </p:spPr>
      </p:pic>
      <p:pic>
        <p:nvPicPr>
          <p:cNvPr id="153" name="Google Shape;153;p9"/>
          <p:cNvPicPr preferRelativeResize="0"/>
          <p:nvPr/>
        </p:nvPicPr>
        <p:blipFill rotWithShape="1">
          <a:blip r:embed="rId4">
            <a:alphaModFix/>
          </a:blip>
          <a:srcRect b="0" l="0" r="0" t="0"/>
          <a:stretch/>
        </p:blipFill>
        <p:spPr>
          <a:xfrm>
            <a:off x="4777347" y="4706214"/>
            <a:ext cx="2637306" cy="1846882"/>
          </a:xfrm>
          <a:prstGeom prst="rect">
            <a:avLst/>
          </a:prstGeom>
          <a:noFill/>
          <a:ln>
            <a:noFill/>
          </a:ln>
        </p:spPr>
      </p:pic>
      <p:pic>
        <p:nvPicPr>
          <p:cNvPr id="154" name="Google Shape;154;p9"/>
          <p:cNvPicPr preferRelativeResize="0"/>
          <p:nvPr/>
        </p:nvPicPr>
        <p:blipFill rotWithShape="1">
          <a:blip r:embed="rId5">
            <a:alphaModFix/>
          </a:blip>
          <a:srcRect b="0" l="0" r="0" t="0"/>
          <a:stretch/>
        </p:blipFill>
        <p:spPr>
          <a:xfrm>
            <a:off x="9294892" y="4802767"/>
            <a:ext cx="1045464" cy="19324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ph type="title"/>
          </p:nvPr>
        </p:nvSpPr>
        <p:spPr>
          <a:xfrm>
            <a:off x="2761268" y="291637"/>
            <a:ext cx="8503763" cy="745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Structure and Union</a:t>
            </a:r>
            <a:endParaRPr/>
          </a:p>
        </p:txBody>
      </p:sp>
      <p:pic>
        <p:nvPicPr>
          <p:cNvPr descr="A screenshot of a computer&#10;&#10;AI-generated content may be incorrect." id="160" name="Google Shape;160;p10"/>
          <p:cNvPicPr preferRelativeResize="0"/>
          <p:nvPr/>
        </p:nvPicPr>
        <p:blipFill rotWithShape="1">
          <a:blip r:embed="rId3">
            <a:alphaModFix/>
          </a:blip>
          <a:srcRect b="0" l="0" r="0" t="0"/>
          <a:stretch/>
        </p:blipFill>
        <p:spPr>
          <a:xfrm>
            <a:off x="1497183" y="1808247"/>
            <a:ext cx="9990686" cy="3863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2949804" y="250154"/>
            <a:ext cx="7740193" cy="8245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Structure and Union</a:t>
            </a:r>
            <a:endParaRPr/>
          </a:p>
        </p:txBody>
      </p:sp>
      <p:pic>
        <p:nvPicPr>
          <p:cNvPr descr="A diagram of a graph&#10;&#10;AI-generated content may be incorrect." id="166" name="Google Shape;166;p11"/>
          <p:cNvPicPr preferRelativeResize="0"/>
          <p:nvPr/>
        </p:nvPicPr>
        <p:blipFill rotWithShape="1">
          <a:blip r:embed="rId3">
            <a:alphaModFix/>
          </a:blip>
          <a:srcRect b="0" l="0" r="0" t="0"/>
          <a:stretch/>
        </p:blipFill>
        <p:spPr>
          <a:xfrm>
            <a:off x="6496536" y="1395166"/>
            <a:ext cx="5228694" cy="4213478"/>
          </a:xfrm>
          <a:prstGeom prst="rect">
            <a:avLst/>
          </a:prstGeom>
          <a:noFill/>
          <a:ln>
            <a:noFill/>
          </a:ln>
        </p:spPr>
      </p:pic>
      <p:sp>
        <p:nvSpPr>
          <p:cNvPr id="167" name="Google Shape;167;p11"/>
          <p:cNvSpPr txBox="1"/>
          <p:nvPr/>
        </p:nvSpPr>
        <p:spPr>
          <a:xfrm>
            <a:off x="377073" y="1395165"/>
            <a:ext cx="4100660" cy="2488677"/>
          </a:xfrm>
          <a:prstGeom prst="rect">
            <a:avLst/>
          </a:prstGeom>
          <a:noFill/>
          <a:ln>
            <a:noFill/>
          </a:ln>
        </p:spPr>
        <p:txBody>
          <a:bodyPr anchorCtr="0" anchor="ctr" bIns="45700" lIns="91425" spcFirstLastPara="1" rIns="91425" wrap="square" tIns="45700">
            <a:normAutofit fontScale="40000" lnSpcReduction="20000"/>
          </a:bodyPr>
          <a:lstStyle/>
          <a:p>
            <a:pPr indent="0" lvl="0" marL="0" marR="0" rtl="0" algn="l">
              <a:lnSpc>
                <a:spcPct val="90000"/>
              </a:lnSpc>
              <a:spcBef>
                <a:spcPts val="0"/>
              </a:spcBef>
              <a:spcAft>
                <a:spcPts val="0"/>
              </a:spcAft>
              <a:buClr>
                <a:schemeClr val="dk1"/>
              </a:buClr>
              <a:buSzPct val="100000"/>
              <a:buFont typeface="Play"/>
              <a:buNone/>
            </a:pPr>
            <a:r>
              <a:rPr b="1" i="0" lang="en-US" sz="4400" u="none" cap="none" strike="noStrike">
                <a:solidFill>
                  <a:schemeClr val="dk1"/>
                </a:solidFill>
                <a:latin typeface="Play"/>
                <a:ea typeface="Play"/>
                <a:cs typeface="Play"/>
                <a:sym typeface="Play"/>
              </a:rPr>
              <a:t>Structure (struct)</a:t>
            </a:r>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A </a:t>
            </a:r>
            <a:r>
              <a:rPr b="1" i="0" lang="en-US" sz="4400" u="none" cap="none" strike="noStrike">
                <a:solidFill>
                  <a:schemeClr val="dk1"/>
                </a:solidFill>
                <a:latin typeface="Play"/>
                <a:ea typeface="Play"/>
                <a:cs typeface="Play"/>
                <a:sym typeface="Play"/>
              </a:rPr>
              <a:t>structure</a:t>
            </a:r>
            <a:r>
              <a:rPr b="0" i="0" lang="en-US" sz="4400" u="none" cap="none" strike="noStrike">
                <a:solidFill>
                  <a:schemeClr val="dk1"/>
                </a:solidFill>
                <a:latin typeface="Play"/>
                <a:ea typeface="Play"/>
                <a:cs typeface="Play"/>
                <a:sym typeface="Play"/>
              </a:rPr>
              <a:t> allocates </a:t>
            </a:r>
            <a:r>
              <a:rPr b="1" i="0" lang="en-US" sz="4400" u="none" cap="none" strike="noStrike">
                <a:solidFill>
                  <a:schemeClr val="dk1"/>
                </a:solidFill>
                <a:latin typeface="Play"/>
                <a:ea typeface="Play"/>
                <a:cs typeface="Play"/>
                <a:sym typeface="Play"/>
              </a:rPr>
              <a:t>separate memory for each member</a:t>
            </a:r>
            <a:r>
              <a:rPr b="0" i="0" lang="en-US" sz="4400" u="none" cap="none" strike="noStrike">
                <a:solidFill>
                  <a:schemeClr val="dk1"/>
                </a:solidFill>
                <a:latin typeface="Play"/>
                <a:ea typeface="Play"/>
                <a:cs typeface="Play"/>
                <a:sym typeface="Play"/>
              </a:rPr>
              <a:t>.</a:t>
            </a:r>
            <a:endParaRPr/>
          </a:p>
          <a:p>
            <a:pPr indent="0" lvl="0" marL="0" marR="0" rtl="0" algn="l">
              <a:lnSpc>
                <a:spcPct val="90000"/>
              </a:lnSpc>
              <a:spcBef>
                <a:spcPts val="0"/>
              </a:spcBef>
              <a:spcAft>
                <a:spcPts val="0"/>
              </a:spcAft>
              <a:buClr>
                <a:schemeClr val="dk1"/>
              </a:buClr>
              <a:buSzPct val="100000"/>
              <a:buFont typeface="Play"/>
              <a:buNone/>
            </a:pPr>
            <a:r>
              <a:rPr b="1" i="0" lang="en-US" sz="4400" u="none" cap="none" strike="noStrike">
                <a:solidFill>
                  <a:schemeClr val="dk1"/>
                </a:solidFill>
                <a:latin typeface="Play"/>
                <a:ea typeface="Play"/>
                <a:cs typeface="Play"/>
                <a:sym typeface="Play"/>
              </a:rPr>
              <a:t>Characteristics</a:t>
            </a:r>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Each member has its </a:t>
            </a:r>
            <a:r>
              <a:rPr b="1" i="0" lang="en-US" sz="4400" u="none" cap="none" strike="noStrike">
                <a:solidFill>
                  <a:schemeClr val="dk1"/>
                </a:solidFill>
                <a:latin typeface="Play"/>
                <a:ea typeface="Play"/>
                <a:cs typeface="Play"/>
                <a:sym typeface="Play"/>
              </a:rPr>
              <a:t>own memory</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All members can be used </a:t>
            </a:r>
            <a:r>
              <a:rPr b="1" i="0" lang="en-US" sz="4400" u="none" cap="none" strike="noStrike">
                <a:solidFill>
                  <a:schemeClr val="dk1"/>
                </a:solidFill>
                <a:latin typeface="Play"/>
                <a:ea typeface="Play"/>
                <a:cs typeface="Play"/>
                <a:sym typeface="Play"/>
              </a:rPr>
              <a:t>simultaneously</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Size of structure = </a:t>
            </a:r>
            <a:r>
              <a:rPr b="1" i="0" lang="en-US" sz="4400" u="none" cap="none" strike="noStrike">
                <a:solidFill>
                  <a:schemeClr val="dk1"/>
                </a:solidFill>
                <a:latin typeface="Play"/>
                <a:ea typeface="Play"/>
                <a:cs typeface="Play"/>
                <a:sym typeface="Play"/>
              </a:rPr>
              <a:t>sum of sizes of all members</a:t>
            </a:r>
            <a:r>
              <a:rPr b="0" i="0" lang="en-US" sz="4400" u="none" cap="none" strike="noStrike">
                <a:solidFill>
                  <a:schemeClr val="dk1"/>
                </a:solidFill>
                <a:latin typeface="Play"/>
                <a:ea typeface="Play"/>
                <a:cs typeface="Play"/>
                <a:sym typeface="Play"/>
              </a:rPr>
              <a:t> (plus padding)</a:t>
            </a:r>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Members are </a:t>
            </a:r>
            <a:r>
              <a:rPr b="1" i="0" lang="en-US" sz="4400" u="none" cap="none" strike="noStrike">
                <a:solidFill>
                  <a:schemeClr val="dk1"/>
                </a:solidFill>
                <a:latin typeface="Play"/>
                <a:ea typeface="Play"/>
                <a:cs typeface="Play"/>
                <a:sym typeface="Play"/>
              </a:rPr>
              <a:t>public by default</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Supports member functions and constructors (in C++)</a:t>
            </a:r>
            <a:endParaRPr/>
          </a:p>
        </p:txBody>
      </p:sp>
      <p:sp>
        <p:nvSpPr>
          <p:cNvPr id="168" name="Google Shape;168;p11"/>
          <p:cNvSpPr txBox="1"/>
          <p:nvPr/>
        </p:nvSpPr>
        <p:spPr>
          <a:xfrm>
            <a:off x="377073" y="3883842"/>
            <a:ext cx="4100660" cy="2488677"/>
          </a:xfrm>
          <a:prstGeom prst="rect">
            <a:avLst/>
          </a:prstGeom>
          <a:noFill/>
          <a:ln>
            <a:noFill/>
          </a:ln>
        </p:spPr>
        <p:txBody>
          <a:bodyPr anchorCtr="0" anchor="ctr" bIns="45700" lIns="91425" spcFirstLastPara="1" rIns="91425" wrap="square" tIns="45700">
            <a:normAutofit fontScale="40000" lnSpcReduction="20000"/>
          </a:bodyPr>
          <a:lstStyle/>
          <a:p>
            <a:pPr indent="0" lvl="0" marL="0" marR="0" rtl="0" algn="l">
              <a:lnSpc>
                <a:spcPct val="90000"/>
              </a:lnSpc>
              <a:spcBef>
                <a:spcPts val="0"/>
              </a:spcBef>
              <a:spcAft>
                <a:spcPts val="0"/>
              </a:spcAft>
              <a:buClr>
                <a:schemeClr val="dk1"/>
              </a:buClr>
              <a:buSzPct val="100000"/>
              <a:buFont typeface="Play"/>
              <a:buNone/>
            </a:pPr>
            <a:r>
              <a:rPr b="1" i="0" lang="en-US" sz="4400" u="none" cap="none" strike="noStrike">
                <a:solidFill>
                  <a:schemeClr val="dk1"/>
                </a:solidFill>
                <a:latin typeface="Play"/>
                <a:ea typeface="Play"/>
                <a:cs typeface="Play"/>
                <a:sym typeface="Play"/>
              </a:rPr>
              <a:t>Union (union)</a:t>
            </a:r>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A </a:t>
            </a:r>
            <a:r>
              <a:rPr b="1" i="0" lang="en-US" sz="4400" u="none" cap="none" strike="noStrike">
                <a:solidFill>
                  <a:schemeClr val="dk1"/>
                </a:solidFill>
                <a:latin typeface="Play"/>
                <a:ea typeface="Play"/>
                <a:cs typeface="Play"/>
                <a:sym typeface="Play"/>
              </a:rPr>
              <a:t>union</a:t>
            </a:r>
            <a:r>
              <a:rPr b="0" i="0" lang="en-US" sz="4400" u="none" cap="none" strike="noStrike">
                <a:solidFill>
                  <a:schemeClr val="dk1"/>
                </a:solidFill>
                <a:latin typeface="Play"/>
                <a:ea typeface="Play"/>
                <a:cs typeface="Play"/>
                <a:sym typeface="Play"/>
              </a:rPr>
              <a:t> allocates </a:t>
            </a:r>
            <a:r>
              <a:rPr b="1" i="0" lang="en-US" sz="4400" u="none" cap="none" strike="noStrike">
                <a:solidFill>
                  <a:schemeClr val="dk1"/>
                </a:solidFill>
                <a:latin typeface="Play"/>
                <a:ea typeface="Play"/>
                <a:cs typeface="Play"/>
                <a:sym typeface="Play"/>
              </a:rPr>
              <a:t>shared memory for all members</a:t>
            </a:r>
            <a:r>
              <a:rPr b="0" i="0" lang="en-US" sz="4400" u="none" cap="none" strike="noStrike">
                <a:solidFill>
                  <a:schemeClr val="dk1"/>
                </a:solidFill>
                <a:latin typeface="Play"/>
                <a:ea typeface="Play"/>
                <a:cs typeface="Play"/>
                <a:sym typeface="Play"/>
              </a:rPr>
              <a:t>.</a:t>
            </a:r>
            <a:endParaRPr/>
          </a:p>
          <a:p>
            <a:pPr indent="0" lvl="0" marL="0" marR="0" rtl="0" algn="l">
              <a:lnSpc>
                <a:spcPct val="90000"/>
              </a:lnSpc>
              <a:spcBef>
                <a:spcPts val="0"/>
              </a:spcBef>
              <a:spcAft>
                <a:spcPts val="0"/>
              </a:spcAft>
              <a:buClr>
                <a:schemeClr val="dk1"/>
              </a:buClr>
              <a:buSzPct val="100000"/>
              <a:buFont typeface="Play"/>
              <a:buNone/>
            </a:pPr>
            <a:r>
              <a:rPr b="1" i="0" lang="en-US" sz="4400" u="none" cap="none" strike="noStrike">
                <a:solidFill>
                  <a:schemeClr val="dk1"/>
                </a:solidFill>
                <a:latin typeface="Play"/>
                <a:ea typeface="Play"/>
                <a:cs typeface="Play"/>
                <a:sym typeface="Play"/>
              </a:rPr>
              <a:t>Characteristics</a:t>
            </a:r>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All members </a:t>
            </a:r>
            <a:r>
              <a:rPr b="1" i="0" lang="en-US" sz="4400" u="none" cap="none" strike="noStrike">
                <a:solidFill>
                  <a:schemeClr val="dk1"/>
                </a:solidFill>
                <a:latin typeface="Play"/>
                <a:ea typeface="Play"/>
                <a:cs typeface="Play"/>
                <a:sym typeface="Play"/>
              </a:rPr>
              <a:t>share the same memory location</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Only </a:t>
            </a:r>
            <a:r>
              <a:rPr b="1" i="0" lang="en-US" sz="4400" u="none" cap="none" strike="noStrike">
                <a:solidFill>
                  <a:schemeClr val="dk1"/>
                </a:solidFill>
                <a:latin typeface="Play"/>
                <a:ea typeface="Play"/>
                <a:cs typeface="Play"/>
                <a:sym typeface="Play"/>
              </a:rPr>
              <a:t>one member can store a value at a time</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Size of union = </a:t>
            </a:r>
            <a:r>
              <a:rPr b="1" i="0" lang="en-US" sz="4400" u="none" cap="none" strike="noStrike">
                <a:solidFill>
                  <a:schemeClr val="dk1"/>
                </a:solidFill>
                <a:latin typeface="Play"/>
                <a:ea typeface="Play"/>
                <a:cs typeface="Play"/>
                <a:sym typeface="Play"/>
              </a:rPr>
              <a:t>size of the largest member</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Members are </a:t>
            </a:r>
            <a:r>
              <a:rPr b="1" i="0" lang="en-US" sz="4400" u="none" cap="none" strike="noStrike">
                <a:solidFill>
                  <a:schemeClr val="dk1"/>
                </a:solidFill>
                <a:latin typeface="Play"/>
                <a:ea typeface="Play"/>
                <a:cs typeface="Play"/>
                <a:sym typeface="Play"/>
              </a:rPr>
              <a:t>public by default</a:t>
            </a:r>
            <a:endParaRPr b="0"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n-US" sz="4400" u="none" cap="none" strike="noStrike">
                <a:solidFill>
                  <a:schemeClr val="dk1"/>
                </a:solidFill>
                <a:latin typeface="Play"/>
                <a:ea typeface="Play"/>
                <a:cs typeface="Play"/>
                <a:sym typeface="Play"/>
              </a:rPr>
              <a:t>Memory-efficient but less safe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ph type="title"/>
          </p:nvPr>
        </p:nvSpPr>
        <p:spPr>
          <a:xfrm>
            <a:off x="838200" y="681037"/>
            <a:ext cx="1091419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Structure and Class</a:t>
            </a:r>
            <a:endParaRPr/>
          </a:p>
        </p:txBody>
      </p:sp>
      <p:sp>
        <p:nvSpPr>
          <p:cNvPr id="174" name="Google Shape;174;p12"/>
          <p:cNvSpPr txBox="1"/>
          <p:nvPr>
            <p:ph idx="1" type="body"/>
          </p:nvPr>
        </p:nvSpPr>
        <p:spPr>
          <a:xfrm>
            <a:off x="838200" y="2006600"/>
            <a:ext cx="4657627" cy="2970754"/>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Structure (struct)</a:t>
            </a:r>
            <a:endParaRPr/>
          </a:p>
          <a:p>
            <a:pPr indent="-228600" lvl="0" marL="228600" rtl="0" algn="l">
              <a:lnSpc>
                <a:spcPct val="90000"/>
              </a:lnSpc>
              <a:spcBef>
                <a:spcPts val="1000"/>
              </a:spcBef>
              <a:spcAft>
                <a:spcPts val="0"/>
              </a:spcAft>
              <a:buClr>
                <a:schemeClr val="dk1"/>
              </a:buClr>
              <a:buSzPct val="100000"/>
              <a:buChar char="•"/>
            </a:pPr>
            <a:r>
              <a:rPr lang="en-US"/>
              <a:t>Designed mainly for </a:t>
            </a:r>
            <a:r>
              <a:rPr b="1" lang="en-US"/>
              <a:t>grouping related data</a:t>
            </a:r>
            <a:endParaRPr/>
          </a:p>
          <a:p>
            <a:pPr indent="-228600" lvl="0" marL="228600" rtl="0" algn="l">
              <a:lnSpc>
                <a:spcPct val="90000"/>
              </a:lnSpc>
              <a:spcBef>
                <a:spcPts val="1000"/>
              </a:spcBef>
              <a:spcAft>
                <a:spcPts val="0"/>
              </a:spcAft>
              <a:buClr>
                <a:schemeClr val="dk1"/>
              </a:buClr>
              <a:buSzPct val="100000"/>
              <a:buChar char="•"/>
            </a:pPr>
            <a:r>
              <a:rPr lang="en-US"/>
              <a:t>Members can be accessed </a:t>
            </a:r>
            <a:r>
              <a:rPr b="1" lang="en-US"/>
              <a:t>directly</a:t>
            </a:r>
            <a:r>
              <a:rPr lang="en-US"/>
              <a:t> from outside</a:t>
            </a:r>
            <a:endParaRPr/>
          </a:p>
          <a:p>
            <a:pPr indent="-228600" lvl="0" marL="228600" rtl="0" algn="l">
              <a:lnSpc>
                <a:spcPct val="90000"/>
              </a:lnSpc>
              <a:spcBef>
                <a:spcPts val="1000"/>
              </a:spcBef>
              <a:spcAft>
                <a:spcPts val="0"/>
              </a:spcAft>
              <a:buClr>
                <a:schemeClr val="dk1"/>
              </a:buClr>
              <a:buSzPct val="100000"/>
              <a:buChar char="•"/>
            </a:pPr>
            <a:r>
              <a:rPr lang="en-US"/>
              <a:t>Offers </a:t>
            </a:r>
            <a:r>
              <a:rPr b="1" lang="en-US"/>
              <a:t>limited data protection</a:t>
            </a:r>
            <a:endParaRPr/>
          </a:p>
          <a:p>
            <a:pPr indent="-228600" lvl="0" marL="228600" rtl="0" algn="l">
              <a:lnSpc>
                <a:spcPct val="90000"/>
              </a:lnSpc>
              <a:spcBef>
                <a:spcPts val="1000"/>
              </a:spcBef>
              <a:spcAft>
                <a:spcPts val="0"/>
              </a:spcAft>
              <a:buClr>
                <a:schemeClr val="dk1"/>
              </a:buClr>
              <a:buSzPct val="100000"/>
              <a:buChar char="•"/>
            </a:pPr>
            <a:r>
              <a:rPr lang="en-US"/>
              <a:t>More suitable for </a:t>
            </a:r>
            <a:r>
              <a:rPr b="1" lang="en-US"/>
              <a:t>small or simple programs</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175" name="Google Shape;175;p12"/>
          <p:cNvSpPr txBox="1"/>
          <p:nvPr>
            <p:ph idx="2" type="body"/>
          </p:nvPr>
        </p:nvSpPr>
        <p:spPr>
          <a:xfrm>
            <a:off x="6172200" y="2000485"/>
            <a:ext cx="5181600" cy="297075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Class (class)</a:t>
            </a:r>
            <a:endParaRPr/>
          </a:p>
          <a:p>
            <a:pPr indent="-228600" lvl="0" marL="228600" rtl="0" algn="l">
              <a:lnSpc>
                <a:spcPct val="90000"/>
              </a:lnSpc>
              <a:spcBef>
                <a:spcPts val="1000"/>
              </a:spcBef>
              <a:spcAft>
                <a:spcPts val="0"/>
              </a:spcAft>
              <a:buClr>
                <a:schemeClr val="dk1"/>
              </a:buClr>
              <a:buSzPct val="100000"/>
              <a:buChar char="•"/>
            </a:pPr>
            <a:r>
              <a:rPr lang="en-US"/>
              <a:t>Designed to represent </a:t>
            </a:r>
            <a:r>
              <a:rPr b="1" lang="en-US"/>
              <a:t>real-world objects</a:t>
            </a:r>
            <a:endParaRPr/>
          </a:p>
          <a:p>
            <a:pPr indent="-228600" lvl="0" marL="228600" rtl="0" algn="l">
              <a:lnSpc>
                <a:spcPct val="90000"/>
              </a:lnSpc>
              <a:spcBef>
                <a:spcPts val="1000"/>
              </a:spcBef>
              <a:spcAft>
                <a:spcPts val="0"/>
              </a:spcAft>
              <a:buClr>
                <a:schemeClr val="dk1"/>
              </a:buClr>
              <a:buSzPct val="100000"/>
              <a:buChar char="•"/>
            </a:pPr>
            <a:r>
              <a:rPr lang="en-US"/>
              <a:t>Data is </a:t>
            </a:r>
            <a:r>
              <a:rPr b="1" lang="en-US"/>
              <a:t>hidden</a:t>
            </a:r>
            <a:r>
              <a:rPr lang="en-US"/>
              <a:t> using access specifiers</a:t>
            </a:r>
            <a:endParaRPr/>
          </a:p>
          <a:p>
            <a:pPr indent="-228600" lvl="0" marL="228600" rtl="0" algn="l">
              <a:lnSpc>
                <a:spcPct val="90000"/>
              </a:lnSpc>
              <a:spcBef>
                <a:spcPts val="1000"/>
              </a:spcBef>
              <a:spcAft>
                <a:spcPts val="0"/>
              </a:spcAft>
              <a:buClr>
                <a:schemeClr val="dk1"/>
              </a:buClr>
              <a:buSzPct val="100000"/>
              <a:buChar char="•"/>
            </a:pPr>
            <a:r>
              <a:rPr lang="en-US"/>
              <a:t>Supports </a:t>
            </a:r>
            <a:r>
              <a:rPr b="1" lang="en-US"/>
              <a:t>encapsulation, inheritance, and polymorphism</a:t>
            </a:r>
            <a:endParaRPr/>
          </a:p>
          <a:p>
            <a:pPr indent="-228600" lvl="0" marL="228600" rtl="0" algn="l">
              <a:lnSpc>
                <a:spcPct val="90000"/>
              </a:lnSpc>
              <a:spcBef>
                <a:spcPts val="1000"/>
              </a:spcBef>
              <a:spcAft>
                <a:spcPts val="0"/>
              </a:spcAft>
              <a:buClr>
                <a:schemeClr val="dk1"/>
              </a:buClr>
              <a:buSzPct val="100000"/>
              <a:buChar char="•"/>
            </a:pPr>
            <a:r>
              <a:rPr lang="en-US"/>
              <a:t>Used in </a:t>
            </a:r>
            <a:r>
              <a:rPr b="1" lang="en-US"/>
              <a:t>large and secure applications</a:t>
            </a:r>
            <a:endParaRPr/>
          </a:p>
          <a:p>
            <a:pPr indent="-77470" lvl="0" marL="228600" rtl="0" algn="l">
              <a:lnSpc>
                <a:spcPct val="90000"/>
              </a:lnSpc>
              <a:spcBef>
                <a:spcPts val="1000"/>
              </a:spcBef>
              <a:spcAft>
                <a:spcPts val="0"/>
              </a:spcAft>
              <a:buClr>
                <a:schemeClr val="dk1"/>
              </a:buClr>
              <a:buSzPct val="100000"/>
              <a:buNone/>
            </a:pPr>
            <a:r>
              <a:t/>
            </a:r>
            <a:endParaRPr/>
          </a:p>
        </p:txBody>
      </p:sp>
      <p:pic>
        <p:nvPicPr>
          <p:cNvPr descr="A computer code with text&#10;&#10;AI-generated content may be incorrect." id="176" name="Google Shape;176;p12"/>
          <p:cNvPicPr preferRelativeResize="0"/>
          <p:nvPr/>
        </p:nvPicPr>
        <p:blipFill rotWithShape="1">
          <a:blip r:embed="rId3">
            <a:alphaModFix/>
          </a:blip>
          <a:srcRect b="0" l="0" r="0" t="0"/>
          <a:stretch/>
        </p:blipFill>
        <p:spPr>
          <a:xfrm>
            <a:off x="1140643" y="4971238"/>
            <a:ext cx="2784344" cy="1205725"/>
          </a:xfrm>
          <a:prstGeom prst="rect">
            <a:avLst/>
          </a:prstGeom>
          <a:noFill/>
          <a:ln>
            <a:noFill/>
          </a:ln>
        </p:spPr>
      </p:pic>
      <p:pic>
        <p:nvPicPr>
          <p:cNvPr descr="A white screen with black text&#10;&#10;AI-generated content may be incorrect." id="177" name="Google Shape;177;p12"/>
          <p:cNvPicPr preferRelativeResize="0"/>
          <p:nvPr/>
        </p:nvPicPr>
        <p:blipFill rotWithShape="1">
          <a:blip r:embed="rId4">
            <a:alphaModFix/>
          </a:blip>
          <a:srcRect b="0" l="0" r="0" t="0"/>
          <a:stretch/>
        </p:blipFill>
        <p:spPr>
          <a:xfrm>
            <a:off x="6096000" y="4851401"/>
            <a:ext cx="4756608" cy="14261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836425" y="1083489"/>
            <a:ext cx="10914195" cy="66047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Object</a:t>
            </a:r>
            <a:br>
              <a:rPr lang="en-US">
                <a:latin typeface="Corbel"/>
                <a:ea typeface="Corbel"/>
                <a:cs typeface="Corbel"/>
                <a:sym typeface="Corbel"/>
              </a:rPr>
            </a:br>
            <a:endParaRPr/>
          </a:p>
        </p:txBody>
      </p:sp>
      <p:sp>
        <p:nvSpPr>
          <p:cNvPr id="183" name="Google Shape;183;p13"/>
          <p:cNvSpPr txBox="1"/>
          <p:nvPr>
            <p:ph idx="1" type="body"/>
          </p:nvPr>
        </p:nvSpPr>
        <p:spPr>
          <a:xfrm>
            <a:off x="836425" y="1743959"/>
            <a:ext cx="10914195" cy="4612391"/>
          </a:xfrm>
          <a:prstGeom prst="rect">
            <a:avLst/>
          </a:prstGeom>
          <a:noFill/>
          <a:ln>
            <a:noFill/>
          </a:ln>
        </p:spPr>
        <p:txBody>
          <a:bodyPr anchorCtr="0" anchor="t" bIns="45700" lIns="91425" spcFirstLastPara="1" rIns="91425" wrap="square" tIns="45700">
            <a:normAutofit/>
          </a:bodyPr>
          <a:lstStyle/>
          <a:p>
            <a:pPr indent="-12700" lvl="0" marL="12700" rtl="0" algn="l">
              <a:lnSpc>
                <a:spcPct val="100000"/>
              </a:lnSpc>
              <a:spcBef>
                <a:spcPts val="0"/>
              </a:spcBef>
              <a:spcAft>
                <a:spcPts val="0"/>
              </a:spcAft>
              <a:buClr>
                <a:srgbClr val="585858"/>
              </a:buClr>
              <a:buSzPts val="2800"/>
              <a:buChar char="•"/>
            </a:pPr>
            <a:r>
              <a:rPr lang="en-US">
                <a:solidFill>
                  <a:srgbClr val="585858"/>
                </a:solidFill>
                <a:latin typeface="Corbel"/>
                <a:ea typeface="Corbel"/>
                <a:cs typeface="Corbel"/>
                <a:sym typeface="Corbel"/>
              </a:rPr>
              <a:t>Logical or Physical entity.</a:t>
            </a:r>
            <a:endParaRPr>
              <a:latin typeface="Corbel"/>
              <a:ea typeface="Corbel"/>
              <a:cs typeface="Corbel"/>
              <a:sym typeface="Corbel"/>
            </a:endParaRPr>
          </a:p>
          <a:p>
            <a:pPr indent="0" lvl="0" marL="0" rtl="0" algn="l">
              <a:lnSpc>
                <a:spcPct val="100000"/>
              </a:lnSpc>
              <a:spcBef>
                <a:spcPts val="1055"/>
              </a:spcBef>
              <a:spcAft>
                <a:spcPts val="0"/>
              </a:spcAft>
              <a:buClr>
                <a:srgbClr val="585858"/>
              </a:buClr>
              <a:buSzPts val="2800"/>
              <a:buNone/>
            </a:pPr>
            <a:r>
              <a:rPr lang="en-US">
                <a:solidFill>
                  <a:srgbClr val="585858"/>
                </a:solidFill>
                <a:latin typeface="Corbel"/>
                <a:ea typeface="Corbel"/>
                <a:cs typeface="Corbel"/>
                <a:sym typeface="Corbel"/>
              </a:rPr>
              <a:t>     OR</a:t>
            </a:r>
            <a:endParaRPr>
              <a:latin typeface="Corbel"/>
              <a:ea typeface="Corbel"/>
              <a:cs typeface="Corbel"/>
              <a:sym typeface="Corbel"/>
            </a:endParaRPr>
          </a:p>
          <a:p>
            <a:pPr indent="-12700" lvl="0" marL="12700" rtl="0" algn="l">
              <a:lnSpc>
                <a:spcPct val="100000"/>
              </a:lnSpc>
              <a:spcBef>
                <a:spcPts val="965"/>
              </a:spcBef>
              <a:spcAft>
                <a:spcPts val="0"/>
              </a:spcAft>
              <a:buClr>
                <a:srgbClr val="585858"/>
              </a:buClr>
              <a:buSzPts val="2800"/>
              <a:buChar char="•"/>
            </a:pPr>
            <a:r>
              <a:rPr lang="en-US">
                <a:solidFill>
                  <a:srgbClr val="585858"/>
                </a:solidFill>
                <a:latin typeface="Corbel"/>
                <a:ea typeface="Corbel"/>
                <a:cs typeface="Corbel"/>
                <a:sym typeface="Corbel"/>
              </a:rPr>
              <a:t>Object is real world entity.</a:t>
            </a:r>
            <a:endParaRPr>
              <a:latin typeface="Corbel"/>
              <a:ea typeface="Corbel"/>
              <a:cs typeface="Corbel"/>
              <a:sym typeface="Corbel"/>
            </a:endParaRPr>
          </a:p>
          <a:p>
            <a:pPr indent="0" lvl="0" marL="0" marR="185420" rtl="0" algn="l">
              <a:lnSpc>
                <a:spcPct val="100000"/>
              </a:lnSpc>
              <a:spcBef>
                <a:spcPts val="960"/>
              </a:spcBef>
              <a:spcAft>
                <a:spcPts val="0"/>
              </a:spcAft>
              <a:buClr>
                <a:srgbClr val="585858"/>
              </a:buClr>
              <a:buSzPts val="2800"/>
              <a:buNone/>
            </a:pPr>
            <a:r>
              <a:rPr lang="en-US">
                <a:solidFill>
                  <a:srgbClr val="585858"/>
                </a:solidFill>
                <a:latin typeface="Corbel"/>
                <a:ea typeface="Corbel"/>
                <a:cs typeface="Corbel"/>
                <a:sym typeface="Corbel"/>
              </a:rPr>
              <a:t>     OR</a:t>
            </a:r>
            <a:endParaRPr>
              <a:latin typeface="Corbel"/>
              <a:ea typeface="Corbel"/>
              <a:cs typeface="Corbel"/>
              <a:sym typeface="Corbel"/>
            </a:endParaRPr>
          </a:p>
          <a:p>
            <a:pPr indent="-12700" lvl="0" marL="12700" rtl="0" algn="l">
              <a:lnSpc>
                <a:spcPct val="100000"/>
              </a:lnSpc>
              <a:spcBef>
                <a:spcPts val="960"/>
              </a:spcBef>
              <a:spcAft>
                <a:spcPts val="0"/>
              </a:spcAft>
              <a:buClr>
                <a:srgbClr val="585858"/>
              </a:buClr>
              <a:buSzPts val="2800"/>
              <a:buChar char="•"/>
            </a:pPr>
            <a:r>
              <a:rPr lang="en-US">
                <a:solidFill>
                  <a:srgbClr val="585858"/>
                </a:solidFill>
                <a:latin typeface="Corbel"/>
                <a:ea typeface="Corbel"/>
                <a:cs typeface="Corbel"/>
                <a:sym typeface="Corbel"/>
              </a:rPr>
              <a:t>Object is instance of Class.</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p:txBody>
      </p:sp>
      <p:pic>
        <p:nvPicPr>
          <p:cNvPr id="184" name="Google Shape;184;p13"/>
          <p:cNvPicPr preferRelativeResize="0"/>
          <p:nvPr/>
        </p:nvPicPr>
        <p:blipFill rotWithShape="1">
          <a:blip r:embed="rId3">
            <a:alphaModFix/>
          </a:blip>
          <a:srcRect b="0" l="0" r="0" t="0"/>
          <a:stretch/>
        </p:blipFill>
        <p:spPr>
          <a:xfrm>
            <a:off x="5724736" y="2880465"/>
            <a:ext cx="5867612" cy="23393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836425" y="1092914"/>
            <a:ext cx="10914195" cy="97155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Attributes and  Behaviour</a:t>
            </a:r>
            <a:br>
              <a:rPr lang="en-US">
                <a:latin typeface="Corbel"/>
                <a:ea typeface="Corbel"/>
                <a:cs typeface="Corbel"/>
                <a:sym typeface="Corbel"/>
              </a:rPr>
            </a:br>
            <a:endParaRPr/>
          </a:p>
        </p:txBody>
      </p:sp>
      <p:sp>
        <p:nvSpPr>
          <p:cNvPr id="190" name="Google Shape;190;p14"/>
          <p:cNvSpPr txBox="1"/>
          <p:nvPr>
            <p:ph idx="1" type="body"/>
          </p:nvPr>
        </p:nvSpPr>
        <p:spPr>
          <a:xfrm>
            <a:off x="836425" y="1885361"/>
            <a:ext cx="10914195" cy="447098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585858"/>
              </a:buClr>
              <a:buSzPts val="2800"/>
              <a:buChar char="•"/>
            </a:pPr>
            <a:r>
              <a:rPr b="0" i="0" lang="en-US" sz="2800">
                <a:solidFill>
                  <a:srgbClr val="585858"/>
                </a:solidFill>
                <a:latin typeface="Corbel"/>
                <a:ea typeface="Corbel"/>
                <a:cs typeface="Corbel"/>
                <a:sym typeface="Corbel"/>
              </a:rPr>
              <a:t>Object have properties(attributes) and behaviour(Method). </a:t>
            </a:r>
            <a:endParaRPr/>
          </a:p>
          <a:p>
            <a:pPr indent="-228600" lvl="0" marL="228600" rtl="0" algn="l">
              <a:lnSpc>
                <a:spcPct val="90000"/>
              </a:lnSpc>
              <a:spcBef>
                <a:spcPts val="1000"/>
              </a:spcBef>
              <a:spcAft>
                <a:spcPts val="0"/>
              </a:spcAft>
              <a:buClr>
                <a:srgbClr val="585858"/>
              </a:buClr>
              <a:buSzPts val="2800"/>
              <a:buChar char="•"/>
            </a:pPr>
            <a:r>
              <a:rPr lang="en-US">
                <a:solidFill>
                  <a:srgbClr val="585858"/>
                </a:solidFill>
                <a:latin typeface="Corbel"/>
                <a:ea typeface="Corbel"/>
                <a:cs typeface="Corbel"/>
                <a:sym typeface="Corbel"/>
              </a:rPr>
              <a:t>For Example: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91" name="Google Shape;191;p14"/>
          <p:cNvPicPr preferRelativeResize="0"/>
          <p:nvPr/>
        </p:nvPicPr>
        <p:blipFill rotWithShape="1">
          <a:blip r:embed="rId3">
            <a:alphaModFix/>
          </a:blip>
          <a:srcRect b="0" l="0" r="0" t="0"/>
          <a:stretch/>
        </p:blipFill>
        <p:spPr>
          <a:xfrm>
            <a:off x="1860913" y="3091990"/>
            <a:ext cx="3413759" cy="2673096"/>
          </a:xfrm>
          <a:prstGeom prst="rect">
            <a:avLst/>
          </a:prstGeom>
          <a:noFill/>
          <a:ln>
            <a:noFill/>
          </a:ln>
        </p:spPr>
      </p:pic>
      <p:pic>
        <p:nvPicPr>
          <p:cNvPr id="192" name="Google Shape;192;p14"/>
          <p:cNvPicPr preferRelativeResize="0"/>
          <p:nvPr/>
        </p:nvPicPr>
        <p:blipFill rotWithShape="1">
          <a:blip r:embed="rId4">
            <a:alphaModFix/>
          </a:blip>
          <a:srcRect b="0" l="0" r="0" t="0"/>
          <a:stretch/>
        </p:blipFill>
        <p:spPr>
          <a:xfrm>
            <a:off x="6733660" y="3277846"/>
            <a:ext cx="4102607" cy="24414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545969" y="1634331"/>
            <a:ext cx="236691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Examples</a:t>
            </a:r>
            <a:endParaRPr/>
          </a:p>
        </p:txBody>
      </p:sp>
      <p:pic>
        <p:nvPicPr>
          <p:cNvPr id="198" name="Google Shape;198;p15"/>
          <p:cNvPicPr preferRelativeResize="0"/>
          <p:nvPr>
            <p:ph idx="1" type="body"/>
          </p:nvPr>
        </p:nvPicPr>
        <p:blipFill rotWithShape="1">
          <a:blip r:embed="rId3">
            <a:alphaModFix/>
          </a:blip>
          <a:srcRect b="0" l="0" r="0" t="0"/>
          <a:stretch/>
        </p:blipFill>
        <p:spPr>
          <a:xfrm>
            <a:off x="4956143" y="537329"/>
            <a:ext cx="6120352" cy="58190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836425" y="1008075"/>
            <a:ext cx="10914195" cy="83958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Abstraction</a:t>
            </a:r>
            <a:br>
              <a:rPr lang="en-US">
                <a:latin typeface="Corbel"/>
                <a:ea typeface="Corbel"/>
                <a:cs typeface="Corbel"/>
                <a:sym typeface="Corbel"/>
              </a:rPr>
            </a:br>
            <a:endParaRPr/>
          </a:p>
        </p:txBody>
      </p:sp>
      <p:sp>
        <p:nvSpPr>
          <p:cNvPr id="204" name="Google Shape;204;p16"/>
          <p:cNvSpPr txBox="1"/>
          <p:nvPr>
            <p:ph idx="1" type="body"/>
          </p:nvPr>
        </p:nvSpPr>
        <p:spPr>
          <a:xfrm>
            <a:off x="845320" y="1772240"/>
            <a:ext cx="10914300" cy="4584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Abstraction means displaying only essential information and  hiding the details. Data abstraction refers to providing only  essential information about the data to the outside world, hiding  the background details or implementation.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5" name="Google Shape;205;p16"/>
          <p:cNvPicPr preferRelativeResize="0"/>
          <p:nvPr/>
        </p:nvPicPr>
        <p:blipFill rotWithShape="1">
          <a:blip r:embed="rId3">
            <a:alphaModFix/>
          </a:blip>
          <a:srcRect b="0" l="0" r="0" t="0"/>
          <a:stretch/>
        </p:blipFill>
        <p:spPr>
          <a:xfrm>
            <a:off x="2130992" y="3697758"/>
            <a:ext cx="6866007" cy="23042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838199" y="1206631"/>
            <a:ext cx="10914195" cy="10910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Encapsulation</a:t>
            </a:r>
            <a:br>
              <a:rPr lang="en-US">
                <a:latin typeface="Corbel"/>
                <a:ea typeface="Corbel"/>
                <a:cs typeface="Corbel"/>
                <a:sym typeface="Corbel"/>
              </a:rPr>
            </a:br>
            <a:endParaRPr/>
          </a:p>
        </p:txBody>
      </p:sp>
      <p:sp>
        <p:nvSpPr>
          <p:cNvPr id="211" name="Google Shape;211;p17"/>
          <p:cNvSpPr txBox="1"/>
          <p:nvPr>
            <p:ph idx="1" type="body"/>
          </p:nvPr>
        </p:nvSpPr>
        <p:spPr>
          <a:xfrm>
            <a:off x="836425" y="2297668"/>
            <a:ext cx="10914195" cy="40586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Corbel"/>
                <a:ea typeface="Corbel"/>
                <a:cs typeface="Corbel"/>
                <a:sym typeface="Corbel"/>
              </a:rPr>
              <a:t>Encapsulation is a process of combining data members and </a:t>
            </a:r>
            <a:r>
              <a:rPr lang="en-US"/>
              <a:t>functions in a single unit called class.</a:t>
            </a:r>
            <a:endParaRPr/>
          </a:p>
          <a:p>
            <a:pPr indent="-12700" lvl="0" marL="12700" rtl="0" algn="l">
              <a:lnSpc>
                <a:spcPct val="81428"/>
              </a:lnSpc>
              <a:spcBef>
                <a:spcPts val="90"/>
              </a:spcBef>
              <a:spcAft>
                <a:spcPts val="0"/>
              </a:spcAft>
              <a:buClr>
                <a:schemeClr val="dk1"/>
              </a:buClr>
              <a:buSzPts val="2800"/>
              <a:buChar char="•"/>
            </a:pPr>
            <a:r>
              <a:rPr lang="en-US">
                <a:latin typeface="Corbel"/>
                <a:ea typeface="Corbel"/>
                <a:cs typeface="Corbel"/>
                <a:sym typeface="Corbel"/>
              </a:rPr>
              <a:t>As in encapsulation, the data in a class is hidden from other</a:t>
            </a:r>
            <a:endParaRPr>
              <a:latin typeface="Corbel"/>
              <a:ea typeface="Corbel"/>
              <a:cs typeface="Corbel"/>
              <a:sym typeface="Corbel"/>
            </a:endParaRPr>
          </a:p>
          <a:p>
            <a:pPr indent="-195580" lvl="0" marL="195580" rtl="0" algn="l">
              <a:lnSpc>
                <a:spcPct val="81428"/>
              </a:lnSpc>
              <a:spcBef>
                <a:spcPts val="1000"/>
              </a:spcBef>
              <a:spcAft>
                <a:spcPts val="0"/>
              </a:spcAft>
              <a:buClr>
                <a:schemeClr val="dk1"/>
              </a:buClr>
              <a:buSzPts val="2800"/>
              <a:buChar char="•"/>
            </a:pPr>
            <a:r>
              <a:rPr lang="en-US">
                <a:latin typeface="Corbel"/>
                <a:ea typeface="Corbel"/>
                <a:cs typeface="Corbel"/>
                <a:sym typeface="Corbel"/>
              </a:rPr>
              <a:t>classes, so it is also known as data-hiding.</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p:txBody>
      </p:sp>
      <p:pic>
        <p:nvPicPr>
          <p:cNvPr id="212" name="Google Shape;212;p17"/>
          <p:cNvPicPr preferRelativeResize="0"/>
          <p:nvPr/>
        </p:nvPicPr>
        <p:blipFill rotWithShape="1">
          <a:blip r:embed="rId3">
            <a:alphaModFix/>
          </a:blip>
          <a:srcRect b="0" l="0" r="0" t="0"/>
          <a:stretch/>
        </p:blipFill>
        <p:spPr>
          <a:xfrm>
            <a:off x="2736392" y="4112986"/>
            <a:ext cx="4952314" cy="176088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type="title"/>
          </p:nvPr>
        </p:nvSpPr>
        <p:spPr>
          <a:xfrm>
            <a:off x="838199" y="932660"/>
            <a:ext cx="10914195" cy="90556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Inheritance</a:t>
            </a:r>
            <a:endParaRPr/>
          </a:p>
        </p:txBody>
      </p:sp>
      <p:sp>
        <p:nvSpPr>
          <p:cNvPr id="218" name="Google Shape;218;p18"/>
          <p:cNvSpPr txBox="1"/>
          <p:nvPr>
            <p:ph idx="1" type="body"/>
          </p:nvPr>
        </p:nvSpPr>
        <p:spPr>
          <a:xfrm>
            <a:off x="836425" y="1838228"/>
            <a:ext cx="5259575" cy="451812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latin typeface="Corbel"/>
                <a:ea typeface="Corbel"/>
                <a:cs typeface="Corbel"/>
                <a:sym typeface="Corbel"/>
              </a:rPr>
              <a:t>The capability of a class to derive  properties and characteristics from  another class is called Inheritance.  Inheritance is one of the most  important feature of Object Oriented  Programming.</a:t>
            </a:r>
            <a:endParaRPr>
              <a:latin typeface="Corbel"/>
              <a:ea typeface="Corbel"/>
              <a:cs typeface="Corbel"/>
              <a:sym typeface="Corbel"/>
            </a:endParaRPr>
          </a:p>
          <a:p>
            <a:pPr indent="-228600" lvl="0" marL="228600" rtl="0" algn="just">
              <a:lnSpc>
                <a:spcPct val="90000"/>
              </a:lnSpc>
              <a:spcBef>
                <a:spcPts val="1000"/>
              </a:spcBef>
              <a:spcAft>
                <a:spcPts val="0"/>
              </a:spcAft>
              <a:buClr>
                <a:schemeClr val="dk1"/>
              </a:buClr>
              <a:buSzPct val="100000"/>
              <a:buChar char="•"/>
            </a:pPr>
            <a:r>
              <a:rPr lang="en-US">
                <a:latin typeface="Corbel"/>
                <a:ea typeface="Corbel"/>
                <a:cs typeface="Corbel"/>
                <a:sym typeface="Corbel"/>
              </a:rPr>
              <a:t>Child Class: The class that inherits  properties from another class is  called Sub class or Derived Class.</a:t>
            </a:r>
            <a:endParaRPr>
              <a:latin typeface="Corbel"/>
              <a:ea typeface="Corbel"/>
              <a:cs typeface="Corbel"/>
              <a:sym typeface="Corbel"/>
            </a:endParaRPr>
          </a:p>
          <a:p>
            <a:pPr indent="-228600" lvl="0" marL="228600" rtl="0" algn="just">
              <a:lnSpc>
                <a:spcPct val="90000"/>
              </a:lnSpc>
              <a:spcBef>
                <a:spcPts val="1000"/>
              </a:spcBef>
              <a:spcAft>
                <a:spcPts val="0"/>
              </a:spcAft>
              <a:buClr>
                <a:schemeClr val="dk1"/>
              </a:buClr>
              <a:buSzPct val="100000"/>
              <a:buChar char="•"/>
            </a:pPr>
            <a:r>
              <a:rPr lang="en-US">
                <a:latin typeface="Corbel"/>
                <a:ea typeface="Corbel"/>
                <a:cs typeface="Corbel"/>
                <a:sym typeface="Corbel"/>
              </a:rPr>
              <a:t>Parent Class: The class whose  properties are inherited by sub class  is called Base Class or Super class.</a:t>
            </a:r>
            <a:endParaRPr>
              <a:latin typeface="Corbel"/>
              <a:ea typeface="Corbel"/>
              <a:cs typeface="Corbel"/>
              <a:sym typeface="Corbel"/>
            </a:endParaRPr>
          </a:p>
          <a:p>
            <a:pPr indent="-64135" lvl="0" marL="228600" rtl="0" algn="just">
              <a:lnSpc>
                <a:spcPct val="90000"/>
              </a:lnSpc>
              <a:spcBef>
                <a:spcPts val="1000"/>
              </a:spcBef>
              <a:spcAft>
                <a:spcPts val="0"/>
              </a:spcAft>
              <a:buClr>
                <a:schemeClr val="dk1"/>
              </a:buClr>
              <a:buSzPct val="100000"/>
              <a:buNone/>
            </a:pPr>
            <a:r>
              <a:t/>
            </a:r>
            <a:endParaRPr/>
          </a:p>
        </p:txBody>
      </p:sp>
      <p:pic>
        <p:nvPicPr>
          <p:cNvPr id="219" name="Google Shape;219;p18"/>
          <p:cNvPicPr preferRelativeResize="0"/>
          <p:nvPr/>
        </p:nvPicPr>
        <p:blipFill rotWithShape="1">
          <a:blip r:embed="rId3">
            <a:alphaModFix/>
          </a:blip>
          <a:srcRect b="0" l="0" r="0" t="0"/>
          <a:stretch/>
        </p:blipFill>
        <p:spPr>
          <a:xfrm>
            <a:off x="7143444" y="1735582"/>
            <a:ext cx="3980688" cy="46207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ph type="title"/>
          </p:nvPr>
        </p:nvSpPr>
        <p:spPr>
          <a:xfrm>
            <a:off x="461128" y="1451134"/>
            <a:ext cx="2291500" cy="91499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Example</a:t>
            </a:r>
            <a:endParaRPr/>
          </a:p>
        </p:txBody>
      </p:sp>
      <p:pic>
        <p:nvPicPr>
          <p:cNvPr id="225" name="Google Shape;225;p19"/>
          <p:cNvPicPr preferRelativeResize="0"/>
          <p:nvPr>
            <p:ph idx="1" type="body"/>
          </p:nvPr>
        </p:nvPicPr>
        <p:blipFill rotWithShape="1">
          <a:blip r:embed="rId3">
            <a:alphaModFix/>
          </a:blip>
          <a:srcRect b="0" l="0" r="0" t="0"/>
          <a:stretch/>
        </p:blipFill>
        <p:spPr>
          <a:xfrm>
            <a:off x="4707905" y="1056078"/>
            <a:ext cx="6645895" cy="527873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762785" y="1281451"/>
            <a:ext cx="10914195" cy="6133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Polymorphism</a:t>
            </a:r>
            <a:br>
              <a:rPr lang="en-US">
                <a:latin typeface="Corbel"/>
                <a:ea typeface="Corbel"/>
                <a:cs typeface="Corbel"/>
                <a:sym typeface="Corbel"/>
              </a:rPr>
            </a:br>
            <a:endParaRPr/>
          </a:p>
        </p:txBody>
      </p:sp>
      <p:sp>
        <p:nvSpPr>
          <p:cNvPr id="231" name="Google Shape;231;p20"/>
          <p:cNvSpPr txBox="1"/>
          <p:nvPr>
            <p:ph idx="1" type="body"/>
          </p:nvPr>
        </p:nvSpPr>
        <p:spPr>
          <a:xfrm>
            <a:off x="762785" y="1706252"/>
            <a:ext cx="10914195" cy="4461562"/>
          </a:xfrm>
          <a:prstGeom prst="rect">
            <a:avLst/>
          </a:prstGeom>
          <a:noFill/>
          <a:ln>
            <a:noFill/>
          </a:ln>
        </p:spPr>
        <p:txBody>
          <a:bodyPr anchorCtr="0" anchor="t" bIns="45700" lIns="91425" spcFirstLastPara="1" rIns="91425" wrap="square" tIns="45700">
            <a:normAutofit/>
          </a:bodyPr>
          <a:lstStyle/>
          <a:p>
            <a:pPr indent="-195580" lvl="0" marL="195580" rtl="0" algn="l">
              <a:lnSpc>
                <a:spcPct val="100000"/>
              </a:lnSpc>
              <a:spcBef>
                <a:spcPts val="0"/>
              </a:spcBef>
              <a:spcAft>
                <a:spcPts val="0"/>
              </a:spcAft>
              <a:buClr>
                <a:schemeClr val="dk1"/>
              </a:buClr>
              <a:buSzPts val="2800"/>
              <a:buChar char="•"/>
            </a:pPr>
            <a:r>
              <a:rPr lang="en-US"/>
              <a:t>we can define polymorphism as the ability of a message to be </a:t>
            </a:r>
            <a:r>
              <a:rPr lang="en-US">
                <a:latin typeface="Corbel"/>
                <a:ea typeface="Corbel"/>
                <a:cs typeface="Corbel"/>
                <a:sym typeface="Corbel"/>
              </a:rPr>
              <a:t>displayed in more than one form.</a:t>
            </a:r>
            <a:endParaRPr>
              <a:latin typeface="Corbel"/>
              <a:ea typeface="Corbel"/>
              <a:cs typeface="Corbel"/>
              <a:sym typeface="Corbel"/>
            </a:endParaRPr>
          </a:p>
          <a:p>
            <a:pPr indent="-182880" lvl="0" marL="195580" marR="5080" rtl="0" algn="l">
              <a:lnSpc>
                <a:spcPct val="90100"/>
              </a:lnSpc>
              <a:spcBef>
                <a:spcPts val="1200"/>
              </a:spcBef>
              <a:spcAft>
                <a:spcPts val="0"/>
              </a:spcAft>
              <a:buClr>
                <a:schemeClr val="dk1"/>
              </a:buClr>
              <a:buSzPts val="2800"/>
              <a:buChar char="•"/>
            </a:pPr>
            <a:r>
              <a:rPr lang="en-US">
                <a:latin typeface="Corbel"/>
                <a:ea typeface="Corbel"/>
                <a:cs typeface="Corbel"/>
                <a:sym typeface="Corbel"/>
              </a:rPr>
              <a:t>Real life example of polymorphism, a person at a same time can  have different characteristic. Like a man at a same time is a  father, a husband, a employee. So a same person posses have  different behavior in different situations. This is called  polymorphism.</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p:txBody>
      </p:sp>
      <p:pic>
        <p:nvPicPr>
          <p:cNvPr id="232" name="Google Shape;232;p20"/>
          <p:cNvPicPr preferRelativeResize="0"/>
          <p:nvPr/>
        </p:nvPicPr>
        <p:blipFill rotWithShape="1">
          <a:blip r:embed="rId3">
            <a:alphaModFix/>
          </a:blip>
          <a:srcRect b="0" l="0" r="0" t="0"/>
          <a:stretch/>
        </p:blipFill>
        <p:spPr>
          <a:xfrm>
            <a:off x="4276249" y="4316201"/>
            <a:ext cx="5224271" cy="25206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ph type="title"/>
          </p:nvPr>
        </p:nvSpPr>
        <p:spPr>
          <a:xfrm>
            <a:off x="838200" y="932659"/>
            <a:ext cx="250831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Example</a:t>
            </a:r>
            <a:endParaRPr/>
          </a:p>
        </p:txBody>
      </p:sp>
      <p:grpSp>
        <p:nvGrpSpPr>
          <p:cNvPr id="238" name="Google Shape;238;p21"/>
          <p:cNvGrpSpPr/>
          <p:nvPr/>
        </p:nvGrpSpPr>
        <p:grpSpPr>
          <a:xfrm>
            <a:off x="3964983" y="1098344"/>
            <a:ext cx="7069153" cy="5127934"/>
            <a:chOff x="4257214" y="1022929"/>
            <a:chExt cx="7069153" cy="5127934"/>
          </a:xfrm>
        </p:grpSpPr>
        <p:pic>
          <p:nvPicPr>
            <p:cNvPr id="239" name="Google Shape;239;p21"/>
            <p:cNvPicPr preferRelativeResize="0"/>
            <p:nvPr/>
          </p:nvPicPr>
          <p:blipFill rotWithShape="1">
            <a:blip r:embed="rId3">
              <a:alphaModFix/>
            </a:blip>
            <a:srcRect b="0" l="0" r="0" t="0"/>
            <a:stretch/>
          </p:blipFill>
          <p:spPr>
            <a:xfrm>
              <a:off x="7239000" y="3636263"/>
              <a:ext cx="4087367" cy="2514600"/>
            </a:xfrm>
            <a:prstGeom prst="rect">
              <a:avLst/>
            </a:prstGeom>
            <a:noFill/>
            <a:ln>
              <a:noFill/>
            </a:ln>
          </p:spPr>
        </p:pic>
        <p:pic>
          <p:nvPicPr>
            <p:cNvPr id="240" name="Google Shape;240;p21"/>
            <p:cNvPicPr preferRelativeResize="0"/>
            <p:nvPr/>
          </p:nvPicPr>
          <p:blipFill rotWithShape="1">
            <a:blip r:embed="rId4">
              <a:alphaModFix/>
            </a:blip>
            <a:srcRect b="0" l="0" r="0" t="0"/>
            <a:stretch/>
          </p:blipFill>
          <p:spPr>
            <a:xfrm>
              <a:off x="4257214" y="1022929"/>
              <a:ext cx="2981785" cy="2712206"/>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type="title"/>
          </p:nvPr>
        </p:nvSpPr>
        <p:spPr>
          <a:xfrm>
            <a:off x="836426" y="655455"/>
            <a:ext cx="10914195" cy="7830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Dynamic  Binding</a:t>
            </a:r>
            <a:br>
              <a:rPr lang="en-US">
                <a:latin typeface="Corbel"/>
                <a:ea typeface="Corbel"/>
                <a:cs typeface="Corbel"/>
                <a:sym typeface="Corbel"/>
              </a:rPr>
            </a:br>
            <a:endParaRPr/>
          </a:p>
        </p:txBody>
      </p:sp>
      <p:sp>
        <p:nvSpPr>
          <p:cNvPr id="246" name="Google Shape;246;p22"/>
          <p:cNvSpPr txBox="1"/>
          <p:nvPr>
            <p:ph idx="1" type="body"/>
          </p:nvPr>
        </p:nvSpPr>
        <p:spPr>
          <a:xfrm>
            <a:off x="836426" y="1395167"/>
            <a:ext cx="4150354" cy="496118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Dynamic binding (also known as late binding ) means that the  code associated with a given procedure call is not known until the  time of the call at run time. </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It is associated with </a:t>
            </a:r>
            <a:r>
              <a:rPr b="1" lang="en-US">
                <a:latin typeface="Times New Roman"/>
                <a:ea typeface="Times New Roman"/>
                <a:cs typeface="Times New Roman"/>
                <a:sym typeface="Times New Roman"/>
              </a:rPr>
              <a:t>polymorphism </a:t>
            </a:r>
            <a:r>
              <a:rPr lang="en-US">
                <a:latin typeface="Times New Roman"/>
                <a:ea typeface="Times New Roman"/>
                <a:cs typeface="Times New Roman"/>
                <a:sym typeface="Times New Roman"/>
              </a:rPr>
              <a:t>and </a:t>
            </a:r>
            <a:r>
              <a:rPr b="1" lang="en-US">
                <a:latin typeface="Times New Roman"/>
                <a:ea typeface="Times New Roman"/>
                <a:cs typeface="Times New Roman"/>
                <a:sym typeface="Times New Roman"/>
              </a:rPr>
              <a:t>inheritance</a:t>
            </a:r>
            <a:r>
              <a:rPr lang="en-US">
                <a:latin typeface="Times New Roman"/>
                <a:ea typeface="Times New Roman"/>
                <a:cs typeface="Times New Roman"/>
                <a:sym typeface="Times New Roman"/>
              </a:rPr>
              <a:t>. A function  call associated with a polymorphic reference depends on the  dynamic type of that reference.</a:t>
            </a:r>
            <a:endParaRPr>
              <a:latin typeface="Times New Roman"/>
              <a:ea typeface="Times New Roman"/>
              <a:cs typeface="Times New Roman"/>
              <a:sym typeface="Times New Roman"/>
            </a:endParaRPr>
          </a:p>
        </p:txBody>
      </p:sp>
      <p:sp>
        <p:nvSpPr>
          <p:cNvPr id="247" name="Google Shape;247;p22"/>
          <p:cNvSpPr txBox="1"/>
          <p:nvPr/>
        </p:nvSpPr>
        <p:spPr>
          <a:xfrm>
            <a:off x="5486400" y="1324168"/>
            <a:ext cx="5057929" cy="1550424"/>
          </a:xfrm>
          <a:prstGeom prst="rect">
            <a:avLst/>
          </a:prstGeom>
          <a:noFill/>
          <a:ln>
            <a:noFill/>
          </a:ln>
        </p:spPr>
        <p:txBody>
          <a:bodyPr anchorCtr="0" anchor="t" bIns="0" lIns="0" spcFirstLastPara="1" rIns="0" wrap="square" tIns="11425">
            <a:spAutoFit/>
          </a:bodyPr>
          <a:lstStyle/>
          <a:p>
            <a:pPr indent="-287019" lvl="0" marL="299085" marR="508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Every Object will have  draw( ) procedure,  however this draw( )  will be redefined in  each class.</a:t>
            </a:r>
            <a:endParaRPr b="0" i="0" sz="2000" u="none" cap="none" strike="noStrike">
              <a:solidFill>
                <a:schemeClr val="dk1"/>
              </a:solidFill>
              <a:latin typeface="Times New Roman"/>
              <a:ea typeface="Times New Roman"/>
              <a:cs typeface="Times New Roman"/>
              <a:sym typeface="Times New Roman"/>
            </a:endParaRPr>
          </a:p>
          <a:p>
            <a:pPr indent="-287019" lvl="0" marL="299085" marR="6985" rtl="0" algn="l">
              <a:lnSpc>
                <a:spcPct val="100000"/>
              </a:lnSpc>
              <a:spcBef>
                <a:spcPts val="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At Run-time, the code  matching the object  under current  reference will be  called.</a:t>
            </a:r>
            <a:endParaRPr b="0" i="0" sz="2000" u="none" cap="none" strike="noStrike">
              <a:solidFill>
                <a:schemeClr val="dk1"/>
              </a:solidFill>
              <a:latin typeface="Times New Roman"/>
              <a:ea typeface="Times New Roman"/>
              <a:cs typeface="Times New Roman"/>
              <a:sym typeface="Times New Roman"/>
            </a:endParaRPr>
          </a:p>
        </p:txBody>
      </p:sp>
      <p:pic>
        <p:nvPicPr>
          <p:cNvPr id="248" name="Google Shape;248;p22"/>
          <p:cNvPicPr preferRelativeResize="0"/>
          <p:nvPr/>
        </p:nvPicPr>
        <p:blipFill rotWithShape="1">
          <a:blip r:embed="rId3">
            <a:alphaModFix/>
          </a:blip>
          <a:srcRect b="0" l="0" r="0" t="0"/>
          <a:stretch/>
        </p:blipFill>
        <p:spPr>
          <a:xfrm>
            <a:off x="5991520" y="3429000"/>
            <a:ext cx="4760976" cy="17922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838199" y="932660"/>
            <a:ext cx="10914195" cy="9203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Access  Modifiers</a:t>
            </a:r>
            <a:endParaRPr/>
          </a:p>
        </p:txBody>
      </p:sp>
      <p:sp>
        <p:nvSpPr>
          <p:cNvPr id="254" name="Google Shape;254;p23"/>
          <p:cNvSpPr txBox="1"/>
          <p:nvPr>
            <p:ph idx="1" type="body"/>
          </p:nvPr>
        </p:nvSpPr>
        <p:spPr>
          <a:xfrm>
            <a:off x="838199" y="1853021"/>
            <a:ext cx="3782709" cy="405868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latin typeface="Corbel"/>
                <a:ea typeface="Corbel"/>
                <a:cs typeface="Corbel"/>
                <a:sym typeface="Corbel"/>
              </a:rPr>
              <a:t>Access modifiers are used to implement important feature of </a:t>
            </a:r>
            <a:r>
              <a:rPr lang="en-US"/>
              <a:t>Object Oriented Programming known as Data Hiding.</a:t>
            </a:r>
            <a:endParaRPr/>
          </a:p>
          <a:p>
            <a:pPr indent="-228600" lvl="0" marL="228600" rtl="0" algn="l">
              <a:lnSpc>
                <a:spcPct val="81428"/>
              </a:lnSpc>
              <a:spcBef>
                <a:spcPts val="90"/>
              </a:spcBef>
              <a:spcAft>
                <a:spcPts val="0"/>
              </a:spcAft>
              <a:buClr>
                <a:schemeClr val="dk1"/>
              </a:buClr>
              <a:buSzPct val="100000"/>
              <a:buChar char="•"/>
            </a:pPr>
            <a:r>
              <a:rPr lang="en-US">
                <a:latin typeface="Corbel"/>
                <a:ea typeface="Corbel"/>
                <a:cs typeface="Corbel"/>
                <a:sym typeface="Corbel"/>
              </a:rPr>
              <a:t>Access modifiers or Access Specifiers in a class are used to set the accessibility of the class members.</a:t>
            </a:r>
            <a:endParaRPr>
              <a:latin typeface="Corbel"/>
              <a:ea typeface="Corbel"/>
              <a:cs typeface="Corbel"/>
              <a:sym typeface="Corbel"/>
            </a:endParaRPr>
          </a:p>
          <a:p>
            <a:pPr indent="-228600" lvl="0" marL="228600" rtl="0" algn="l">
              <a:lnSpc>
                <a:spcPct val="81428"/>
              </a:lnSpc>
              <a:spcBef>
                <a:spcPts val="965"/>
              </a:spcBef>
              <a:spcAft>
                <a:spcPts val="0"/>
              </a:spcAft>
              <a:buClr>
                <a:schemeClr val="dk1"/>
              </a:buClr>
              <a:buSzPct val="100000"/>
              <a:buChar char="•"/>
            </a:pPr>
            <a:r>
              <a:rPr lang="en-US">
                <a:latin typeface="Corbel"/>
                <a:ea typeface="Corbel"/>
                <a:cs typeface="Corbel"/>
                <a:sym typeface="Corbel"/>
              </a:rPr>
              <a:t>It sets some restrictions on the class members not to get directly accessed by the outside functions.</a:t>
            </a:r>
            <a:endParaRPr>
              <a:latin typeface="Corbel"/>
              <a:ea typeface="Corbel"/>
              <a:cs typeface="Corbel"/>
              <a:sym typeface="Corbel"/>
            </a:endParaRPr>
          </a:p>
          <a:p>
            <a:pPr indent="-90804" lvl="0" marL="228600" rtl="0" algn="l">
              <a:lnSpc>
                <a:spcPct val="90000"/>
              </a:lnSpc>
              <a:spcBef>
                <a:spcPts val="1000"/>
              </a:spcBef>
              <a:spcAft>
                <a:spcPts val="0"/>
              </a:spcAft>
              <a:buClr>
                <a:schemeClr val="dk1"/>
              </a:buClr>
              <a:buSzPct val="100000"/>
              <a:buNone/>
            </a:pPr>
            <a:r>
              <a:t/>
            </a:r>
            <a:endParaRPr/>
          </a:p>
        </p:txBody>
      </p:sp>
      <p:pic>
        <p:nvPicPr>
          <p:cNvPr id="255" name="Google Shape;255;p23"/>
          <p:cNvPicPr preferRelativeResize="0"/>
          <p:nvPr/>
        </p:nvPicPr>
        <p:blipFill rotWithShape="1">
          <a:blip r:embed="rId3">
            <a:alphaModFix/>
          </a:blip>
          <a:srcRect b="0" l="0" r="0" t="0"/>
          <a:stretch/>
        </p:blipFill>
        <p:spPr>
          <a:xfrm>
            <a:off x="5910951" y="1981363"/>
            <a:ext cx="4017264" cy="302361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Access  Modifiers</a:t>
            </a:r>
            <a:endParaRPr/>
          </a:p>
        </p:txBody>
      </p:sp>
      <p:sp>
        <p:nvSpPr>
          <p:cNvPr id="261" name="Google Shape;261;p24"/>
          <p:cNvSpPr txBox="1"/>
          <p:nvPr>
            <p:ph idx="1" type="body"/>
          </p:nvPr>
        </p:nvSpPr>
        <p:spPr>
          <a:xfrm>
            <a:off x="836425" y="2297668"/>
            <a:ext cx="10914195" cy="3358414"/>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There are 3 types of access modifiers available in C++:</a:t>
            </a:r>
            <a:endParaRPr/>
          </a:p>
          <a:p>
            <a:pPr indent="-12700" lvl="0" marL="12700" rtl="0" algn="l">
              <a:lnSpc>
                <a:spcPct val="100000"/>
              </a:lnSpc>
              <a:spcBef>
                <a:spcPts val="1065"/>
              </a:spcBef>
              <a:spcAft>
                <a:spcPts val="0"/>
              </a:spcAft>
              <a:buClr>
                <a:schemeClr val="dk1"/>
              </a:buClr>
              <a:buSzPct val="100000"/>
              <a:buChar char="•"/>
            </a:pPr>
            <a:r>
              <a:rPr b="1" lang="en-US">
                <a:latin typeface="Corbel"/>
                <a:ea typeface="Corbel"/>
                <a:cs typeface="Corbel"/>
                <a:sym typeface="Corbel"/>
              </a:rPr>
              <a:t>Public:</a:t>
            </a:r>
            <a:endParaRPr>
              <a:latin typeface="Corbel"/>
              <a:ea typeface="Corbel"/>
              <a:cs typeface="Corbel"/>
              <a:sym typeface="Corbel"/>
            </a:endParaRPr>
          </a:p>
          <a:p>
            <a:pPr indent="-182880" lvl="0" marL="195580" marR="5080" rtl="0" algn="l">
              <a:lnSpc>
                <a:spcPct val="77142"/>
              </a:lnSpc>
              <a:spcBef>
                <a:spcPts val="1235"/>
              </a:spcBef>
              <a:spcAft>
                <a:spcPts val="0"/>
              </a:spcAft>
              <a:buClr>
                <a:schemeClr val="dk1"/>
              </a:buClr>
              <a:buSzPct val="100000"/>
              <a:buChar char="•"/>
            </a:pPr>
            <a:r>
              <a:rPr lang="en-US">
                <a:latin typeface="Corbel"/>
                <a:ea typeface="Corbel"/>
                <a:cs typeface="Corbel"/>
                <a:sym typeface="Corbel"/>
              </a:rPr>
              <a:t>A public member is accessible from anywhere outside the class  but within a program.</a:t>
            </a:r>
            <a:endParaRPr/>
          </a:p>
          <a:p>
            <a:pPr indent="-12700" lvl="0" marL="12700" rtl="0" algn="just">
              <a:lnSpc>
                <a:spcPct val="100000"/>
              </a:lnSpc>
              <a:spcBef>
                <a:spcPts val="1055"/>
              </a:spcBef>
              <a:spcAft>
                <a:spcPts val="0"/>
              </a:spcAft>
              <a:buClr>
                <a:schemeClr val="dk1"/>
              </a:buClr>
              <a:buSzPct val="100000"/>
              <a:buChar char="•"/>
            </a:pPr>
            <a:r>
              <a:rPr b="1" lang="en-US">
                <a:latin typeface="Corbel"/>
                <a:ea typeface="Corbel"/>
                <a:cs typeface="Corbel"/>
                <a:sym typeface="Corbel"/>
              </a:rPr>
              <a:t>Private:</a:t>
            </a:r>
            <a:endParaRPr>
              <a:latin typeface="Corbel"/>
              <a:ea typeface="Corbel"/>
              <a:cs typeface="Corbel"/>
              <a:sym typeface="Corbel"/>
            </a:endParaRPr>
          </a:p>
          <a:p>
            <a:pPr indent="-182880" lvl="0" marL="195580" marR="325120" rtl="0" algn="just">
              <a:lnSpc>
                <a:spcPct val="90000"/>
              </a:lnSpc>
              <a:spcBef>
                <a:spcPts val="1200"/>
              </a:spcBef>
              <a:spcAft>
                <a:spcPts val="0"/>
              </a:spcAft>
              <a:buClr>
                <a:schemeClr val="dk1"/>
              </a:buClr>
              <a:buSzPct val="100000"/>
              <a:buChar char="•"/>
            </a:pPr>
            <a:r>
              <a:rPr lang="en-US">
                <a:latin typeface="Corbel"/>
                <a:ea typeface="Corbel"/>
                <a:cs typeface="Corbel"/>
                <a:sym typeface="Corbel"/>
              </a:rPr>
              <a:t>A private member variable or function cannot be accessed, or  even viewed from outside the class. Only the class and friend  functions can access private members.</a:t>
            </a:r>
            <a:endParaRPr>
              <a:latin typeface="Corbel"/>
              <a:ea typeface="Corbel"/>
              <a:cs typeface="Corbel"/>
              <a:sym typeface="Corbel"/>
            </a:endParaRPr>
          </a:p>
          <a:p>
            <a:pPr indent="-12700" lvl="0" marL="12700" rtl="0" algn="just">
              <a:lnSpc>
                <a:spcPct val="100000"/>
              </a:lnSpc>
              <a:spcBef>
                <a:spcPts val="965"/>
              </a:spcBef>
              <a:spcAft>
                <a:spcPts val="0"/>
              </a:spcAft>
              <a:buClr>
                <a:schemeClr val="dk1"/>
              </a:buClr>
              <a:buSzPct val="100000"/>
              <a:buChar char="•"/>
            </a:pPr>
            <a:r>
              <a:rPr b="1" lang="en-US">
                <a:latin typeface="Corbel"/>
                <a:ea typeface="Corbel"/>
                <a:cs typeface="Corbel"/>
                <a:sym typeface="Corbel"/>
              </a:rPr>
              <a:t>Protected:</a:t>
            </a:r>
            <a:endParaRPr>
              <a:latin typeface="Corbel"/>
              <a:ea typeface="Corbel"/>
              <a:cs typeface="Corbel"/>
              <a:sym typeface="Corbel"/>
            </a:endParaRPr>
          </a:p>
          <a:p>
            <a:pPr indent="-182880" lvl="0" marL="195580" marR="5080" rtl="0" algn="l">
              <a:lnSpc>
                <a:spcPct val="90000"/>
              </a:lnSpc>
              <a:spcBef>
                <a:spcPts val="1200"/>
              </a:spcBef>
              <a:spcAft>
                <a:spcPts val="0"/>
              </a:spcAft>
              <a:buClr>
                <a:schemeClr val="dk1"/>
              </a:buClr>
              <a:buSzPct val="100000"/>
              <a:buChar char="•"/>
            </a:pPr>
            <a:r>
              <a:rPr lang="en-US">
                <a:latin typeface="Corbel"/>
                <a:ea typeface="Corbel"/>
                <a:cs typeface="Corbel"/>
                <a:sym typeface="Corbel"/>
              </a:rPr>
              <a:t>A protected member variable or function is very similar to a  private member but it provided one additional benefit that they  can be accessed in child classes which are called derived classes.</a:t>
            </a:r>
            <a:endParaRPr/>
          </a:p>
          <a:p>
            <a:pPr indent="-58419" lvl="0" marL="195580" marR="5080" rtl="0" algn="l">
              <a:lnSpc>
                <a:spcPct val="77142"/>
              </a:lnSpc>
              <a:spcBef>
                <a:spcPts val="1235"/>
              </a:spcBef>
              <a:spcAft>
                <a:spcPts val="0"/>
              </a:spcAft>
              <a:buClr>
                <a:schemeClr val="dk1"/>
              </a:buClr>
              <a:buSzPct val="100000"/>
              <a:buNone/>
            </a:pPr>
            <a:r>
              <a:t/>
            </a:r>
            <a:endParaRPr>
              <a:latin typeface="Corbel"/>
              <a:ea typeface="Corbel"/>
              <a:cs typeface="Corbel"/>
              <a:sym typeface="Corbel"/>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Access  Modifiers</a:t>
            </a:r>
            <a:endParaRPr/>
          </a:p>
        </p:txBody>
      </p:sp>
      <p:pic>
        <p:nvPicPr>
          <p:cNvPr id="267" name="Google Shape;267;p25"/>
          <p:cNvPicPr preferRelativeResize="0"/>
          <p:nvPr>
            <p:ph idx="1" type="body"/>
          </p:nvPr>
        </p:nvPicPr>
        <p:blipFill rotWithShape="1">
          <a:blip r:embed="rId3">
            <a:alphaModFix/>
          </a:blip>
          <a:srcRect b="0" l="0" r="0" t="0"/>
          <a:stretch/>
        </p:blipFill>
        <p:spPr>
          <a:xfrm>
            <a:off x="2003812" y="2469579"/>
            <a:ext cx="4752381" cy="2790476"/>
          </a:xfrm>
          <a:prstGeom prst="rect">
            <a:avLst/>
          </a:prstGeom>
          <a:noFill/>
          <a:ln>
            <a:noFill/>
          </a:ln>
        </p:spPr>
      </p:pic>
      <p:pic>
        <p:nvPicPr>
          <p:cNvPr descr="A screenshot of a computer code&#10;&#10;AI-generated content may be incorrect." id="268" name="Google Shape;268;p25"/>
          <p:cNvPicPr preferRelativeResize="0"/>
          <p:nvPr/>
        </p:nvPicPr>
        <p:blipFill rotWithShape="1">
          <a:blip r:embed="rId4">
            <a:alphaModFix/>
          </a:blip>
          <a:srcRect b="0" l="0" r="0" t="0"/>
          <a:stretch/>
        </p:blipFill>
        <p:spPr>
          <a:xfrm>
            <a:off x="7674426" y="2124481"/>
            <a:ext cx="2761045" cy="377142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838199" y="932659"/>
            <a:ext cx="10914195" cy="9715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Play"/>
              <a:buNone/>
            </a:pPr>
            <a:r>
              <a:rPr lang="en-US">
                <a:solidFill>
                  <a:srgbClr val="FFFFFF"/>
                </a:solidFill>
              </a:rPr>
              <a:t>C</a:t>
            </a:r>
            <a:r>
              <a:rPr lang="en-US"/>
              <a:t>C++ Program  Structure</a:t>
            </a:r>
            <a:endParaRPr/>
          </a:p>
        </p:txBody>
      </p:sp>
      <p:sp>
        <p:nvSpPr>
          <p:cNvPr id="274" name="Google Shape;274;p26"/>
          <p:cNvSpPr txBox="1"/>
          <p:nvPr>
            <p:ph idx="1" type="body"/>
          </p:nvPr>
        </p:nvSpPr>
        <p:spPr>
          <a:xfrm>
            <a:off x="836425" y="2083324"/>
            <a:ext cx="10914195" cy="25075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Include files</a:t>
            </a:r>
            <a:endParaRPr/>
          </a:p>
          <a:p>
            <a:pPr indent="-228600" lvl="0" marL="228600" rtl="0" algn="l">
              <a:lnSpc>
                <a:spcPct val="90000"/>
              </a:lnSpc>
              <a:spcBef>
                <a:spcPts val="1000"/>
              </a:spcBef>
              <a:spcAft>
                <a:spcPts val="0"/>
              </a:spcAft>
              <a:buClr>
                <a:schemeClr val="dk1"/>
              </a:buClr>
              <a:buSzPts val="2800"/>
              <a:buChar char="•"/>
            </a:pPr>
            <a:r>
              <a:rPr b="1" lang="en-US"/>
              <a:t>Class Declaration</a:t>
            </a:r>
            <a:endParaRPr/>
          </a:p>
          <a:p>
            <a:pPr indent="-228600" lvl="0" marL="228600" rtl="0" algn="l">
              <a:lnSpc>
                <a:spcPct val="90000"/>
              </a:lnSpc>
              <a:spcBef>
                <a:spcPts val="1000"/>
              </a:spcBef>
              <a:spcAft>
                <a:spcPts val="0"/>
              </a:spcAft>
              <a:buClr>
                <a:schemeClr val="dk1"/>
              </a:buClr>
              <a:buSzPts val="2800"/>
              <a:buChar char="•"/>
            </a:pPr>
            <a:r>
              <a:rPr b="1" lang="en-US"/>
              <a:t>Member Function Definition</a:t>
            </a:r>
            <a:endParaRPr/>
          </a:p>
          <a:p>
            <a:pPr indent="-228600" lvl="0" marL="228600" rtl="0" algn="l">
              <a:lnSpc>
                <a:spcPct val="90000"/>
              </a:lnSpc>
              <a:spcBef>
                <a:spcPts val="1000"/>
              </a:spcBef>
              <a:spcAft>
                <a:spcPts val="0"/>
              </a:spcAft>
              <a:buClr>
                <a:schemeClr val="dk1"/>
              </a:buClr>
              <a:buSzPts val="2800"/>
              <a:buChar char="•"/>
            </a:pPr>
            <a:r>
              <a:rPr b="1" lang="en-US"/>
              <a:t>Main function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ph type="title"/>
          </p:nvPr>
        </p:nvSpPr>
        <p:spPr>
          <a:xfrm>
            <a:off x="838199" y="932659"/>
            <a:ext cx="1091419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Namespace  Example</a:t>
            </a:r>
            <a:endParaRPr/>
          </a:p>
        </p:txBody>
      </p:sp>
      <p:pic>
        <p:nvPicPr>
          <p:cNvPr descr="A blue square with white text&#10;&#10;AI-generated content may be incorrect." id="280" name="Google Shape;280;p27"/>
          <p:cNvPicPr preferRelativeResize="0"/>
          <p:nvPr>
            <p:ph idx="1" type="body"/>
          </p:nvPr>
        </p:nvPicPr>
        <p:blipFill rotWithShape="1">
          <a:blip r:embed="rId3">
            <a:alphaModFix/>
          </a:blip>
          <a:srcRect b="0" l="0" r="0" t="0"/>
          <a:stretch/>
        </p:blipFill>
        <p:spPr>
          <a:xfrm>
            <a:off x="6758765" y="2297668"/>
            <a:ext cx="3726485" cy="3179305"/>
          </a:xfrm>
          <a:prstGeom prst="rect">
            <a:avLst/>
          </a:prstGeom>
          <a:noFill/>
          <a:ln>
            <a:noFill/>
          </a:ln>
        </p:spPr>
      </p:pic>
      <p:sp>
        <p:nvSpPr>
          <p:cNvPr id="281" name="Google Shape;281;p27"/>
          <p:cNvSpPr txBox="1"/>
          <p:nvPr/>
        </p:nvSpPr>
        <p:spPr>
          <a:xfrm>
            <a:off x="942202" y="2297668"/>
            <a:ext cx="3637915" cy="3084830"/>
          </a:xfrm>
          <a:prstGeom prst="rect">
            <a:avLst/>
          </a:prstGeom>
          <a:solidFill>
            <a:srgbClr val="CEE7ED"/>
          </a:solidFill>
          <a:ln cap="flat" cmpd="sng" w="12700">
            <a:solidFill>
              <a:srgbClr val="FFFFFF"/>
            </a:solidFill>
            <a:prstDash val="solid"/>
            <a:round/>
            <a:headEnd len="sm" w="sm" type="none"/>
            <a:tailEnd len="sm" w="sm" type="none"/>
          </a:ln>
        </p:spPr>
        <p:txBody>
          <a:bodyPr anchorCtr="0" anchor="t" bIns="0" lIns="0" spcFirstLastPara="1" rIns="0" wrap="square" tIns="29200">
            <a:spAutoFit/>
          </a:bodyPr>
          <a:lstStyle/>
          <a:p>
            <a:pPr indent="0" lvl="0" marL="92075" marR="0" rtl="0" algn="l">
              <a:lnSpc>
                <a:spcPct val="100000"/>
              </a:lnSpc>
              <a:spcBef>
                <a:spcPts val="0"/>
              </a:spcBef>
              <a:spcAft>
                <a:spcPts val="0"/>
              </a:spcAft>
              <a:buNone/>
            </a:pPr>
            <a:r>
              <a:rPr b="0" i="0" lang="en-US" sz="2200" u="none" cap="none" strike="noStrike">
                <a:solidFill>
                  <a:schemeClr val="dk1"/>
                </a:solidFill>
                <a:latin typeface="Corbel"/>
                <a:ea typeface="Corbel"/>
                <a:cs typeface="Corbel"/>
                <a:sym typeface="Corbel"/>
              </a:rPr>
              <a:t>int main()</a:t>
            </a:r>
            <a:endParaRPr/>
          </a:p>
          <a:p>
            <a:pPr indent="0" lvl="0" marL="92075" marR="0" rtl="0" algn="l">
              <a:lnSpc>
                <a:spcPct val="100000"/>
              </a:lnSpc>
              <a:spcBef>
                <a:spcPts val="0"/>
              </a:spcBef>
              <a:spcAft>
                <a:spcPts val="0"/>
              </a:spcAft>
              <a:buNone/>
            </a:pPr>
            <a:r>
              <a:rPr b="0" i="0" lang="en-US" sz="2200" u="none" cap="none" strike="noStrike">
                <a:solidFill>
                  <a:schemeClr val="dk1"/>
                </a:solidFill>
                <a:latin typeface="Corbel"/>
                <a:ea typeface="Corbel"/>
                <a:cs typeface="Corbel"/>
                <a:sym typeface="Corbel"/>
              </a:rPr>
              <a:t>{</a:t>
            </a:r>
            <a:endParaRPr/>
          </a:p>
          <a:p>
            <a:pPr indent="0" lvl="0" marL="537210" marR="0" rtl="0" algn="l">
              <a:lnSpc>
                <a:spcPct val="100000"/>
              </a:lnSpc>
              <a:spcBef>
                <a:spcPts val="5"/>
              </a:spcBef>
              <a:spcAft>
                <a:spcPts val="0"/>
              </a:spcAft>
              <a:buNone/>
            </a:pPr>
            <a:r>
              <a:rPr b="0" i="0" lang="en-US" sz="2200" u="none" cap="none" strike="noStrike">
                <a:solidFill>
                  <a:schemeClr val="dk1"/>
                </a:solidFill>
                <a:latin typeface="Corbel"/>
                <a:ea typeface="Corbel"/>
                <a:cs typeface="Corbel"/>
                <a:sym typeface="Corbel"/>
              </a:rPr>
              <a:t>int value;</a:t>
            </a:r>
            <a:endParaRPr/>
          </a:p>
          <a:p>
            <a:pPr indent="0" lvl="0" marL="537210" marR="0" rtl="0" algn="l">
              <a:lnSpc>
                <a:spcPct val="100000"/>
              </a:lnSpc>
              <a:spcBef>
                <a:spcPts val="0"/>
              </a:spcBef>
              <a:spcAft>
                <a:spcPts val="0"/>
              </a:spcAft>
              <a:buNone/>
            </a:pPr>
            <a:r>
              <a:rPr b="0" i="0" lang="en-US" sz="2200" u="none" cap="none" strike="noStrike">
                <a:solidFill>
                  <a:schemeClr val="dk1"/>
                </a:solidFill>
                <a:latin typeface="Corbel"/>
                <a:ea typeface="Corbel"/>
                <a:cs typeface="Corbel"/>
                <a:sym typeface="Corbel"/>
              </a:rPr>
              <a:t>value = 0;</a:t>
            </a:r>
            <a:endParaRPr b="0" i="0" sz="2200" u="none" cap="none" strike="noStrike">
              <a:solidFill>
                <a:schemeClr val="dk1"/>
              </a:solidFill>
              <a:latin typeface="Corbel"/>
              <a:ea typeface="Corbel"/>
              <a:cs typeface="Corbel"/>
              <a:sym typeface="Corbel"/>
            </a:endParaRPr>
          </a:p>
          <a:p>
            <a:pPr indent="0" lvl="0" marL="0" marR="0" rtl="0" algn="l">
              <a:lnSpc>
                <a:spcPct val="100000"/>
              </a:lnSpc>
              <a:spcBef>
                <a:spcPts val="15"/>
              </a:spcBef>
              <a:spcAft>
                <a:spcPts val="0"/>
              </a:spcAft>
              <a:buNone/>
            </a:pPr>
            <a:r>
              <a:t/>
            </a:r>
            <a:endParaRPr b="0" i="0" sz="2150" u="none" cap="none" strike="noStrike">
              <a:solidFill>
                <a:schemeClr val="dk1"/>
              </a:solidFill>
              <a:latin typeface="Corbel"/>
              <a:ea typeface="Corbel"/>
              <a:cs typeface="Corbel"/>
              <a:sym typeface="Corbel"/>
            </a:endParaRPr>
          </a:p>
          <a:p>
            <a:pPr indent="0" lvl="0" marL="537210" marR="0" rtl="0" algn="l">
              <a:lnSpc>
                <a:spcPct val="100000"/>
              </a:lnSpc>
              <a:spcBef>
                <a:spcPts val="0"/>
              </a:spcBef>
              <a:spcAft>
                <a:spcPts val="0"/>
              </a:spcAft>
              <a:buNone/>
            </a:pPr>
            <a:r>
              <a:rPr b="0" i="0" lang="en-US" sz="2200" u="none" cap="none" strike="noStrike">
                <a:solidFill>
                  <a:schemeClr val="dk1"/>
                </a:solidFill>
                <a:latin typeface="Corbel"/>
                <a:ea typeface="Corbel"/>
                <a:cs typeface="Corbel"/>
                <a:sym typeface="Corbel"/>
              </a:rPr>
              <a:t>double value;	//Error</a:t>
            </a:r>
            <a:endParaRPr/>
          </a:p>
          <a:p>
            <a:pPr indent="0" lvl="0" marL="537210" marR="0" rtl="0" algn="l">
              <a:lnSpc>
                <a:spcPct val="100000"/>
              </a:lnSpc>
              <a:spcBef>
                <a:spcPts val="5"/>
              </a:spcBef>
              <a:spcAft>
                <a:spcPts val="0"/>
              </a:spcAft>
              <a:buNone/>
            </a:pPr>
            <a:r>
              <a:rPr b="0" i="0" lang="en-US" sz="2200" u="none" cap="none" strike="noStrike">
                <a:solidFill>
                  <a:schemeClr val="dk1"/>
                </a:solidFill>
                <a:latin typeface="Corbel"/>
                <a:ea typeface="Corbel"/>
                <a:cs typeface="Corbel"/>
                <a:sym typeface="Corbel"/>
              </a:rPr>
              <a:t>value=0.0;</a:t>
            </a:r>
            <a:endParaRPr/>
          </a:p>
          <a:p>
            <a:pPr indent="0" lvl="0" marL="92075" marR="0" rtl="0" algn="l">
              <a:lnSpc>
                <a:spcPct val="100000"/>
              </a:lnSpc>
              <a:spcBef>
                <a:spcPts val="0"/>
              </a:spcBef>
              <a:spcAft>
                <a:spcPts val="0"/>
              </a:spcAft>
              <a:buNone/>
            </a:pPr>
            <a:r>
              <a:rPr b="0" i="0" lang="en-US" sz="2200" u="none" cap="none" strike="noStrike">
                <a:solidFill>
                  <a:schemeClr val="dk1"/>
                </a:solidFill>
                <a:latin typeface="Corbel"/>
                <a:ea typeface="Corbel"/>
                <a:cs typeface="Corbel"/>
                <a:sym typeface="Corbel"/>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ph type="title"/>
          </p:nvPr>
        </p:nvSpPr>
        <p:spPr>
          <a:xfrm>
            <a:off x="836425" y="734696"/>
            <a:ext cx="1091419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orbel"/>
              <a:buNone/>
            </a:pPr>
            <a:r>
              <a:rPr lang="en-US">
                <a:latin typeface="Corbel"/>
                <a:ea typeface="Corbel"/>
                <a:cs typeface="Corbel"/>
                <a:sym typeface="Corbel"/>
              </a:rPr>
              <a:t>Namespace  Example</a:t>
            </a:r>
            <a:endParaRPr/>
          </a:p>
        </p:txBody>
      </p:sp>
      <p:pic>
        <p:nvPicPr>
          <p:cNvPr descr="A screenshot of a graph" id="287" name="Google Shape;287;p28"/>
          <p:cNvPicPr preferRelativeResize="0"/>
          <p:nvPr/>
        </p:nvPicPr>
        <p:blipFill rotWithShape="1">
          <a:blip r:embed="rId3">
            <a:alphaModFix/>
          </a:blip>
          <a:srcRect b="0" l="0" r="0" t="0"/>
          <a:stretch/>
        </p:blipFill>
        <p:spPr>
          <a:xfrm>
            <a:off x="1903702" y="2133334"/>
            <a:ext cx="7127177" cy="419295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type="title"/>
          </p:nvPr>
        </p:nvSpPr>
        <p:spPr>
          <a:xfrm>
            <a:off x="838199" y="932659"/>
            <a:ext cx="10914195" cy="101868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Namespace  Example</a:t>
            </a:r>
            <a:endParaRPr/>
          </a:p>
        </p:txBody>
      </p:sp>
      <p:pic>
        <p:nvPicPr>
          <p:cNvPr descr="A screenshot of a computer code&#10;&#10;AI-generated content may be incorrect." id="293" name="Google Shape;293;p29"/>
          <p:cNvPicPr preferRelativeResize="0"/>
          <p:nvPr>
            <p:ph idx="1" type="body"/>
          </p:nvPr>
        </p:nvPicPr>
        <p:blipFill rotWithShape="1">
          <a:blip r:embed="rId3">
            <a:alphaModFix/>
          </a:blip>
          <a:srcRect b="0" l="0" r="0" t="0"/>
          <a:stretch/>
        </p:blipFill>
        <p:spPr>
          <a:xfrm>
            <a:off x="2332603" y="2234154"/>
            <a:ext cx="6807357" cy="329888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838199" y="1216058"/>
            <a:ext cx="10914195" cy="82955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rbel"/>
              <a:buNone/>
            </a:pPr>
            <a:r>
              <a:rPr lang="en-US">
                <a:latin typeface="Corbel"/>
                <a:ea typeface="Corbel"/>
                <a:cs typeface="Corbel"/>
                <a:sym typeface="Corbel"/>
              </a:rPr>
              <a:t>High level  Language</a:t>
            </a:r>
            <a:br>
              <a:rPr lang="en-US">
                <a:latin typeface="Corbel"/>
                <a:ea typeface="Corbel"/>
                <a:cs typeface="Corbel"/>
                <a:sym typeface="Corbel"/>
              </a:rPr>
            </a:br>
            <a:endParaRPr/>
          </a:p>
        </p:txBody>
      </p:sp>
      <p:sp>
        <p:nvSpPr>
          <p:cNvPr id="299" name="Google Shape;299;p30"/>
          <p:cNvSpPr txBox="1"/>
          <p:nvPr>
            <p:ph idx="1" type="body"/>
          </p:nvPr>
        </p:nvSpPr>
        <p:spPr>
          <a:xfrm>
            <a:off x="836425" y="2297668"/>
            <a:ext cx="10914195" cy="40586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585858"/>
              </a:buClr>
              <a:buSzPts val="2800"/>
              <a:buChar char="•"/>
            </a:pPr>
            <a:r>
              <a:rPr lang="en-US">
                <a:solidFill>
                  <a:srgbClr val="585858"/>
                </a:solidFill>
                <a:latin typeface="Corbel"/>
                <a:ea typeface="Corbel"/>
                <a:cs typeface="Corbel"/>
                <a:sym typeface="Corbel"/>
              </a:rPr>
              <a:t>High-level languages represent a giant leap towards easier </a:t>
            </a:r>
            <a:r>
              <a:rPr lang="en-US"/>
              <a:t>programming.</a:t>
            </a:r>
            <a:endParaRPr/>
          </a:p>
          <a:p>
            <a:pPr indent="-12700" lvl="0" marL="12700" rtl="0" algn="l">
              <a:lnSpc>
                <a:spcPct val="100000"/>
              </a:lnSpc>
              <a:spcBef>
                <a:spcPts val="1060"/>
              </a:spcBef>
              <a:spcAft>
                <a:spcPts val="0"/>
              </a:spcAft>
              <a:buClr>
                <a:srgbClr val="585858"/>
              </a:buClr>
              <a:buSzPts val="2800"/>
              <a:buChar char="•"/>
            </a:pPr>
            <a:r>
              <a:rPr lang="en-US">
                <a:solidFill>
                  <a:srgbClr val="585858"/>
                </a:solidFill>
                <a:latin typeface="Corbel"/>
                <a:ea typeface="Corbel"/>
                <a:cs typeface="Corbel"/>
                <a:sym typeface="Corbel"/>
              </a:rPr>
              <a:t>The syntax of HL languages is similar to English.</a:t>
            </a:r>
            <a:endParaRPr/>
          </a:p>
          <a:p>
            <a:pPr indent="-12700" lvl="0" marL="12700" rtl="0" algn="l">
              <a:lnSpc>
                <a:spcPct val="100000"/>
              </a:lnSpc>
              <a:spcBef>
                <a:spcPts val="1060"/>
              </a:spcBef>
              <a:spcAft>
                <a:spcPts val="0"/>
              </a:spcAft>
              <a:buClr>
                <a:srgbClr val="585858"/>
              </a:buClr>
              <a:buSzPts val="2800"/>
              <a:buChar char="•"/>
            </a:pPr>
            <a:r>
              <a:rPr lang="en-US">
                <a:solidFill>
                  <a:srgbClr val="585858"/>
                </a:solidFill>
                <a:latin typeface="Corbel"/>
                <a:ea typeface="Corbel"/>
                <a:cs typeface="Corbel"/>
                <a:sym typeface="Corbel"/>
              </a:rPr>
              <a:t>Historically, we divide HL languages into two groups:</a:t>
            </a:r>
            <a:endParaRPr/>
          </a:p>
          <a:p>
            <a:pPr indent="0" lvl="0" marL="0" rtl="0" algn="l">
              <a:lnSpc>
                <a:spcPct val="100000"/>
              </a:lnSpc>
              <a:spcBef>
                <a:spcPts val="95"/>
              </a:spcBef>
              <a:spcAft>
                <a:spcPts val="0"/>
              </a:spcAft>
              <a:buClr>
                <a:srgbClr val="585858"/>
              </a:buClr>
              <a:buSzPts val="2800"/>
              <a:buNone/>
            </a:pPr>
            <a:r>
              <a:rPr lang="en-US">
                <a:solidFill>
                  <a:srgbClr val="585858"/>
                </a:solidFill>
                <a:latin typeface="Corbel"/>
                <a:ea typeface="Corbel"/>
                <a:cs typeface="Corbel"/>
                <a:sym typeface="Corbel"/>
              </a:rPr>
              <a:t>1 Procedural languages</a:t>
            </a:r>
            <a:endParaRPr>
              <a:latin typeface="Corbel"/>
              <a:ea typeface="Corbel"/>
              <a:cs typeface="Corbel"/>
              <a:sym typeface="Corbel"/>
            </a:endParaRPr>
          </a:p>
          <a:p>
            <a:pPr indent="-228600" lvl="0" marL="515619" rtl="0" algn="l">
              <a:lnSpc>
                <a:spcPct val="100000"/>
              </a:lnSpc>
              <a:spcBef>
                <a:spcPts val="105"/>
              </a:spcBef>
              <a:spcAft>
                <a:spcPts val="0"/>
              </a:spcAft>
              <a:buClr>
                <a:srgbClr val="585858"/>
              </a:buClr>
              <a:buSzPts val="2400"/>
              <a:buChar char="•"/>
            </a:pPr>
            <a:r>
              <a:rPr lang="en-US" sz="2400">
                <a:solidFill>
                  <a:srgbClr val="585858"/>
                </a:solidFill>
                <a:latin typeface="Corbel"/>
                <a:ea typeface="Corbel"/>
                <a:cs typeface="Corbel"/>
                <a:sym typeface="Corbel"/>
              </a:rPr>
              <a:t>Ex. C language</a:t>
            </a:r>
            <a:endParaRPr/>
          </a:p>
          <a:p>
            <a:pPr indent="0" lvl="0" marL="0" rtl="0" algn="l">
              <a:lnSpc>
                <a:spcPct val="100000"/>
              </a:lnSpc>
              <a:spcBef>
                <a:spcPts val="215"/>
              </a:spcBef>
              <a:spcAft>
                <a:spcPts val="0"/>
              </a:spcAft>
              <a:buClr>
                <a:srgbClr val="585858"/>
              </a:buClr>
              <a:buSzPts val="2400"/>
              <a:buNone/>
            </a:pPr>
            <a:r>
              <a:rPr lang="en-US" sz="2400">
                <a:solidFill>
                  <a:srgbClr val="585858"/>
                </a:solidFill>
                <a:latin typeface="Corbel"/>
                <a:ea typeface="Corbel"/>
                <a:cs typeface="Corbel"/>
                <a:sym typeface="Corbel"/>
              </a:rPr>
              <a:t>2 Object-Oriented languages (OOP)</a:t>
            </a:r>
            <a:endParaRPr sz="2400">
              <a:latin typeface="Corbel"/>
              <a:ea typeface="Corbel"/>
              <a:cs typeface="Corbel"/>
              <a:sym typeface="Corbel"/>
            </a:endParaRPr>
          </a:p>
          <a:p>
            <a:pPr indent="-228600" lvl="0" marL="515619" rtl="0" algn="l">
              <a:lnSpc>
                <a:spcPct val="100000"/>
              </a:lnSpc>
              <a:spcBef>
                <a:spcPts val="105"/>
              </a:spcBef>
              <a:spcAft>
                <a:spcPts val="0"/>
              </a:spcAft>
              <a:buClr>
                <a:srgbClr val="585858"/>
              </a:buClr>
              <a:buSzPts val="2000"/>
              <a:buChar char="•"/>
            </a:pPr>
            <a:r>
              <a:rPr lang="en-US" sz="2000">
                <a:solidFill>
                  <a:srgbClr val="585858"/>
                </a:solidFill>
                <a:latin typeface="Corbel"/>
                <a:ea typeface="Corbel"/>
                <a:cs typeface="Corbel"/>
                <a:sym typeface="Corbel"/>
              </a:rPr>
              <a:t>Ex. C++, Java, C#</a:t>
            </a:r>
            <a:endParaRPr sz="2000">
              <a:latin typeface="Corbel"/>
              <a:ea typeface="Corbel"/>
              <a:cs typeface="Corbel"/>
              <a:sym typeface="Corbel"/>
            </a:endParaRPr>
          </a:p>
          <a:p>
            <a:pPr indent="0" lvl="0" marL="287020" rtl="0" algn="l">
              <a:lnSpc>
                <a:spcPct val="100000"/>
              </a:lnSpc>
              <a:spcBef>
                <a:spcPts val="105"/>
              </a:spcBef>
              <a:spcAft>
                <a:spcPts val="0"/>
              </a:spcAft>
              <a:buClr>
                <a:schemeClr val="dk1"/>
              </a:buClr>
              <a:buSzPts val="2400"/>
              <a:buNone/>
            </a:pPr>
            <a:r>
              <a:t/>
            </a:r>
            <a:endParaRPr sz="2400">
              <a:latin typeface="Corbel"/>
              <a:ea typeface="Corbel"/>
              <a:cs typeface="Corbel"/>
              <a:sym typeface="Corbel"/>
            </a:endParaRPr>
          </a:p>
          <a:p>
            <a:pPr indent="165100" lvl="0" marL="12700" rtl="0" algn="l">
              <a:lnSpc>
                <a:spcPct val="100000"/>
              </a:lnSpc>
              <a:spcBef>
                <a:spcPts val="1060"/>
              </a:spcBef>
              <a:spcAft>
                <a:spcPts val="0"/>
              </a:spcAft>
              <a:buClr>
                <a:schemeClr val="dk1"/>
              </a:buClr>
              <a:buSzPts val="2800"/>
              <a:buNone/>
            </a:pPr>
            <a:r>
              <a:t/>
            </a:r>
            <a:endParaRPr>
              <a:latin typeface="Corbel"/>
              <a:ea typeface="Corbel"/>
              <a:cs typeface="Corbel"/>
              <a:sym typeface="Corbel"/>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ph type="title"/>
          </p:nvPr>
        </p:nvSpPr>
        <p:spPr>
          <a:xfrm>
            <a:off x="651710" y="1704474"/>
            <a:ext cx="10888579" cy="344905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9900"/>
              <a:buFont typeface="Pinyon Script"/>
              <a:buNone/>
            </a:pPr>
            <a:r>
              <a:rPr lang="en-US" sz="19900">
                <a:latin typeface="Pinyon Script"/>
                <a:ea typeface="Pinyon Script"/>
                <a:cs typeface="Pinyon Script"/>
                <a:sym typeface="Pinyon Script"/>
              </a:rPr>
              <a:t>Thanks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2025-07-19T19:52:25Z</dcterms:created>
  <dc:creator>Anil Saroliya</dc:creator>
</cp:coreProperties>
</file>