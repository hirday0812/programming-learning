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0" r:id="rId2"/>
    <p:sldId id="381" r:id="rId3"/>
    <p:sldId id="382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7" r:id="rId19"/>
    <p:sldId id="398" r:id="rId20"/>
    <p:sldId id="3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5FD"/>
    <a:srgbClr val="9E0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116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935D-D810-E646-B21B-80E910C0F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D2DA6-C414-DA19-8ABC-74C120F8A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5C1BD-706E-9485-6B31-F4DAA8AE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F3377-31BB-1DC4-1E5C-097FB279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44061-FA45-ABCD-3352-47F56347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25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9082-CD21-24BD-F50A-99104439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223F-022C-3D26-E6EE-EB29A6A70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B9AC-B285-FDAB-2724-5639FEC8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E0274-127E-4446-0901-9FA8E723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8D28C-93A8-0603-959B-DDA82AF1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F92A0BFC-3D79-D152-09A2-7CFD3497FD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48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581E-B92A-984F-DE8B-52DE4FDC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48186-226D-DA38-96F7-184C4B874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8C435-5419-631C-40B4-8278E341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BC103-BF7B-2D1A-AC94-1350E895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9EC2D-C785-BE0C-D23B-F16E444C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3029104C-068D-6326-F48C-979AEE902C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49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952C-C0C4-03C9-94A3-CD2A8D11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865C1-2D02-6E3D-3D7B-3BA84BDC8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6C6B8-E006-98DB-47B9-CD2510478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643C2-5210-7973-A748-1DD1170C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A773B-9945-BB4B-C450-155552F2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6D9B3-4C59-2B08-FE26-DB59CF7B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Top Private University in India | MBA, BBA, B.Tech ...">
            <a:extLst>
              <a:ext uri="{FF2B5EF4-FFF2-40B4-BE49-F238E27FC236}">
                <a16:creationId xmlns:a16="http://schemas.microsoft.com/office/drawing/2014/main" id="{40D632C4-7074-62B3-9CAC-F9573FACA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3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2F7A-279A-2AD8-A3F9-F956740D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789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8AA19-A404-D769-F37E-F51A6EE9B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2ED9C-7880-AA07-3672-373F4BE6F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C381E4-BF16-FC66-6FDA-2424AF16F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A16D6-F865-29CC-92F6-8D09BEF71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835D2-03B7-1FEB-BE12-C44A5C67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F36DC-F375-9CF0-77C5-C5790BA0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E5ABD-92C9-7C69-81AD-7F56146A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2" descr="Top Private University in India | MBA, BBA, B.Tech ...">
            <a:extLst>
              <a:ext uri="{FF2B5EF4-FFF2-40B4-BE49-F238E27FC236}">
                <a16:creationId xmlns:a16="http://schemas.microsoft.com/office/drawing/2014/main" id="{A28311A7-6F9E-12A4-9855-0AE4B63B1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779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4D79D-F29A-D127-248E-D41811C4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FFFDF-157E-640A-7FE3-F34FFB4BB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08644-428A-E4F0-38ED-90D9B095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E2F19-6A56-6804-C4F5-73EDCC1C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Top Private University in India | MBA, BBA, B.Tech ...">
            <a:extLst>
              <a:ext uri="{FF2B5EF4-FFF2-40B4-BE49-F238E27FC236}">
                <a16:creationId xmlns:a16="http://schemas.microsoft.com/office/drawing/2014/main" id="{D1797805-9519-CFE4-8005-D2E633D695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77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DDA9C-42AE-F8A6-087D-9F7E403C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E234C-5C02-2B03-63BE-371DD6DF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719BC-5CA5-0DDD-2B07-2ED9EF45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2" descr="Top Private University in India | MBA, BBA, B.Tech ...">
            <a:extLst>
              <a:ext uri="{FF2B5EF4-FFF2-40B4-BE49-F238E27FC236}">
                <a16:creationId xmlns:a16="http://schemas.microsoft.com/office/drawing/2014/main" id="{373ECA57-C996-5147-A7C4-6EB4E43C5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78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8B26-2880-610E-278D-688E679F3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E10D-98FB-5035-41D2-D34855A29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F2E70-64C1-656A-2601-6B4B18EAF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82A82-4FEB-6F77-EF6E-77030C6D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1633F-F9CD-33DE-A175-8D25F67C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09DE5-4B6B-F126-8D8C-EC25F889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Top Private University in India | MBA, BBA, B.Tech ...">
            <a:extLst>
              <a:ext uri="{FF2B5EF4-FFF2-40B4-BE49-F238E27FC236}">
                <a16:creationId xmlns:a16="http://schemas.microsoft.com/office/drawing/2014/main" id="{41F3A65C-7D22-43D9-1CCF-582A96A26C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51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0386-32DB-DC93-DD5D-950D490D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35B11-94CD-3577-00B1-527ADE1D2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67D64-4E2D-E786-FFF3-FBB0C0186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B3BAD-239C-64B7-FA7C-24B747E95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7A895-C2D3-089E-366A-1CDF236C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D58AB-5D76-4997-5899-5A853165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Top Private University in India | MBA, BBA, B.Tech ...">
            <a:extLst>
              <a:ext uri="{FF2B5EF4-FFF2-40B4-BE49-F238E27FC236}">
                <a16:creationId xmlns:a16="http://schemas.microsoft.com/office/drawing/2014/main" id="{D3D9FB80-2270-919F-A1AE-717CF792D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46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7FE7-5636-0BA0-5520-F5F5E0650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D3051-892F-BF39-1A59-ACE6B907E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88F5E-33C1-5C61-CF22-16894D13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EDB77-ECFC-CE18-EBF4-80306803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43038-9702-E96B-39A2-DE002E42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9E046DB0-29F6-03B7-39D5-990552034C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065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99495-97A7-42DB-4D25-543300DB3E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0599"/>
            <a:ext cx="2628900" cy="5186363"/>
          </a:xfrm>
        </p:spPr>
        <p:txBody>
          <a:bodyPr vert="eaVert"/>
          <a:lstStyle/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480CE-6E9C-7113-6B7C-A89BDA373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0601"/>
            <a:ext cx="7734300" cy="51863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DD22-CEDE-2CF6-AC32-33D00D54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C213D-0148-2DE7-29FC-B664ACB7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480D9-DE41-5870-8120-C6D38308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5F9E98BF-4463-6921-B3D0-56403EEE75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65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64C192-9471-C453-603C-E96A3CA3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F1AE9-6528-0064-A9FF-E7CC9D93C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1E05E-B45B-EACC-F4C5-8941D871A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0F2AB-114E-404D-905D-2290CE6313E2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63591-4404-C76A-9776-3C2A12CD4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6DFA2-3D4F-B188-54FD-AB81C3E2C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1D14CF2F-BF94-36AE-A202-D21D768A0E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DBE0A1-01E8-DF08-FEC1-41F44C45780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794" y="2297668"/>
            <a:ext cx="9718411" cy="272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49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0847037-8471-1887-6CE0-E974244A7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  <a:br>
              <a:rPr lang="en-US" sz="4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B.Tech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(CSE) 2</a:t>
            </a:r>
            <a:r>
              <a:rPr lang="en-US" sz="3600" b="1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Semester</a:t>
            </a:r>
            <a:endParaRPr lang="en-IN" sz="440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480A801-37C1-796F-E1AF-33345A3E0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265920" cy="213359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</a:rPr>
              <a:t>Course Name : OOPs with C++</a:t>
            </a:r>
            <a:endParaRPr lang="en-US" b="1" dirty="0">
              <a:solidFill>
                <a:srgbClr val="9E0F00"/>
              </a:solidFill>
              <a:latin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</a:rPr>
              <a:t>Course Code:</a:t>
            </a:r>
            <a:br>
              <a:rPr lang="en-US" b="1" dirty="0">
                <a:latin typeface="Times New Roman" pitchFamily="18" charset="0"/>
              </a:rPr>
            </a:br>
            <a:r>
              <a:rPr lang="en-US" sz="2000" b="1" dirty="0">
                <a:latin typeface="Times New Roman" pitchFamily="18" charset="0"/>
              </a:rPr>
              <a:t>Topic: </a:t>
            </a:r>
            <a:r>
              <a:rPr lang="en-IN" b="1" dirty="0"/>
              <a:t>Beginning with C++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</a:rPr>
              <a:t>(Unit-2)</a:t>
            </a:r>
          </a:p>
          <a:p>
            <a:endParaRPr lang="en-US" sz="900" dirty="0">
              <a:latin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</a:rPr>
              <a:t>Dr. Sahil Kansal</a:t>
            </a:r>
          </a:p>
        </p:txBody>
      </p:sp>
    </p:spTree>
    <p:extLst>
      <p:ext uri="{BB962C8B-B14F-4D97-AF65-F5344CB8AC3E}">
        <p14:creationId xmlns:p14="http://schemas.microsoft.com/office/powerpoint/2010/main" val="260845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EE92-88B6-5517-9766-2FBE5313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16058"/>
            <a:ext cx="10914195" cy="490194"/>
          </a:xfrm>
        </p:spPr>
        <p:txBody>
          <a:bodyPr>
            <a:normAutofit fontScale="90000"/>
          </a:bodyPr>
          <a:lstStyle/>
          <a:p>
            <a:r>
              <a:rPr lang="en-IN" spc="-70" dirty="0">
                <a:latin typeface="Corbel"/>
                <a:cs typeface="Corbel"/>
              </a:rPr>
              <a:t>I</a:t>
            </a:r>
            <a:r>
              <a:rPr lang="en-IN" spc="-80" dirty="0">
                <a:latin typeface="Corbel"/>
                <a:cs typeface="Corbel"/>
              </a:rPr>
              <a:t>n</a:t>
            </a:r>
            <a:r>
              <a:rPr lang="en-IN" spc="-65" dirty="0">
                <a:latin typeface="Corbel"/>
                <a:cs typeface="Corbel"/>
              </a:rPr>
              <a:t>pu</a:t>
            </a:r>
            <a:r>
              <a:rPr lang="en-IN" dirty="0">
                <a:latin typeface="Corbel"/>
                <a:cs typeface="Corbel"/>
              </a:rPr>
              <a:t>t</a:t>
            </a:r>
            <a:r>
              <a:rPr lang="en-IN" spc="-80" dirty="0">
                <a:latin typeface="Corbel"/>
                <a:cs typeface="Corbel"/>
              </a:rPr>
              <a:t> </a:t>
            </a:r>
            <a:r>
              <a:rPr lang="en-IN" dirty="0">
                <a:latin typeface="Corbel"/>
                <a:cs typeface="Corbel"/>
              </a:rPr>
              <a:t>/</a:t>
            </a:r>
            <a:r>
              <a:rPr lang="en-IN" spc="-275" dirty="0">
                <a:latin typeface="Corbel"/>
                <a:cs typeface="Corbel"/>
              </a:rPr>
              <a:t> </a:t>
            </a:r>
            <a:r>
              <a:rPr lang="en-IN" spc="-65" dirty="0">
                <a:latin typeface="Corbel"/>
                <a:cs typeface="Corbel"/>
              </a:rPr>
              <a:t>Ou</a:t>
            </a:r>
            <a:r>
              <a:rPr lang="en-IN" spc="-80" dirty="0">
                <a:latin typeface="Corbel"/>
                <a:cs typeface="Corbel"/>
              </a:rPr>
              <a:t>t</a:t>
            </a:r>
            <a:r>
              <a:rPr lang="en-IN" spc="-65" dirty="0">
                <a:latin typeface="Corbel"/>
                <a:cs typeface="Corbel"/>
              </a:rPr>
              <a:t>pu</a:t>
            </a:r>
            <a:r>
              <a:rPr lang="en-IN" dirty="0">
                <a:latin typeface="Corbel"/>
                <a:cs typeface="Corbel"/>
              </a:rPr>
              <a:t>t  </a:t>
            </a:r>
            <a:r>
              <a:rPr lang="en-IN" spc="-65" dirty="0">
                <a:latin typeface="Corbel"/>
                <a:cs typeface="Corbel"/>
              </a:rPr>
              <a:t>Stream</a:t>
            </a:r>
            <a:br>
              <a:rPr lang="en-IN" dirty="0">
                <a:latin typeface="Corbel"/>
                <a:cs typeface="Corbel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B9771-4575-372D-567C-0272110EC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26" y="2297668"/>
            <a:ext cx="9910131" cy="2896501"/>
          </a:xfrm>
        </p:spPr>
        <p:txBody>
          <a:bodyPr>
            <a:normAutofit fontScale="85000" lnSpcReduction="10000"/>
          </a:bodyPr>
          <a:lstStyle/>
          <a:p>
            <a:r>
              <a:rPr lang="en-US" spc="-10" dirty="0">
                <a:latin typeface="Corbel"/>
                <a:cs typeface="Corbel"/>
              </a:rPr>
              <a:t>In</a:t>
            </a:r>
            <a:r>
              <a:rPr lang="en-US" spc="-8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C++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input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and </a:t>
            </a:r>
            <a:r>
              <a:rPr lang="en-US" spc="-10" dirty="0">
                <a:latin typeface="Corbel"/>
                <a:cs typeface="Corbel"/>
              </a:rPr>
              <a:t>output</a:t>
            </a:r>
            <a:r>
              <a:rPr lang="en-US" spc="3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is</a:t>
            </a:r>
            <a:r>
              <a:rPr lang="en-US" spc="1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performed</a:t>
            </a:r>
            <a:r>
              <a:rPr lang="en-US" spc="7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in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the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form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of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sequence</a:t>
            </a:r>
            <a:r>
              <a:rPr lang="en-US" spc="4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of 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bytes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or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more</a:t>
            </a:r>
            <a:r>
              <a:rPr lang="en-US" spc="2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commonly</a:t>
            </a:r>
            <a:r>
              <a:rPr lang="en-US" spc="5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known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as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b="1" spc="-5" dirty="0">
                <a:latin typeface="Corbel"/>
                <a:cs typeface="Corbel"/>
              </a:rPr>
              <a:t>streams</a:t>
            </a:r>
          </a:p>
          <a:p>
            <a:r>
              <a:rPr lang="en-US" b="1" spc="-5" dirty="0">
                <a:latin typeface="Corbel"/>
                <a:cs typeface="Corbel"/>
              </a:rPr>
              <a:t>Input</a:t>
            </a:r>
            <a:r>
              <a:rPr lang="en-US" b="1" spc="-45" dirty="0">
                <a:latin typeface="Corbel"/>
                <a:cs typeface="Corbel"/>
              </a:rPr>
              <a:t> </a:t>
            </a:r>
            <a:r>
              <a:rPr lang="en-US" b="1" spc="-5" dirty="0">
                <a:latin typeface="Corbel"/>
                <a:cs typeface="Corbel"/>
              </a:rPr>
              <a:t>Stream:</a:t>
            </a:r>
            <a:r>
              <a:rPr lang="en-US" b="1" spc="15" dirty="0">
                <a:latin typeface="Corbel"/>
                <a:cs typeface="Corbel"/>
              </a:rPr>
              <a:t> </a:t>
            </a:r>
            <a:r>
              <a:rPr lang="en-US" spc="-10" dirty="0"/>
              <a:t>If</a:t>
            </a:r>
            <a:r>
              <a:rPr lang="en-US" spc="20" dirty="0"/>
              <a:t> </a:t>
            </a:r>
            <a:r>
              <a:rPr lang="en-US" spc="-10" dirty="0"/>
              <a:t>the</a:t>
            </a:r>
            <a:r>
              <a:rPr lang="en-US" dirty="0"/>
              <a:t> </a:t>
            </a:r>
            <a:r>
              <a:rPr lang="en-US" spc="-10" dirty="0"/>
              <a:t>direction</a:t>
            </a:r>
            <a:r>
              <a:rPr lang="en-US" spc="80" dirty="0"/>
              <a:t> </a:t>
            </a:r>
            <a:r>
              <a:rPr lang="en-US" spc="-10" dirty="0"/>
              <a:t>of</a:t>
            </a:r>
            <a:r>
              <a:rPr lang="en-US" spc="-5" dirty="0"/>
              <a:t> </a:t>
            </a:r>
            <a:r>
              <a:rPr lang="en-US" spc="-10" dirty="0"/>
              <a:t>flow</a:t>
            </a:r>
            <a:r>
              <a:rPr lang="en-US" spc="50" dirty="0"/>
              <a:t> </a:t>
            </a:r>
            <a:r>
              <a:rPr lang="en-US" spc="-10" dirty="0"/>
              <a:t>of</a:t>
            </a:r>
            <a:r>
              <a:rPr lang="en-US" dirty="0"/>
              <a:t> </a:t>
            </a:r>
            <a:r>
              <a:rPr lang="en-US" spc="-10" dirty="0"/>
              <a:t>bytes</a:t>
            </a:r>
            <a:r>
              <a:rPr lang="en-US" spc="35" dirty="0"/>
              <a:t> </a:t>
            </a:r>
            <a:r>
              <a:rPr lang="en-US" spc="-10" dirty="0"/>
              <a:t>is</a:t>
            </a:r>
            <a:r>
              <a:rPr lang="en-US" spc="10" dirty="0"/>
              <a:t> </a:t>
            </a:r>
            <a:r>
              <a:rPr lang="en-US" spc="-10" dirty="0"/>
              <a:t>from</a:t>
            </a:r>
            <a:r>
              <a:rPr lang="en-US" spc="25" dirty="0"/>
              <a:t> </a:t>
            </a:r>
            <a:r>
              <a:rPr lang="en-US" spc="-15" dirty="0"/>
              <a:t>device(for </a:t>
            </a:r>
            <a:r>
              <a:rPr lang="en-US" spc="-10" dirty="0"/>
              <a:t> </a:t>
            </a:r>
            <a:r>
              <a:rPr lang="en-US" spc="-5" dirty="0"/>
              <a:t>example</a:t>
            </a:r>
            <a:r>
              <a:rPr lang="en-US" spc="10" dirty="0"/>
              <a:t> </a:t>
            </a:r>
            <a:r>
              <a:rPr lang="en-US" spc="-15" dirty="0"/>
              <a:t>Keyboard)</a:t>
            </a:r>
            <a:r>
              <a:rPr lang="en-US" spc="80" dirty="0"/>
              <a:t> </a:t>
            </a:r>
            <a:r>
              <a:rPr lang="en-US" spc="-10" dirty="0"/>
              <a:t>to</a:t>
            </a:r>
            <a:r>
              <a:rPr lang="en-US" spc="5" dirty="0"/>
              <a:t> </a:t>
            </a:r>
            <a:r>
              <a:rPr lang="en-US" spc="-10" dirty="0"/>
              <a:t>the</a:t>
            </a:r>
            <a:r>
              <a:rPr lang="en-US" spc="25" dirty="0"/>
              <a:t> </a:t>
            </a:r>
            <a:r>
              <a:rPr lang="en-US" spc="-5" dirty="0"/>
              <a:t>main</a:t>
            </a:r>
            <a:r>
              <a:rPr lang="en-US" spc="-20" dirty="0"/>
              <a:t> </a:t>
            </a:r>
            <a:r>
              <a:rPr lang="en-US" spc="-5" dirty="0"/>
              <a:t>memory</a:t>
            </a:r>
            <a:r>
              <a:rPr lang="en-US" spc="60" dirty="0"/>
              <a:t> </a:t>
            </a:r>
            <a:r>
              <a:rPr lang="en-US" spc="-10" dirty="0"/>
              <a:t>then</a:t>
            </a:r>
            <a:r>
              <a:rPr lang="en-US" spc="5" dirty="0"/>
              <a:t> </a:t>
            </a:r>
            <a:r>
              <a:rPr lang="en-US" spc="-10" dirty="0"/>
              <a:t>this</a:t>
            </a:r>
            <a:r>
              <a:rPr lang="en-US" spc="35" dirty="0"/>
              <a:t> </a:t>
            </a:r>
            <a:r>
              <a:rPr lang="en-US" spc="-5" dirty="0"/>
              <a:t>process</a:t>
            </a:r>
            <a:r>
              <a:rPr lang="en-US" spc="35" dirty="0"/>
              <a:t> </a:t>
            </a:r>
            <a:r>
              <a:rPr lang="en-US" spc="-10" dirty="0"/>
              <a:t>is</a:t>
            </a:r>
            <a:r>
              <a:rPr lang="en-US" spc="15" dirty="0"/>
              <a:t> </a:t>
            </a:r>
            <a:r>
              <a:rPr lang="en-US" spc="-10" dirty="0"/>
              <a:t>called </a:t>
            </a:r>
            <a:r>
              <a:rPr lang="en-US" spc="-385" dirty="0"/>
              <a:t> </a:t>
            </a:r>
            <a:r>
              <a:rPr lang="en-US" spc="-5" dirty="0"/>
              <a:t>input.</a:t>
            </a:r>
          </a:p>
          <a:p>
            <a:pPr marL="195580" marR="5080" indent="-182880">
              <a:lnSpc>
                <a:spcPts val="2160"/>
              </a:lnSpc>
              <a:spcBef>
                <a:spcPts val="365"/>
              </a:spcBef>
            </a:pPr>
            <a:r>
              <a:rPr lang="en-US" b="1" spc="-10" dirty="0">
                <a:latin typeface="Corbel"/>
                <a:cs typeface="Corbel"/>
              </a:rPr>
              <a:t>Output</a:t>
            </a:r>
            <a:r>
              <a:rPr lang="en-US" b="1" spc="5" dirty="0">
                <a:latin typeface="Corbel"/>
                <a:cs typeface="Corbel"/>
              </a:rPr>
              <a:t> </a:t>
            </a:r>
            <a:r>
              <a:rPr lang="en-US" b="1" spc="-10" dirty="0">
                <a:latin typeface="Corbel"/>
                <a:cs typeface="Corbel"/>
              </a:rPr>
              <a:t>Stream:</a:t>
            </a:r>
            <a:r>
              <a:rPr lang="en-US" b="1" spc="-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If</a:t>
            </a:r>
            <a:r>
              <a:rPr lang="en-US" spc="2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the</a:t>
            </a:r>
            <a:r>
              <a:rPr lang="en-US" spc="2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direction</a:t>
            </a:r>
            <a:r>
              <a:rPr lang="en-US" spc="5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of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flow</a:t>
            </a:r>
            <a:r>
              <a:rPr lang="en-US" spc="2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of bytes</a:t>
            </a:r>
            <a:r>
              <a:rPr lang="en-US" spc="6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is opposite,</a:t>
            </a:r>
            <a:r>
              <a:rPr lang="en-US" spc="9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i.e. 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from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main</a:t>
            </a:r>
            <a:r>
              <a:rPr lang="en-US" spc="-1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memory</a:t>
            </a:r>
            <a:r>
              <a:rPr lang="en-US" spc="6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to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device(</a:t>
            </a:r>
            <a:r>
              <a:rPr lang="en-US" spc="8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display</a:t>
            </a:r>
            <a:r>
              <a:rPr lang="en-US" spc="2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screen</a:t>
            </a:r>
            <a:r>
              <a:rPr lang="en-US" spc="6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) </a:t>
            </a:r>
            <a:r>
              <a:rPr lang="en-US" spc="-10" dirty="0">
                <a:latin typeface="Corbel"/>
                <a:cs typeface="Corbel"/>
              </a:rPr>
              <a:t>then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this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process</a:t>
            </a:r>
            <a:r>
              <a:rPr lang="en-US" spc="4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is </a:t>
            </a:r>
            <a:r>
              <a:rPr lang="en-US" spc="-38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called</a:t>
            </a:r>
            <a:r>
              <a:rPr lang="en-US" spc="4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output.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ts val="2280"/>
              </a:lnSpc>
              <a:spcBef>
                <a:spcPts val="930"/>
              </a:spcBef>
            </a:pPr>
            <a:r>
              <a:rPr lang="en-US" b="1" spc="-5" dirty="0">
                <a:latin typeface="Corbel"/>
                <a:cs typeface="Corbel"/>
              </a:rPr>
              <a:t>iostream:</a:t>
            </a:r>
            <a:r>
              <a:rPr lang="en-US" b="1" spc="2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It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stands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for</a:t>
            </a:r>
            <a:r>
              <a:rPr lang="en-US" spc="2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standard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input</a:t>
            </a:r>
            <a:r>
              <a:rPr lang="en-US" spc="3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output</a:t>
            </a:r>
            <a:r>
              <a:rPr lang="en-US" spc="7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stream.</a:t>
            </a:r>
            <a:r>
              <a:rPr lang="en-US" spc="-13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This</a:t>
            </a:r>
            <a:r>
              <a:rPr lang="en-US" spc="50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header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file</a:t>
            </a:r>
            <a:r>
              <a:rPr lang="en-US" spc="1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contains</a:t>
            </a:r>
            <a:r>
              <a:rPr lang="en-US" spc="2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definitions</a:t>
            </a:r>
            <a:r>
              <a:rPr lang="en-US" spc="9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to </a:t>
            </a:r>
            <a:r>
              <a:rPr lang="en-US" spc="-15" dirty="0">
                <a:latin typeface="Corbel"/>
                <a:cs typeface="Corbel"/>
              </a:rPr>
              <a:t>objects</a:t>
            </a:r>
            <a:r>
              <a:rPr lang="en-US" spc="65" dirty="0">
                <a:latin typeface="Corbel"/>
                <a:cs typeface="Corbel"/>
              </a:rPr>
              <a:t> </a:t>
            </a:r>
            <a:r>
              <a:rPr lang="en-US" spc="-25" dirty="0">
                <a:latin typeface="Corbel"/>
                <a:cs typeface="Corbel"/>
              </a:rPr>
              <a:t>like</a:t>
            </a:r>
            <a:r>
              <a:rPr lang="en-US" spc="60" dirty="0">
                <a:latin typeface="Corbel"/>
                <a:cs typeface="Corbel"/>
              </a:rPr>
              <a:t> </a:t>
            </a:r>
            <a:r>
              <a:rPr lang="en-US" spc="-10" dirty="0" err="1">
                <a:latin typeface="Corbel"/>
                <a:cs typeface="Corbel"/>
              </a:rPr>
              <a:t>cin</a:t>
            </a:r>
            <a:r>
              <a:rPr lang="en-US" spc="-10" dirty="0">
                <a:latin typeface="Corbel"/>
                <a:cs typeface="Corbel"/>
              </a:rPr>
              <a:t>,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10" dirty="0" err="1">
                <a:latin typeface="Corbel"/>
                <a:cs typeface="Corbel"/>
              </a:rPr>
              <a:t>cout</a:t>
            </a:r>
            <a:r>
              <a:rPr lang="en-US" spc="3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etc.</a:t>
            </a:r>
            <a:endParaRPr lang="en-US" dirty="0">
              <a:latin typeface="Corbel"/>
              <a:cs typeface="Corbe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737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89E9-9C17-1B6F-0996-59129C92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25" y="1168331"/>
            <a:ext cx="10914195" cy="858434"/>
          </a:xfrm>
        </p:spPr>
        <p:txBody>
          <a:bodyPr>
            <a:normAutofit fontScale="90000"/>
          </a:bodyPr>
          <a:lstStyle/>
          <a:p>
            <a:r>
              <a:rPr lang="en-IN" spc="-70" dirty="0">
                <a:latin typeface="Corbel"/>
                <a:cs typeface="Corbel"/>
              </a:rPr>
              <a:t>Standard </a:t>
            </a:r>
            <a:r>
              <a:rPr lang="en-IN" spc="-65" dirty="0">
                <a:latin typeface="Corbel"/>
                <a:cs typeface="Corbel"/>
              </a:rPr>
              <a:t> Ou</a:t>
            </a:r>
            <a:r>
              <a:rPr lang="en-IN" spc="-80" dirty="0">
                <a:latin typeface="Corbel"/>
                <a:cs typeface="Corbel"/>
              </a:rPr>
              <a:t>t</a:t>
            </a:r>
            <a:r>
              <a:rPr lang="en-IN" spc="-65" dirty="0">
                <a:latin typeface="Corbel"/>
                <a:cs typeface="Corbel"/>
              </a:rPr>
              <a:t>pu</a:t>
            </a:r>
            <a:r>
              <a:rPr lang="en-IN" dirty="0">
                <a:latin typeface="Corbel"/>
                <a:cs typeface="Corbel"/>
              </a:rPr>
              <a:t>t</a:t>
            </a:r>
            <a:r>
              <a:rPr lang="en-IN" spc="-105" dirty="0">
                <a:latin typeface="Corbel"/>
                <a:cs typeface="Corbel"/>
              </a:rPr>
              <a:t> </a:t>
            </a:r>
            <a:r>
              <a:rPr lang="en-IN" spc="-70" dirty="0">
                <a:latin typeface="Corbel"/>
                <a:cs typeface="Corbel"/>
              </a:rPr>
              <a:t>s</a:t>
            </a:r>
            <a:r>
              <a:rPr lang="en-IN" spc="-80" dirty="0">
                <a:latin typeface="Corbel"/>
                <a:cs typeface="Corbel"/>
              </a:rPr>
              <a:t>tr</a:t>
            </a:r>
            <a:r>
              <a:rPr lang="en-IN" spc="-65" dirty="0">
                <a:latin typeface="Corbel"/>
                <a:cs typeface="Corbel"/>
              </a:rPr>
              <a:t>e</a:t>
            </a:r>
            <a:r>
              <a:rPr lang="en-IN" spc="-90" dirty="0">
                <a:latin typeface="Corbel"/>
                <a:cs typeface="Corbel"/>
              </a:rPr>
              <a:t>a</a:t>
            </a:r>
            <a:r>
              <a:rPr lang="en-IN" dirty="0">
                <a:latin typeface="Corbel"/>
                <a:cs typeface="Corbel"/>
              </a:rPr>
              <a:t>m  </a:t>
            </a:r>
            <a:r>
              <a:rPr lang="en-IN" spc="-75" dirty="0">
                <a:latin typeface="Corbel"/>
                <a:cs typeface="Corbel"/>
              </a:rPr>
              <a:t>(</a:t>
            </a:r>
            <a:r>
              <a:rPr lang="en-IN" spc="-75" dirty="0" err="1">
                <a:latin typeface="Corbel"/>
                <a:cs typeface="Corbel"/>
              </a:rPr>
              <a:t>cout</a:t>
            </a:r>
            <a:r>
              <a:rPr lang="en-IN" spc="-75" dirty="0">
                <a:latin typeface="Corbel"/>
                <a:cs typeface="Corbel"/>
              </a:rPr>
              <a:t>)</a:t>
            </a:r>
            <a:br>
              <a:rPr lang="en-IN" dirty="0">
                <a:latin typeface="Corbel"/>
                <a:cs typeface="Corbel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4C36-198A-01CA-1269-5AB6C27F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25" y="1866507"/>
            <a:ext cx="10914195" cy="4489843"/>
          </a:xfrm>
        </p:spPr>
        <p:txBody>
          <a:bodyPr/>
          <a:lstStyle/>
          <a:p>
            <a:pPr marL="195580" marR="5080" indent="-182880">
              <a:lnSpc>
                <a:spcPts val="2160"/>
              </a:lnSpc>
              <a:spcBef>
                <a:spcPts val="365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data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needed</a:t>
            </a:r>
            <a:r>
              <a:rPr lang="en-US" spc="7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to</a:t>
            </a:r>
            <a:r>
              <a:rPr lang="en-US" spc="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be</a:t>
            </a:r>
            <a:r>
              <a:rPr lang="en-US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displayed</a:t>
            </a:r>
            <a:r>
              <a:rPr lang="en-US" spc="4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on</a:t>
            </a:r>
            <a:r>
              <a:rPr lang="en-US" spc="1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screen</a:t>
            </a:r>
            <a:r>
              <a:rPr lang="en-US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is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inserted</a:t>
            </a:r>
            <a:r>
              <a:rPr lang="en-US" spc="4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in the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 standard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output</a:t>
            </a:r>
            <a:r>
              <a:rPr lang="en-US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stream</a:t>
            </a:r>
            <a:r>
              <a:rPr lang="en-US" spc="4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20" dirty="0">
                <a:solidFill>
                  <a:srgbClr val="585858"/>
                </a:solidFill>
                <a:latin typeface="Corbel"/>
                <a:cs typeface="Corbel"/>
              </a:rPr>
              <a:t>(</a:t>
            </a:r>
            <a:r>
              <a:rPr lang="en-US" spc="-20" dirty="0" err="1">
                <a:solidFill>
                  <a:srgbClr val="585858"/>
                </a:solidFill>
                <a:latin typeface="Corbel"/>
                <a:cs typeface="Corbel"/>
              </a:rPr>
              <a:t>cout</a:t>
            </a:r>
            <a:r>
              <a:rPr lang="en-US" spc="-20" dirty="0">
                <a:solidFill>
                  <a:srgbClr val="585858"/>
                </a:solidFill>
                <a:latin typeface="Corbel"/>
                <a:cs typeface="Corbel"/>
              </a:rPr>
              <a:t>)</a:t>
            </a:r>
            <a:r>
              <a:rPr lang="en-US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using</a:t>
            </a:r>
            <a:r>
              <a:rPr lang="en-US" spc="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insertion</a:t>
            </a:r>
            <a:r>
              <a:rPr lang="en-US" spc="3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operator</a:t>
            </a:r>
            <a:r>
              <a:rPr lang="en-US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10" dirty="0">
                <a:solidFill>
                  <a:srgbClr val="585858"/>
                </a:solidFill>
                <a:latin typeface="Corbel"/>
                <a:cs typeface="Corbel"/>
              </a:rPr>
              <a:t>(</a:t>
            </a:r>
            <a:r>
              <a:rPr lang="en-US" b="1" spc="10" dirty="0">
                <a:solidFill>
                  <a:srgbClr val="585858"/>
                </a:solidFill>
                <a:latin typeface="Corbel"/>
                <a:cs typeface="Corbel"/>
              </a:rPr>
              <a:t>&lt;&lt;</a:t>
            </a:r>
            <a:r>
              <a:rPr lang="en-US" spc="10" dirty="0">
                <a:solidFill>
                  <a:srgbClr val="585858"/>
                </a:solidFill>
                <a:latin typeface="Corbel"/>
                <a:cs typeface="Corbel"/>
              </a:rPr>
              <a:t>).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Fo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r</a:t>
            </a:r>
            <a:r>
              <a:rPr lang="en-US" spc="1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E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x</a:t>
            </a:r>
            <a:r>
              <a:rPr lang="en-US" spc="5" dirty="0">
                <a:solidFill>
                  <a:srgbClr val="585858"/>
                </a:solidFill>
                <a:latin typeface="Corbel"/>
                <a:cs typeface="Corbel"/>
              </a:rPr>
              <a:t>a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mpl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e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:</a:t>
            </a:r>
            <a:endParaRPr lang="en-US" dirty="0">
              <a:latin typeface="Corbel"/>
              <a:cs typeface="Corbel"/>
            </a:endParaRPr>
          </a:p>
          <a:p>
            <a:endParaRPr lang="en-IN" dirty="0"/>
          </a:p>
        </p:txBody>
      </p:sp>
      <p:pic>
        <p:nvPicPr>
          <p:cNvPr id="5" name="Picture 4" descr="A close-up of a screen&#10;&#10;AI-generated content may be incorrect.">
            <a:extLst>
              <a:ext uri="{FF2B5EF4-FFF2-40B4-BE49-F238E27FC236}">
                <a16:creationId xmlns:a16="http://schemas.microsoft.com/office/drawing/2014/main" id="{C36827DA-0FAF-F995-E49E-677A7FA0E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556" y="3331262"/>
            <a:ext cx="3810330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15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0464-0D15-F717-1C27-BE521247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60"/>
            <a:ext cx="10914195" cy="980982"/>
          </a:xfrm>
        </p:spPr>
        <p:txBody>
          <a:bodyPr/>
          <a:lstStyle/>
          <a:p>
            <a:pPr algn="ctr"/>
            <a:r>
              <a:rPr lang="en-IN" spc="-80" dirty="0"/>
              <a:t>Keyword</a:t>
            </a:r>
            <a:endParaRPr lang="en-IN" dirty="0"/>
          </a:p>
        </p:txBody>
      </p:sp>
      <p:pic>
        <p:nvPicPr>
          <p:cNvPr id="5" name="Content Placeholder 4" descr="A table of words on a blue background&#10;&#10;AI-generated content may be incorrect.">
            <a:extLst>
              <a:ext uri="{FF2B5EF4-FFF2-40B4-BE49-F238E27FC236}">
                <a16:creationId xmlns:a16="http://schemas.microsoft.com/office/drawing/2014/main" id="{8EE7ED75-6233-3F6A-4313-84C0126FD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144" y="1794436"/>
            <a:ext cx="8052729" cy="45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54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5D27-BB65-AF72-0BAE-E362F3DF0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59"/>
            <a:ext cx="10914195" cy="679325"/>
          </a:xfrm>
        </p:spPr>
        <p:txBody>
          <a:bodyPr>
            <a:normAutofit fontScale="90000"/>
          </a:bodyPr>
          <a:lstStyle/>
          <a:p>
            <a:pPr algn="ctr"/>
            <a:r>
              <a:rPr lang="en-IN" spc="-65" dirty="0"/>
              <a:t>D</a:t>
            </a:r>
            <a:r>
              <a:rPr lang="en-IN" spc="-90" dirty="0"/>
              <a:t>a</a:t>
            </a:r>
            <a:r>
              <a:rPr lang="en-IN" spc="-80" dirty="0"/>
              <a:t>t</a:t>
            </a:r>
            <a:r>
              <a:rPr lang="en-IN" dirty="0"/>
              <a:t>a</a:t>
            </a:r>
            <a:r>
              <a:rPr lang="en-IN" spc="-330" dirty="0"/>
              <a:t> </a:t>
            </a:r>
            <a:r>
              <a:rPr lang="en-IN" spc="-325" dirty="0"/>
              <a:t>T</a:t>
            </a:r>
            <a:r>
              <a:rPr lang="en-IN" spc="-75" dirty="0"/>
              <a:t>y</a:t>
            </a:r>
            <a:r>
              <a:rPr lang="en-IN" spc="-65" dirty="0"/>
              <a:t>pe</a:t>
            </a:r>
            <a:r>
              <a:rPr lang="en-IN" dirty="0"/>
              <a:t>s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68B86A0-45D3-ABA7-749C-A744770E1C2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351936" y="1611984"/>
            <a:ext cx="5886720" cy="398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01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EF79-098A-0217-1843-088520F3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02" y="686739"/>
            <a:ext cx="10914195" cy="990409"/>
          </a:xfrm>
        </p:spPr>
        <p:txBody>
          <a:bodyPr/>
          <a:lstStyle/>
          <a:p>
            <a:pPr algn="ctr"/>
            <a:r>
              <a:rPr lang="en-US" spc="-55" dirty="0"/>
              <a:t>Size and </a:t>
            </a:r>
            <a:r>
              <a:rPr lang="en-US" spc="-50" dirty="0"/>
              <a:t> </a:t>
            </a:r>
            <a:r>
              <a:rPr lang="en-US" spc="-70" dirty="0"/>
              <a:t>R</a:t>
            </a:r>
            <a:r>
              <a:rPr lang="en-US" spc="-90" dirty="0"/>
              <a:t>a</a:t>
            </a:r>
            <a:r>
              <a:rPr lang="en-US" spc="-80" dirty="0"/>
              <a:t>n</a:t>
            </a:r>
            <a:r>
              <a:rPr lang="en-US" spc="-65" dirty="0"/>
              <a:t>g</a:t>
            </a:r>
            <a:r>
              <a:rPr lang="en-US" dirty="0"/>
              <a:t>e</a:t>
            </a:r>
            <a:r>
              <a:rPr lang="en-US" spc="-65" dirty="0"/>
              <a:t> </a:t>
            </a:r>
            <a:r>
              <a:rPr lang="en-US" spc="-75" dirty="0"/>
              <a:t>o</a:t>
            </a:r>
            <a:r>
              <a:rPr lang="en-US" dirty="0"/>
              <a:t>f</a:t>
            </a:r>
            <a:r>
              <a:rPr lang="en-US" spc="-114" dirty="0"/>
              <a:t> </a:t>
            </a:r>
            <a:r>
              <a:rPr lang="en-US" spc="-85" dirty="0"/>
              <a:t>d</a:t>
            </a:r>
            <a:r>
              <a:rPr lang="en-US" spc="-90" dirty="0"/>
              <a:t>a</a:t>
            </a:r>
            <a:r>
              <a:rPr lang="en-US" spc="-80" dirty="0"/>
              <a:t>t</a:t>
            </a:r>
            <a:r>
              <a:rPr lang="en-US" dirty="0"/>
              <a:t>a  </a:t>
            </a:r>
            <a:r>
              <a:rPr lang="en-US" spc="-60" dirty="0"/>
              <a:t>types</a:t>
            </a:r>
            <a:endParaRPr lang="en-IN" dirty="0"/>
          </a:p>
        </p:txBody>
      </p:sp>
      <p:pic>
        <p:nvPicPr>
          <p:cNvPr id="5" name="Content Placeholder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84D0185E-004A-50FD-09A2-CC1FA20B9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165" y="1676464"/>
            <a:ext cx="7758259" cy="449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2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42A4-EC01-8C63-00FD-9127C61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25" y="1026928"/>
            <a:ext cx="10914195" cy="792446"/>
          </a:xfrm>
        </p:spPr>
        <p:txBody>
          <a:bodyPr>
            <a:normAutofit fontScale="90000"/>
          </a:bodyPr>
          <a:lstStyle/>
          <a:p>
            <a:pPr algn="ctr"/>
            <a:r>
              <a:rPr lang="en-IN" spc="-65" dirty="0">
                <a:latin typeface="Corbel"/>
                <a:cs typeface="Corbel"/>
              </a:rPr>
              <a:t>Boolean</a:t>
            </a:r>
            <a:r>
              <a:rPr lang="en-IN" spc="-110" dirty="0">
                <a:latin typeface="Corbel"/>
                <a:cs typeface="Corbel"/>
              </a:rPr>
              <a:t> </a:t>
            </a:r>
            <a:r>
              <a:rPr lang="en-IN" spc="-60" dirty="0">
                <a:latin typeface="Corbel"/>
                <a:cs typeface="Corbel"/>
              </a:rPr>
              <a:t>Data </a:t>
            </a:r>
            <a:r>
              <a:rPr lang="en-IN" spc="-705" dirty="0">
                <a:latin typeface="Corbel"/>
                <a:cs typeface="Corbel"/>
              </a:rPr>
              <a:t> </a:t>
            </a:r>
            <a:r>
              <a:rPr lang="en-IN" spc="-55" dirty="0">
                <a:latin typeface="Corbel"/>
                <a:cs typeface="Corbel"/>
              </a:rPr>
              <a:t>type</a:t>
            </a:r>
            <a:br>
              <a:rPr lang="en-IN" dirty="0">
                <a:latin typeface="Corbel"/>
                <a:cs typeface="Corbel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5A537-8A4E-1840-5FF4-05700AA32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25" y="1932496"/>
            <a:ext cx="10914195" cy="2978870"/>
          </a:xfrm>
        </p:spPr>
        <p:txBody>
          <a:bodyPr>
            <a:normAutofit fontScale="85000" lnSpcReduction="20000"/>
          </a:bodyPr>
          <a:lstStyle/>
          <a:p>
            <a:pPr marL="698500" indent="0">
              <a:lnSpc>
                <a:spcPct val="100000"/>
              </a:lnSpc>
              <a:spcBef>
                <a:spcPts val="1055"/>
              </a:spcBef>
              <a:buNone/>
            </a:pPr>
            <a:r>
              <a:rPr lang="en-IN" spc="-5" dirty="0"/>
              <a:t>Sy</a:t>
            </a:r>
            <a:r>
              <a:rPr lang="en-IN" dirty="0"/>
              <a:t>n</a:t>
            </a:r>
            <a:r>
              <a:rPr lang="en-IN" spc="-10" dirty="0"/>
              <a:t>t</a:t>
            </a:r>
            <a:r>
              <a:rPr lang="en-IN" dirty="0"/>
              <a:t>a</a:t>
            </a:r>
            <a:r>
              <a:rPr lang="en-IN" spc="-10" dirty="0"/>
              <a:t>x</a:t>
            </a:r>
            <a:endParaRPr lang="en-US" spc="-10" dirty="0">
              <a:solidFill>
                <a:srgbClr val="585858"/>
              </a:solidFill>
              <a:latin typeface="Corbel"/>
              <a:cs typeface="Corbel"/>
            </a:endParaRPr>
          </a:p>
          <a:p>
            <a:pPr marL="927100">
              <a:lnSpc>
                <a:spcPct val="100000"/>
              </a:lnSpc>
              <a:spcBef>
                <a:spcPts val="1055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bool</a:t>
            </a:r>
            <a:r>
              <a:rPr lang="en-US" spc="-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 err="1">
                <a:solidFill>
                  <a:srgbClr val="585858"/>
                </a:solidFill>
                <a:latin typeface="Corbel"/>
                <a:cs typeface="Corbel"/>
              </a:rPr>
              <a:t>variable_name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;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E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x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amp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l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e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:</a:t>
            </a:r>
            <a:endParaRPr lang="en-US" dirty="0">
              <a:latin typeface="Corbel"/>
              <a:cs typeface="Corbel"/>
            </a:endParaRPr>
          </a:p>
          <a:p>
            <a:pPr marL="927100">
              <a:lnSpc>
                <a:spcPct val="100000"/>
              </a:lnSpc>
              <a:spcBef>
                <a:spcPts val="965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bool</a:t>
            </a:r>
            <a:r>
              <a:rPr lang="en-US" spc="-20" dirty="0">
                <a:solidFill>
                  <a:srgbClr val="585858"/>
                </a:solidFill>
                <a:latin typeface="Corbel"/>
                <a:cs typeface="Corbel"/>
              </a:rPr>
              <a:t> b;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In</a:t>
            </a:r>
            <a:r>
              <a:rPr lang="en-US" spc="-8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C++,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data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type</a:t>
            </a:r>
            <a:r>
              <a:rPr lang="en-US" spc="5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bool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has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been</a:t>
            </a:r>
            <a:r>
              <a:rPr lang="en-US" spc="3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introduced</a:t>
            </a:r>
            <a:r>
              <a:rPr lang="en-US" spc="9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to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hold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a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Boolean</a:t>
            </a:r>
            <a:endParaRPr lang="en-US" dirty="0">
              <a:latin typeface="Corbel"/>
              <a:cs typeface="Corbel"/>
            </a:endParaRPr>
          </a:p>
          <a:p>
            <a:pPr marL="195580">
              <a:lnSpc>
                <a:spcPts val="2280"/>
              </a:lnSpc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value,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i="1" dirty="0">
                <a:solidFill>
                  <a:srgbClr val="585858"/>
                </a:solidFill>
                <a:latin typeface="Corbel"/>
                <a:cs typeface="Corbel"/>
              </a:rPr>
              <a:t>true</a:t>
            </a:r>
            <a:r>
              <a:rPr lang="en-US" b="1" i="1" spc="-4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or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i="1" spc="-5" dirty="0">
                <a:solidFill>
                  <a:srgbClr val="585858"/>
                </a:solidFill>
                <a:latin typeface="Corbel"/>
                <a:cs typeface="Corbel"/>
              </a:rPr>
              <a:t>false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.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default</a:t>
            </a:r>
            <a:r>
              <a:rPr lang="en-US" spc="5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numeric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value</a:t>
            </a:r>
            <a:r>
              <a:rPr lang="en-US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of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i="1" spc="-15" dirty="0">
                <a:solidFill>
                  <a:srgbClr val="585858"/>
                </a:solidFill>
                <a:latin typeface="Corbel"/>
                <a:cs typeface="Corbel"/>
              </a:rPr>
              <a:t>true</a:t>
            </a:r>
            <a:r>
              <a:rPr lang="en-US" i="1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is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1</a:t>
            </a: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and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i="1" spc="-10" dirty="0">
                <a:solidFill>
                  <a:srgbClr val="585858"/>
                </a:solidFill>
                <a:latin typeface="Corbel"/>
                <a:cs typeface="Corbel"/>
              </a:rPr>
              <a:t>false</a:t>
            </a:r>
            <a:r>
              <a:rPr lang="en-US" i="1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is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5113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FCDC-165B-C979-87B8-A2518318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59"/>
            <a:ext cx="10914195" cy="1037543"/>
          </a:xfrm>
        </p:spPr>
        <p:txBody>
          <a:bodyPr/>
          <a:lstStyle/>
          <a:p>
            <a:pPr algn="ctr"/>
            <a:r>
              <a:rPr lang="en-IN" spc="-140" dirty="0">
                <a:latin typeface="Corbel"/>
                <a:cs typeface="Corbel"/>
              </a:rPr>
              <a:t>R</a:t>
            </a:r>
            <a:r>
              <a:rPr lang="en-IN" spc="-65" dirty="0">
                <a:latin typeface="Corbel"/>
                <a:cs typeface="Corbel"/>
              </a:rPr>
              <a:t>efe</a:t>
            </a:r>
            <a:r>
              <a:rPr lang="en-IN" spc="-80" dirty="0">
                <a:latin typeface="Corbel"/>
                <a:cs typeface="Corbel"/>
              </a:rPr>
              <a:t>r</a:t>
            </a:r>
            <a:r>
              <a:rPr lang="en-IN" spc="-65" dirty="0">
                <a:latin typeface="Corbel"/>
                <a:cs typeface="Corbel"/>
              </a:rPr>
              <a:t>e</a:t>
            </a:r>
            <a:r>
              <a:rPr lang="en-IN" spc="-80" dirty="0">
                <a:latin typeface="Corbel"/>
                <a:cs typeface="Corbel"/>
              </a:rPr>
              <a:t>n</a:t>
            </a:r>
            <a:r>
              <a:rPr lang="en-IN" spc="-70" dirty="0">
                <a:latin typeface="Corbel"/>
                <a:cs typeface="Corbel"/>
              </a:rPr>
              <a:t>c</a:t>
            </a:r>
            <a:r>
              <a:rPr lang="en-IN" dirty="0">
                <a:latin typeface="Corbel"/>
                <a:cs typeface="Corbel"/>
              </a:rPr>
              <a:t>e  </a:t>
            </a:r>
            <a:r>
              <a:rPr lang="en-IN" spc="-70" dirty="0">
                <a:latin typeface="Corbel"/>
                <a:cs typeface="Corbel"/>
              </a:rPr>
              <a:t>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6B5FD-8BDF-2086-7764-704252CD4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25" y="2111604"/>
            <a:ext cx="10914195" cy="4244746"/>
          </a:xfrm>
        </p:spPr>
        <p:txBody>
          <a:bodyPr/>
          <a:lstStyle/>
          <a:p>
            <a:r>
              <a:rPr lang="en-US" spc="-10" dirty="0">
                <a:latin typeface="Corbel"/>
                <a:cs typeface="Corbel"/>
              </a:rPr>
              <a:t>When</a:t>
            </a:r>
            <a:r>
              <a:rPr lang="en-US" spc="3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a </a:t>
            </a:r>
            <a:r>
              <a:rPr lang="en-US" spc="-10" dirty="0">
                <a:latin typeface="Corbel"/>
                <a:cs typeface="Corbel"/>
              </a:rPr>
              <a:t>variable</a:t>
            </a:r>
            <a:r>
              <a:rPr lang="en-US" spc="5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is declared</a:t>
            </a:r>
            <a:r>
              <a:rPr lang="en-US" spc="9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as </a:t>
            </a:r>
            <a:r>
              <a:rPr lang="en-US" spc="-10" dirty="0">
                <a:latin typeface="Corbel"/>
                <a:cs typeface="Corbel"/>
              </a:rPr>
              <a:t>reference,</a:t>
            </a:r>
            <a:r>
              <a:rPr lang="en-US" spc="8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it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becomes</a:t>
            </a:r>
            <a:r>
              <a:rPr lang="en-US" spc="9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an</a:t>
            </a:r>
            <a:r>
              <a:rPr lang="en-US" spc="-10" dirty="0">
                <a:latin typeface="Corbel"/>
                <a:cs typeface="Corbel"/>
              </a:rPr>
              <a:t> alternative</a:t>
            </a:r>
          </a:p>
          <a:p>
            <a:pPr marL="0" indent="0">
              <a:buNone/>
            </a:pPr>
            <a:r>
              <a:rPr lang="en-US" spc="-5" dirty="0"/>
              <a:t>name</a:t>
            </a:r>
            <a:r>
              <a:rPr lang="en-US" spc="-10" dirty="0"/>
              <a:t> for</a:t>
            </a:r>
            <a:r>
              <a:rPr lang="en-US" spc="25" dirty="0"/>
              <a:t> </a:t>
            </a:r>
            <a:r>
              <a:rPr lang="en-US" spc="-5" dirty="0"/>
              <a:t>an</a:t>
            </a:r>
            <a:r>
              <a:rPr lang="en-US" spc="-10" dirty="0"/>
              <a:t> existing</a:t>
            </a:r>
            <a:r>
              <a:rPr lang="en-US" spc="20" dirty="0"/>
              <a:t> </a:t>
            </a:r>
            <a:r>
              <a:rPr lang="en-US" spc="-10" dirty="0"/>
              <a:t>variable.</a:t>
            </a:r>
          </a:p>
          <a:p>
            <a:pPr marL="12700">
              <a:lnSpc>
                <a:spcPts val="2280"/>
              </a:lnSpc>
              <a:spcBef>
                <a:spcPts val="90"/>
              </a:spcBef>
            </a:pPr>
            <a:r>
              <a:rPr lang="en-US" spc="-10" dirty="0">
                <a:latin typeface="Corbel"/>
                <a:cs typeface="Corbel"/>
              </a:rPr>
              <a:t>A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variable</a:t>
            </a:r>
            <a:r>
              <a:rPr lang="en-US" spc="2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can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be</a:t>
            </a:r>
            <a:r>
              <a:rPr lang="en-US" spc="2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declared</a:t>
            </a:r>
            <a:r>
              <a:rPr lang="en-US" spc="6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as</a:t>
            </a:r>
            <a:r>
              <a:rPr lang="en-US" spc="-10" dirty="0">
                <a:latin typeface="Corbel"/>
                <a:cs typeface="Corbel"/>
              </a:rPr>
              <a:t> reference</a:t>
            </a:r>
            <a:r>
              <a:rPr lang="en-US" spc="90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by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putting</a:t>
            </a:r>
            <a:r>
              <a:rPr lang="en-US" spc="3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‘&amp;’ in</a:t>
            </a:r>
            <a:r>
              <a:rPr lang="en-US" spc="-10" dirty="0">
                <a:latin typeface="Corbel"/>
                <a:cs typeface="Corbel"/>
              </a:rPr>
              <a:t> the</a:t>
            </a:r>
            <a:endParaRPr lang="en-US" dirty="0">
              <a:latin typeface="Corbel"/>
              <a:cs typeface="Corbel"/>
            </a:endParaRPr>
          </a:p>
          <a:p>
            <a:pPr marL="195580">
              <a:lnSpc>
                <a:spcPts val="2280"/>
              </a:lnSpc>
            </a:pPr>
            <a:r>
              <a:rPr lang="en-US" spc="-10" dirty="0">
                <a:latin typeface="Corbel"/>
                <a:cs typeface="Corbel"/>
              </a:rPr>
              <a:t>declaration.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lang="en-US" b="1" spc="-10" dirty="0">
                <a:latin typeface="Corbel"/>
                <a:cs typeface="Corbel"/>
              </a:rPr>
              <a:t>S</a:t>
            </a:r>
            <a:r>
              <a:rPr lang="en-US" b="1" dirty="0">
                <a:latin typeface="Corbel"/>
                <a:cs typeface="Corbel"/>
              </a:rPr>
              <a:t>y</a:t>
            </a:r>
            <a:r>
              <a:rPr lang="en-US" b="1" spc="-5" dirty="0">
                <a:latin typeface="Corbel"/>
                <a:cs typeface="Corbel"/>
              </a:rPr>
              <a:t>n</a:t>
            </a:r>
            <a:r>
              <a:rPr lang="en-US" b="1" spc="-20" dirty="0">
                <a:latin typeface="Corbel"/>
                <a:cs typeface="Corbel"/>
              </a:rPr>
              <a:t>t</a:t>
            </a:r>
            <a:r>
              <a:rPr lang="en-US" b="1" spc="-5" dirty="0">
                <a:latin typeface="Corbel"/>
                <a:cs typeface="Corbel"/>
              </a:rPr>
              <a:t>a</a:t>
            </a:r>
            <a:r>
              <a:rPr lang="en-US" b="1" spc="-10" dirty="0">
                <a:latin typeface="Corbel"/>
                <a:cs typeface="Corbel"/>
              </a:rPr>
              <a:t>x</a:t>
            </a:r>
            <a:r>
              <a:rPr lang="en-US" b="1" spc="-5" dirty="0">
                <a:latin typeface="Corbel"/>
                <a:cs typeface="Corbel"/>
              </a:rPr>
              <a:t>: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lang="en-US" spc="-5" dirty="0">
                <a:latin typeface="Corbel"/>
                <a:cs typeface="Corbel"/>
              </a:rPr>
              <a:t>Datatype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&amp;</a:t>
            </a:r>
            <a:r>
              <a:rPr lang="en-US" spc="-10" dirty="0" err="1">
                <a:latin typeface="Corbel"/>
                <a:cs typeface="Corbel"/>
              </a:rPr>
              <a:t>reference_name</a:t>
            </a:r>
            <a:r>
              <a:rPr lang="en-US" spc="8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=</a:t>
            </a:r>
            <a:r>
              <a:rPr lang="en-US" spc="-10" dirty="0">
                <a:latin typeface="Corbel"/>
                <a:cs typeface="Corbel"/>
              </a:rPr>
              <a:t> </a:t>
            </a:r>
            <a:r>
              <a:rPr lang="en-US" spc="-5" dirty="0" err="1">
                <a:latin typeface="Corbel"/>
                <a:cs typeface="Corbel"/>
              </a:rPr>
              <a:t>variable_name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lang="en-US" b="1" spc="-15" dirty="0">
                <a:latin typeface="Corbel"/>
                <a:cs typeface="Corbel"/>
              </a:rPr>
              <a:t>F</a:t>
            </a:r>
            <a:r>
              <a:rPr lang="en-US" b="1" spc="-5" dirty="0">
                <a:latin typeface="Corbel"/>
                <a:cs typeface="Corbel"/>
              </a:rPr>
              <a:t>or</a:t>
            </a:r>
            <a:r>
              <a:rPr lang="en-US" b="1" spc="15" dirty="0">
                <a:latin typeface="Corbel"/>
                <a:cs typeface="Corbel"/>
              </a:rPr>
              <a:t> </a:t>
            </a:r>
            <a:r>
              <a:rPr lang="en-US" b="1" dirty="0">
                <a:latin typeface="Corbel"/>
                <a:cs typeface="Corbel"/>
              </a:rPr>
              <a:t>e</a:t>
            </a:r>
            <a:r>
              <a:rPr lang="en-US" b="1" spc="-15" dirty="0">
                <a:latin typeface="Corbel"/>
                <a:cs typeface="Corbel"/>
              </a:rPr>
              <a:t>x</a:t>
            </a:r>
            <a:r>
              <a:rPr lang="en-US" b="1" spc="-5" dirty="0">
                <a:latin typeface="Corbel"/>
                <a:cs typeface="Corbel"/>
              </a:rPr>
              <a:t>a</a:t>
            </a:r>
            <a:r>
              <a:rPr lang="en-US" b="1" dirty="0">
                <a:latin typeface="Corbel"/>
                <a:cs typeface="Corbel"/>
              </a:rPr>
              <a:t>mp</a:t>
            </a:r>
            <a:r>
              <a:rPr lang="en-US" b="1" spc="-10" dirty="0">
                <a:latin typeface="Corbel"/>
                <a:cs typeface="Corbel"/>
              </a:rPr>
              <a:t>l</a:t>
            </a:r>
            <a:r>
              <a:rPr lang="en-US" b="1" spc="15" dirty="0">
                <a:latin typeface="Corbel"/>
                <a:cs typeface="Corbel"/>
              </a:rPr>
              <a:t>e</a:t>
            </a:r>
            <a:r>
              <a:rPr lang="en-US" b="1" spc="-5" dirty="0">
                <a:latin typeface="Corbel"/>
                <a:cs typeface="Corbel"/>
              </a:rPr>
              <a:t>:</a:t>
            </a:r>
            <a:endParaRPr lang="en-US" dirty="0">
              <a:latin typeface="Corbel"/>
              <a:cs typeface="Corbel"/>
            </a:endParaRPr>
          </a:p>
          <a:p>
            <a:pPr marL="927100" marR="3493770">
              <a:lnSpc>
                <a:spcPct val="140100"/>
              </a:lnSpc>
            </a:pPr>
            <a:r>
              <a:rPr lang="en-US" spc="-10" dirty="0">
                <a:latin typeface="Corbel"/>
                <a:cs typeface="Corbel"/>
              </a:rPr>
              <a:t>float</a:t>
            </a:r>
            <a:r>
              <a:rPr lang="en-US" spc="2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total</a:t>
            </a:r>
            <a:r>
              <a:rPr lang="en-US" spc="-5" dirty="0">
                <a:latin typeface="Corbel"/>
                <a:cs typeface="Corbel"/>
              </a:rPr>
              <a:t> =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100; 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float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&amp;sum</a:t>
            </a:r>
            <a:r>
              <a:rPr lang="en-US" spc="-2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=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total;</a:t>
            </a:r>
            <a:endParaRPr lang="en-US" dirty="0">
              <a:latin typeface="Corbel"/>
              <a:cs typeface="Corbel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078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B37E-D115-EB00-DE1A-502B8E4E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60"/>
            <a:ext cx="10914195" cy="933848"/>
          </a:xfrm>
        </p:spPr>
        <p:txBody>
          <a:bodyPr/>
          <a:lstStyle/>
          <a:p>
            <a:pPr algn="ctr"/>
            <a:r>
              <a:rPr lang="en-IN" spc="-70" dirty="0">
                <a:latin typeface="Corbel"/>
                <a:cs typeface="Corbel"/>
              </a:rPr>
              <a:t>E</a:t>
            </a:r>
            <a:r>
              <a:rPr lang="en-IN" spc="-80" dirty="0">
                <a:latin typeface="Corbel"/>
                <a:cs typeface="Corbel"/>
              </a:rPr>
              <a:t>x</a:t>
            </a:r>
            <a:r>
              <a:rPr lang="en-IN" spc="-90" dirty="0">
                <a:latin typeface="Corbel"/>
                <a:cs typeface="Corbel"/>
              </a:rPr>
              <a:t>a</a:t>
            </a:r>
            <a:r>
              <a:rPr lang="en-IN" spc="-85" dirty="0">
                <a:latin typeface="Corbel"/>
                <a:cs typeface="Corbel"/>
              </a:rPr>
              <a:t>m</a:t>
            </a:r>
            <a:r>
              <a:rPr lang="en-IN" spc="-65" dirty="0">
                <a:latin typeface="Corbel"/>
                <a:cs typeface="Corbel"/>
              </a:rPr>
              <a:t>p</a:t>
            </a:r>
            <a:r>
              <a:rPr lang="en-IN" spc="-70" dirty="0">
                <a:latin typeface="Corbel"/>
                <a:cs typeface="Corbel"/>
              </a:rPr>
              <a:t>l</a:t>
            </a:r>
            <a:r>
              <a:rPr lang="en-IN" dirty="0">
                <a:latin typeface="Corbel"/>
                <a:cs typeface="Corbel"/>
              </a:rPr>
              <a:t>e</a:t>
            </a:r>
            <a:endParaRPr lang="en-IN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DABF193-8D2B-6C58-98E3-42B99A922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969" y="1642439"/>
            <a:ext cx="7126664" cy="445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14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B85B-67FA-B1FD-F522-9BC8FCB3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60"/>
            <a:ext cx="10914195" cy="933848"/>
          </a:xfrm>
        </p:spPr>
        <p:txBody>
          <a:bodyPr/>
          <a:lstStyle/>
          <a:p>
            <a:pPr algn="ctr"/>
            <a:r>
              <a:rPr lang="en-IN" spc="-70" dirty="0">
                <a:latin typeface="Corbel"/>
                <a:cs typeface="Corbel"/>
              </a:rPr>
              <a:t>E</a:t>
            </a:r>
            <a:r>
              <a:rPr lang="en-IN" spc="-80" dirty="0">
                <a:latin typeface="Corbel"/>
                <a:cs typeface="Corbel"/>
              </a:rPr>
              <a:t>n</a:t>
            </a:r>
            <a:r>
              <a:rPr lang="en-IN" spc="-65" dirty="0">
                <a:latin typeface="Corbel"/>
                <a:cs typeface="Corbel"/>
              </a:rPr>
              <a:t>u</a:t>
            </a:r>
            <a:r>
              <a:rPr lang="en-IN" dirty="0">
                <a:latin typeface="Corbel"/>
                <a:cs typeface="Corbel"/>
              </a:rPr>
              <a:t>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74D04-03FE-0704-9501-5A3E773FB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25" y="1866508"/>
            <a:ext cx="10914195" cy="4489842"/>
          </a:xfrm>
        </p:spPr>
        <p:txBody>
          <a:bodyPr>
            <a:normAutofit fontScale="92500" lnSpcReduction="20000"/>
          </a:bodyPr>
          <a:lstStyle/>
          <a:p>
            <a:pPr marL="12700" algn="just">
              <a:lnSpc>
                <a:spcPct val="100000"/>
              </a:lnSpc>
              <a:spcBef>
                <a:spcPts val="1060"/>
              </a:spcBef>
            </a:pPr>
            <a:r>
              <a:rPr lang="en-US" spc="-70" dirty="0">
                <a:latin typeface="Corbel"/>
                <a:cs typeface="Corbel"/>
              </a:rPr>
              <a:t>To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create</a:t>
            </a:r>
            <a:r>
              <a:rPr lang="en-US" spc="2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user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defined</a:t>
            </a:r>
            <a:r>
              <a:rPr lang="en-US" spc="7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type</a:t>
            </a:r>
            <a:r>
              <a:rPr lang="en-US" spc="2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names</a:t>
            </a:r>
            <a:r>
              <a:rPr lang="en-US" spc="2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the</a:t>
            </a:r>
            <a:r>
              <a:rPr lang="en-US" spc="25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keyword</a:t>
            </a:r>
            <a:r>
              <a:rPr lang="en-US" spc="40" dirty="0">
                <a:latin typeface="Corbel"/>
                <a:cs typeface="Corbel"/>
              </a:rPr>
              <a:t> </a:t>
            </a:r>
            <a:r>
              <a:rPr lang="en-US" spc="-10" dirty="0" err="1">
                <a:latin typeface="Corbel"/>
                <a:cs typeface="Corbel"/>
              </a:rPr>
              <a:t>enum</a:t>
            </a:r>
            <a:r>
              <a:rPr lang="en-US" spc="4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is</a:t>
            </a:r>
            <a:r>
              <a:rPr lang="en-US" spc="2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used.</a:t>
            </a:r>
            <a:endParaRPr lang="en-US" dirty="0">
              <a:latin typeface="Corbel"/>
              <a:cs typeface="Corbel"/>
            </a:endParaRPr>
          </a:p>
          <a:p>
            <a:pPr marL="12700" algn="just">
              <a:lnSpc>
                <a:spcPct val="100000"/>
              </a:lnSpc>
              <a:spcBef>
                <a:spcPts val="965"/>
              </a:spcBef>
            </a:pPr>
            <a:r>
              <a:rPr lang="en-US" spc="-5" dirty="0">
                <a:latin typeface="Corbel"/>
                <a:cs typeface="Corbel"/>
              </a:rPr>
              <a:t>An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enumeration</a:t>
            </a:r>
            <a:r>
              <a:rPr lang="en-US" spc="4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is</a:t>
            </a:r>
            <a:r>
              <a:rPr lang="en-US" spc="1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set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of</a:t>
            </a:r>
            <a:r>
              <a:rPr lang="en-US" spc="2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named </a:t>
            </a:r>
            <a:r>
              <a:rPr lang="en-US" spc="-10" dirty="0">
                <a:latin typeface="Corbel"/>
                <a:cs typeface="Corbel"/>
              </a:rPr>
              <a:t>integer</a:t>
            </a:r>
            <a:r>
              <a:rPr lang="en-US" spc="6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constants.</a:t>
            </a:r>
            <a:endParaRPr lang="en-US" dirty="0">
              <a:latin typeface="Corbel"/>
              <a:cs typeface="Corbel"/>
            </a:endParaRPr>
          </a:p>
          <a:p>
            <a:pPr marL="195580" marR="5080" indent="-182880" algn="just">
              <a:lnSpc>
                <a:spcPct val="90100"/>
              </a:lnSpc>
              <a:spcBef>
                <a:spcPts val="1195"/>
              </a:spcBef>
            </a:pPr>
            <a:r>
              <a:rPr lang="en-US" spc="-5" dirty="0">
                <a:latin typeface="Corbel"/>
                <a:cs typeface="Corbel"/>
              </a:rPr>
              <a:t>An enumerated </a:t>
            </a:r>
            <a:r>
              <a:rPr lang="en-US" spc="-10" dirty="0">
                <a:latin typeface="Corbel"/>
                <a:cs typeface="Corbel"/>
              </a:rPr>
              <a:t>data </a:t>
            </a:r>
            <a:r>
              <a:rPr lang="en-US" dirty="0">
                <a:latin typeface="Corbel"/>
                <a:cs typeface="Corbel"/>
              </a:rPr>
              <a:t>type </a:t>
            </a:r>
            <a:r>
              <a:rPr lang="en-US" spc="-5" dirty="0">
                <a:latin typeface="Corbel"/>
                <a:cs typeface="Corbel"/>
              </a:rPr>
              <a:t>provides a way to attach name to </a:t>
            </a:r>
            <a:r>
              <a:rPr lang="en-US" dirty="0">
                <a:latin typeface="Corbel"/>
                <a:cs typeface="Corbel"/>
              </a:rPr>
              <a:t>the 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numbers. </a:t>
            </a:r>
            <a:r>
              <a:rPr lang="en-US" spc="-10" dirty="0">
                <a:latin typeface="Corbel"/>
                <a:cs typeface="Corbel"/>
              </a:rPr>
              <a:t>The keyword </a:t>
            </a:r>
            <a:r>
              <a:rPr lang="en-US" spc="-10" dirty="0" err="1">
                <a:latin typeface="Corbel"/>
                <a:cs typeface="Corbel"/>
              </a:rPr>
              <a:t>enum</a:t>
            </a:r>
            <a:r>
              <a:rPr lang="en-US" spc="-10" dirty="0">
                <a:latin typeface="Corbel"/>
                <a:cs typeface="Corbel"/>
              </a:rPr>
              <a:t> automatically </a:t>
            </a:r>
            <a:r>
              <a:rPr lang="en-US" spc="-5" dirty="0">
                <a:latin typeface="Corbel"/>
                <a:cs typeface="Corbel"/>
              </a:rPr>
              <a:t>enumerates </a:t>
            </a:r>
            <a:r>
              <a:rPr lang="en-US" dirty="0">
                <a:latin typeface="Corbel"/>
                <a:cs typeface="Corbel"/>
              </a:rPr>
              <a:t>the </a:t>
            </a:r>
            <a:r>
              <a:rPr lang="en-US" spc="-10" dirty="0">
                <a:latin typeface="Corbel"/>
                <a:cs typeface="Corbel"/>
              </a:rPr>
              <a:t>list </a:t>
            </a:r>
            <a:r>
              <a:rPr lang="en-US" spc="-15" dirty="0">
                <a:latin typeface="Corbel"/>
                <a:cs typeface="Corbel"/>
              </a:rPr>
              <a:t>of </a:t>
            </a:r>
            <a:r>
              <a:rPr lang="en-US" spc="-10" dirty="0">
                <a:latin typeface="Corbel"/>
                <a:cs typeface="Corbel"/>
              </a:rPr>
              <a:t> words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by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assigning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0,1,2…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and</a:t>
            </a:r>
            <a:r>
              <a:rPr lang="en-US" dirty="0">
                <a:latin typeface="Corbel"/>
                <a:cs typeface="Corbel"/>
              </a:rPr>
              <a:t> so</a:t>
            </a:r>
            <a:r>
              <a:rPr lang="en-US" spc="-2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on.</a:t>
            </a:r>
            <a:endParaRPr lang="en-US" dirty="0">
              <a:latin typeface="Corbel"/>
              <a:cs typeface="Corbel"/>
            </a:endParaRPr>
          </a:p>
          <a:p>
            <a:pPr marL="12700" algn="just">
              <a:lnSpc>
                <a:spcPct val="100000"/>
              </a:lnSpc>
              <a:spcBef>
                <a:spcPts val="965"/>
              </a:spcBef>
            </a:pPr>
            <a:r>
              <a:rPr lang="en-US" spc="-5" dirty="0">
                <a:latin typeface="Corbel"/>
                <a:cs typeface="Corbel"/>
              </a:rPr>
              <a:t>Syntax:</a:t>
            </a:r>
            <a:r>
              <a:rPr lang="en-US" spc="-15" dirty="0">
                <a:latin typeface="Corbel"/>
                <a:cs typeface="Corbel"/>
              </a:rPr>
              <a:t> </a:t>
            </a:r>
            <a:r>
              <a:rPr lang="en-US" b="1" spc="-10" dirty="0" err="1">
                <a:latin typeface="Corbel"/>
                <a:cs typeface="Corbel"/>
              </a:rPr>
              <a:t>enum</a:t>
            </a:r>
            <a:r>
              <a:rPr lang="en-US" b="1" spc="1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name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{List</a:t>
            </a:r>
            <a:r>
              <a:rPr lang="en-US" spc="4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of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names}</a:t>
            </a:r>
            <a:r>
              <a:rPr lang="en-US" spc="1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variables;</a:t>
            </a:r>
            <a:endParaRPr lang="en-US" dirty="0">
              <a:latin typeface="Corbel"/>
              <a:cs typeface="Corbel"/>
            </a:endParaRPr>
          </a:p>
          <a:p>
            <a:pPr marL="12700" algn="just">
              <a:lnSpc>
                <a:spcPct val="100000"/>
              </a:lnSpc>
              <a:spcBef>
                <a:spcPts val="960"/>
              </a:spcBef>
            </a:pPr>
            <a:r>
              <a:rPr lang="en-US" spc="-10" dirty="0">
                <a:latin typeface="Corbel"/>
                <a:cs typeface="Corbel"/>
              </a:rPr>
              <a:t>E</a:t>
            </a:r>
            <a:r>
              <a:rPr lang="en-US" dirty="0">
                <a:latin typeface="Corbel"/>
                <a:cs typeface="Corbel"/>
              </a:rPr>
              <a:t>x</a:t>
            </a:r>
            <a:r>
              <a:rPr lang="en-US" spc="-5" dirty="0">
                <a:latin typeface="Corbel"/>
                <a:cs typeface="Corbel"/>
              </a:rPr>
              <a:t>amp</a:t>
            </a:r>
            <a:r>
              <a:rPr lang="en-US" spc="-15" dirty="0">
                <a:latin typeface="Corbel"/>
                <a:cs typeface="Corbel"/>
              </a:rPr>
              <a:t>l</a:t>
            </a:r>
            <a:r>
              <a:rPr lang="en-US" spc="-10" dirty="0">
                <a:latin typeface="Corbel"/>
                <a:cs typeface="Corbel"/>
              </a:rPr>
              <a:t>e</a:t>
            </a:r>
            <a:r>
              <a:rPr lang="en-US" spc="-5" dirty="0">
                <a:latin typeface="Corbel"/>
                <a:cs typeface="Corbel"/>
              </a:rPr>
              <a:t>:-</a:t>
            </a:r>
            <a:endParaRPr lang="en-US" dirty="0">
              <a:latin typeface="Corbel"/>
              <a:cs typeface="Corbel"/>
            </a:endParaRPr>
          </a:p>
          <a:p>
            <a:pPr marL="927100">
              <a:lnSpc>
                <a:spcPct val="100000"/>
              </a:lnSpc>
              <a:spcBef>
                <a:spcPts val="960"/>
              </a:spcBef>
            </a:pPr>
            <a:r>
              <a:rPr lang="en-US" spc="-5" dirty="0" err="1">
                <a:latin typeface="Corbel"/>
                <a:cs typeface="Corbel"/>
              </a:rPr>
              <a:t>enum</a:t>
            </a:r>
            <a:r>
              <a:rPr lang="en-US" spc="30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color</a:t>
            </a:r>
            <a:r>
              <a:rPr lang="en-US" spc="2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{</a:t>
            </a:r>
            <a:r>
              <a:rPr lang="en-US" spc="-2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red</a:t>
            </a:r>
            <a:r>
              <a:rPr lang="en-US" spc="3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,</a:t>
            </a:r>
            <a:r>
              <a:rPr lang="en-US" spc="-2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green,</a:t>
            </a:r>
            <a:r>
              <a:rPr lang="en-US" spc="3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blue};</a:t>
            </a:r>
            <a:endParaRPr lang="en-US" dirty="0">
              <a:latin typeface="Corbel"/>
              <a:cs typeface="Corbel"/>
            </a:endParaRPr>
          </a:p>
          <a:p>
            <a:pPr marL="927100">
              <a:lnSpc>
                <a:spcPct val="100000"/>
              </a:lnSpc>
              <a:spcBef>
                <a:spcPts val="965"/>
              </a:spcBef>
            </a:pPr>
            <a:r>
              <a:rPr lang="en-US" spc="-15" dirty="0">
                <a:latin typeface="Corbel"/>
                <a:cs typeface="Corbel"/>
              </a:rPr>
              <a:t>color</a:t>
            </a:r>
            <a:r>
              <a:rPr lang="en-US" spc="30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background;</a:t>
            </a:r>
            <a:r>
              <a:rPr lang="en-US" spc="8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//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background</a:t>
            </a:r>
            <a:r>
              <a:rPr lang="en-US" spc="7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is</a:t>
            </a:r>
            <a:r>
              <a:rPr lang="en-US" spc="1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type</a:t>
            </a:r>
            <a:r>
              <a:rPr lang="en-US" spc="3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of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color</a:t>
            </a:r>
            <a:endParaRPr lang="en-US" dirty="0">
              <a:latin typeface="Corbel"/>
              <a:cs typeface="Corbel"/>
            </a:endParaRPr>
          </a:p>
          <a:p>
            <a:pPr marL="927100" marR="2751455">
              <a:lnSpc>
                <a:spcPts val="3360"/>
              </a:lnSpc>
              <a:spcBef>
                <a:spcPts val="100"/>
              </a:spcBef>
            </a:pPr>
            <a:r>
              <a:rPr lang="en-US" spc="-15" dirty="0">
                <a:latin typeface="Corbel"/>
                <a:cs typeface="Corbel"/>
              </a:rPr>
              <a:t>background</a:t>
            </a:r>
            <a:r>
              <a:rPr lang="en-US" spc="5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=</a:t>
            </a:r>
            <a:r>
              <a:rPr lang="en-US" spc="-10" dirty="0">
                <a:latin typeface="Corbel"/>
                <a:cs typeface="Corbel"/>
              </a:rPr>
              <a:t> blue;</a:t>
            </a:r>
            <a:r>
              <a:rPr lang="en-US" spc="5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//</a:t>
            </a:r>
            <a:r>
              <a:rPr lang="en-US" spc="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allowed </a:t>
            </a:r>
            <a:r>
              <a:rPr lang="en-US" spc="-5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b</a:t>
            </a:r>
            <a:r>
              <a:rPr lang="en-US" dirty="0">
                <a:latin typeface="Corbel"/>
                <a:cs typeface="Corbel"/>
              </a:rPr>
              <a:t>a</a:t>
            </a:r>
            <a:r>
              <a:rPr lang="en-US" spc="-15" dirty="0">
                <a:latin typeface="Corbel"/>
                <a:cs typeface="Corbel"/>
              </a:rPr>
              <a:t>c</a:t>
            </a:r>
            <a:r>
              <a:rPr lang="en-US" spc="-65" dirty="0">
                <a:latin typeface="Corbel"/>
                <a:cs typeface="Corbel"/>
              </a:rPr>
              <a:t>k</a:t>
            </a:r>
            <a:r>
              <a:rPr lang="en-US" spc="-5" dirty="0">
                <a:latin typeface="Corbel"/>
                <a:cs typeface="Corbel"/>
              </a:rPr>
              <a:t>grou</a:t>
            </a:r>
            <a:r>
              <a:rPr lang="en-US" spc="5" dirty="0">
                <a:latin typeface="Corbel"/>
                <a:cs typeface="Corbel"/>
              </a:rPr>
              <a:t>n</a:t>
            </a:r>
            <a:r>
              <a:rPr lang="en-US" spc="-5" dirty="0">
                <a:latin typeface="Corbel"/>
                <a:cs typeface="Corbel"/>
              </a:rPr>
              <a:t>d</a:t>
            </a:r>
            <a:r>
              <a:rPr lang="en-US" spc="55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= </a:t>
            </a:r>
            <a:r>
              <a:rPr lang="en-US" spc="5" dirty="0">
                <a:latin typeface="Corbel"/>
                <a:cs typeface="Corbel"/>
              </a:rPr>
              <a:t>7</a:t>
            </a:r>
            <a:r>
              <a:rPr lang="en-US" spc="-5" dirty="0">
                <a:latin typeface="Corbel"/>
                <a:cs typeface="Corbel"/>
              </a:rPr>
              <a:t>;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//</a:t>
            </a:r>
            <a:r>
              <a:rPr lang="en-US" spc="-110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Wa</a:t>
            </a:r>
            <a:r>
              <a:rPr lang="en-US" dirty="0">
                <a:latin typeface="Corbel"/>
                <a:cs typeface="Corbel"/>
              </a:rPr>
              <a:t>r</a:t>
            </a:r>
            <a:r>
              <a:rPr lang="en-US" spc="-5" dirty="0">
                <a:latin typeface="Corbel"/>
                <a:cs typeface="Corbel"/>
              </a:rPr>
              <a:t>n</a:t>
            </a:r>
            <a:r>
              <a:rPr lang="en-US" spc="-15" dirty="0">
                <a:latin typeface="Corbel"/>
                <a:cs typeface="Corbel"/>
              </a:rPr>
              <a:t>i</a:t>
            </a:r>
            <a:r>
              <a:rPr lang="en-US" spc="-5" dirty="0">
                <a:latin typeface="Corbel"/>
                <a:cs typeface="Corbel"/>
              </a:rPr>
              <a:t>ng</a:t>
            </a:r>
            <a:r>
              <a:rPr lang="en-US" spc="10" dirty="0">
                <a:latin typeface="Corbel"/>
                <a:cs typeface="Corbel"/>
              </a:rPr>
              <a:t> </a:t>
            </a:r>
            <a:r>
              <a:rPr lang="en-US" spc="-15" dirty="0">
                <a:latin typeface="Corbel"/>
                <a:cs typeface="Corbel"/>
              </a:rPr>
              <a:t>i</a:t>
            </a:r>
            <a:r>
              <a:rPr lang="en-US" spc="-5" dirty="0">
                <a:latin typeface="Corbel"/>
                <a:cs typeface="Corbel"/>
              </a:rPr>
              <a:t>n</a:t>
            </a:r>
            <a:r>
              <a:rPr lang="en-US" spc="-85" dirty="0">
                <a:latin typeface="Corbel"/>
                <a:cs typeface="Corbel"/>
              </a:rPr>
              <a:t> </a:t>
            </a:r>
            <a:r>
              <a:rPr lang="en-US" spc="-10" dirty="0">
                <a:latin typeface="Corbel"/>
                <a:cs typeface="Corbel"/>
              </a:rPr>
              <a:t>C</a:t>
            </a:r>
            <a:r>
              <a:rPr lang="en-US" dirty="0">
                <a:latin typeface="Corbel"/>
                <a:cs typeface="Corbel"/>
              </a:rPr>
              <a:t>+</a:t>
            </a:r>
            <a:r>
              <a:rPr lang="en-US" spc="-5" dirty="0">
                <a:latin typeface="Corbel"/>
                <a:cs typeface="Corbel"/>
              </a:rPr>
              <a:t>+  </a:t>
            </a:r>
            <a:r>
              <a:rPr lang="en-US" spc="-15" dirty="0">
                <a:latin typeface="Corbel"/>
                <a:cs typeface="Corbel"/>
              </a:rPr>
              <a:t>background</a:t>
            </a:r>
            <a:r>
              <a:rPr lang="en-US" spc="5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= </a:t>
            </a:r>
            <a:r>
              <a:rPr lang="en-US" spc="-20" dirty="0">
                <a:latin typeface="Corbel"/>
                <a:cs typeface="Corbel"/>
              </a:rPr>
              <a:t>(color)</a:t>
            </a:r>
            <a:r>
              <a:rPr lang="en-US" spc="55" dirty="0">
                <a:latin typeface="Corbel"/>
                <a:cs typeface="Corbel"/>
              </a:rPr>
              <a:t> </a:t>
            </a:r>
            <a:r>
              <a:rPr lang="en-US" dirty="0">
                <a:latin typeface="Corbel"/>
                <a:cs typeface="Corbel"/>
              </a:rPr>
              <a:t>7;</a:t>
            </a:r>
            <a:r>
              <a:rPr lang="en-US" spc="-2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//</a:t>
            </a:r>
            <a:r>
              <a:rPr lang="en-US" spc="-60" dirty="0">
                <a:latin typeface="Corbel"/>
                <a:cs typeface="Corbel"/>
              </a:rPr>
              <a:t> </a:t>
            </a:r>
            <a:r>
              <a:rPr lang="en-US" spc="-5" dirty="0">
                <a:latin typeface="Corbel"/>
                <a:cs typeface="Corbel"/>
              </a:rPr>
              <a:t>OK</a:t>
            </a:r>
            <a:endParaRPr lang="en-US" dirty="0">
              <a:latin typeface="Corbel"/>
              <a:cs typeface="Corbe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751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59A1-673D-4A00-77B4-427570DB0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3551"/>
            <a:ext cx="10914195" cy="980982"/>
          </a:xfrm>
        </p:spPr>
        <p:txBody>
          <a:bodyPr/>
          <a:lstStyle/>
          <a:p>
            <a:pPr algn="ctr"/>
            <a:r>
              <a:rPr lang="en-IN" spc="-70" dirty="0"/>
              <a:t>Operators</a:t>
            </a:r>
            <a:endParaRPr lang="en-IN" dirty="0"/>
          </a:p>
        </p:txBody>
      </p:sp>
      <p:pic>
        <p:nvPicPr>
          <p:cNvPr id="5" name="Content Placeholder 4" descr="A table with text and symbols&#10;&#10;AI-generated content may be incorrect.">
            <a:extLst>
              <a:ext uri="{FF2B5EF4-FFF2-40B4-BE49-F238E27FC236}">
                <a16:creationId xmlns:a16="http://schemas.microsoft.com/office/drawing/2014/main" id="{CEDBF27E-0826-9D80-B39F-B0353EA1F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6967" y="1665338"/>
            <a:ext cx="8382261" cy="452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76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3A68-276E-B485-87C2-20014117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50070"/>
            <a:ext cx="10914195" cy="612742"/>
          </a:xfrm>
        </p:spPr>
        <p:txBody>
          <a:bodyPr>
            <a:normAutofit fontScale="90000"/>
          </a:bodyPr>
          <a:lstStyle/>
          <a:p>
            <a:pPr algn="ctr"/>
            <a:r>
              <a:rPr lang="en-IN" spc="-60" dirty="0">
                <a:latin typeface="Corbel"/>
                <a:cs typeface="Corbel"/>
              </a:rPr>
              <a:t>Scope </a:t>
            </a:r>
            <a:r>
              <a:rPr lang="en-IN" spc="-55" dirty="0">
                <a:latin typeface="Corbel"/>
                <a:cs typeface="Corbel"/>
              </a:rPr>
              <a:t> </a:t>
            </a:r>
            <a:r>
              <a:rPr lang="en-IN" spc="-140" dirty="0">
                <a:latin typeface="Corbel"/>
                <a:cs typeface="Corbel"/>
              </a:rPr>
              <a:t>R</a:t>
            </a:r>
            <a:r>
              <a:rPr lang="en-IN" spc="-65" dirty="0">
                <a:latin typeface="Corbel"/>
                <a:cs typeface="Corbel"/>
              </a:rPr>
              <a:t>e</a:t>
            </a:r>
            <a:r>
              <a:rPr lang="en-IN" spc="-70" dirty="0">
                <a:latin typeface="Corbel"/>
                <a:cs typeface="Corbel"/>
              </a:rPr>
              <a:t>s</a:t>
            </a:r>
            <a:r>
              <a:rPr lang="en-IN" spc="-75" dirty="0">
                <a:latin typeface="Corbel"/>
                <a:cs typeface="Corbel"/>
              </a:rPr>
              <a:t>o</a:t>
            </a:r>
            <a:r>
              <a:rPr lang="en-IN" spc="-70" dirty="0">
                <a:latin typeface="Corbel"/>
                <a:cs typeface="Corbel"/>
              </a:rPr>
              <a:t>l</a:t>
            </a:r>
            <a:r>
              <a:rPr lang="en-IN" spc="-65" dirty="0">
                <a:latin typeface="Corbel"/>
                <a:cs typeface="Corbel"/>
              </a:rPr>
              <a:t>u</a:t>
            </a:r>
            <a:r>
              <a:rPr lang="en-IN" spc="-80" dirty="0">
                <a:latin typeface="Corbel"/>
                <a:cs typeface="Corbel"/>
              </a:rPr>
              <a:t>t</a:t>
            </a:r>
            <a:r>
              <a:rPr lang="en-IN" spc="-70" dirty="0">
                <a:latin typeface="Corbel"/>
                <a:cs typeface="Corbel"/>
              </a:rPr>
              <a:t>i</a:t>
            </a:r>
            <a:r>
              <a:rPr lang="en-IN" spc="-75" dirty="0">
                <a:latin typeface="Corbel"/>
                <a:cs typeface="Corbel"/>
              </a:rPr>
              <a:t>o</a:t>
            </a:r>
            <a:r>
              <a:rPr lang="en-IN" dirty="0">
                <a:latin typeface="Corbel"/>
                <a:cs typeface="Corbel"/>
              </a:rPr>
              <a:t>n  </a:t>
            </a:r>
            <a:r>
              <a:rPr lang="en-IN" spc="-65" dirty="0">
                <a:latin typeface="Corbel"/>
                <a:cs typeface="Corbel"/>
              </a:rPr>
              <a:t>Operator</a:t>
            </a:r>
            <a:br>
              <a:rPr lang="en-IN" dirty="0">
                <a:latin typeface="Corbel"/>
                <a:cs typeface="Corbel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9202-CA5F-716C-CA1A-36CDE2547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25" y="1989056"/>
            <a:ext cx="10914195" cy="4367294"/>
          </a:xfrm>
        </p:spPr>
        <p:txBody>
          <a:bodyPr>
            <a:normAutofit fontScale="92500" lnSpcReduction="20000"/>
          </a:bodyPr>
          <a:lstStyle/>
          <a:p>
            <a:r>
              <a:rPr lang="en-US" b="1" spc="-15" dirty="0">
                <a:solidFill>
                  <a:srgbClr val="585858"/>
                </a:solidFill>
                <a:latin typeface="Corbel"/>
                <a:cs typeface="Corbel"/>
              </a:rPr>
              <a:t>Us</a:t>
            </a:r>
            <a:r>
              <a:rPr lang="en-US" b="1" dirty="0">
                <a:solidFill>
                  <a:srgbClr val="585858"/>
                </a:solidFill>
                <a:latin typeface="Corbel"/>
                <a:cs typeface="Corbel"/>
              </a:rPr>
              <a:t>e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1:</a:t>
            </a:r>
            <a:r>
              <a:rPr lang="en-US" b="1" spc="-11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135" dirty="0">
                <a:solidFill>
                  <a:srgbClr val="585858"/>
                </a:solidFill>
                <a:latin typeface="Corbel"/>
                <a:cs typeface="Corbel"/>
              </a:rPr>
              <a:t>T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o a</a:t>
            </a:r>
            <a:r>
              <a:rPr lang="en-US" b="1" spc="-15" dirty="0">
                <a:solidFill>
                  <a:srgbClr val="585858"/>
                </a:solidFill>
                <a:latin typeface="Corbel"/>
                <a:cs typeface="Corbel"/>
              </a:rPr>
              <a:t>c</a:t>
            </a:r>
            <a:r>
              <a:rPr lang="en-US" b="1" dirty="0">
                <a:solidFill>
                  <a:srgbClr val="585858"/>
                </a:solidFill>
                <a:latin typeface="Corbel"/>
                <a:cs typeface="Corbel"/>
              </a:rPr>
              <a:t>ce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ss</a:t>
            </a:r>
            <a:r>
              <a:rPr lang="en-US" b="1" spc="-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g</a:t>
            </a: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loba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l</a:t>
            </a:r>
            <a:r>
              <a:rPr lang="en-US" b="1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v</a:t>
            </a:r>
            <a:r>
              <a:rPr lang="en-US" b="1" spc="5" dirty="0">
                <a:solidFill>
                  <a:srgbClr val="585858"/>
                </a:solidFill>
                <a:latin typeface="Corbel"/>
                <a:cs typeface="Corbel"/>
              </a:rPr>
              <a:t>e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rsion</a:t>
            </a:r>
            <a:r>
              <a:rPr lang="en-US" b="1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of</a:t>
            </a:r>
            <a:r>
              <a:rPr lang="en-US" b="1" spc="1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15" dirty="0">
                <a:solidFill>
                  <a:srgbClr val="585858"/>
                </a:solidFill>
                <a:latin typeface="Corbel"/>
                <a:cs typeface="Corbel"/>
              </a:rPr>
              <a:t>d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a</a:t>
            </a:r>
            <a:r>
              <a:rPr lang="en-US" b="1" spc="-20" dirty="0">
                <a:solidFill>
                  <a:srgbClr val="585858"/>
                </a:solidFill>
                <a:latin typeface="Corbel"/>
                <a:cs typeface="Corbel"/>
              </a:rPr>
              <a:t>t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a</a:t>
            </a:r>
          </a:p>
          <a:p>
            <a:r>
              <a:rPr lang="en-US" spc="-25" dirty="0"/>
              <a:t>Like </a:t>
            </a:r>
            <a:r>
              <a:rPr lang="en-US" spc="-5" dirty="0"/>
              <a:t>C,</a:t>
            </a:r>
            <a:r>
              <a:rPr lang="en-US" spc="-85" dirty="0"/>
              <a:t> </a:t>
            </a:r>
            <a:r>
              <a:rPr lang="en-US" spc="-5" dirty="0"/>
              <a:t>C++ </a:t>
            </a:r>
            <a:r>
              <a:rPr lang="en-US" spc="-10" dirty="0"/>
              <a:t>is</a:t>
            </a:r>
            <a:r>
              <a:rPr lang="en-US" spc="15" dirty="0"/>
              <a:t> </a:t>
            </a:r>
            <a:r>
              <a:rPr lang="en-US" spc="-5" dirty="0"/>
              <a:t>also</a:t>
            </a:r>
            <a:r>
              <a:rPr lang="en-US" spc="-20" dirty="0"/>
              <a:t> </a:t>
            </a:r>
            <a:r>
              <a:rPr lang="en-US" spc="-5" dirty="0"/>
              <a:t>a</a:t>
            </a:r>
            <a:r>
              <a:rPr lang="en-US" spc="30" dirty="0"/>
              <a:t> </a:t>
            </a:r>
            <a:r>
              <a:rPr lang="en-US" b="1" spc="-10" dirty="0">
                <a:latin typeface="Corbel"/>
                <a:cs typeface="Corbel"/>
              </a:rPr>
              <a:t>block-structured</a:t>
            </a:r>
            <a:r>
              <a:rPr lang="en-US" b="1" spc="60" dirty="0">
                <a:latin typeface="Corbel"/>
                <a:cs typeface="Corbel"/>
              </a:rPr>
              <a:t> </a:t>
            </a:r>
            <a:r>
              <a:rPr lang="en-US" b="1" spc="-5" dirty="0">
                <a:latin typeface="Corbel"/>
                <a:cs typeface="Corbel"/>
              </a:rPr>
              <a:t>language</a:t>
            </a:r>
            <a:r>
              <a:rPr lang="en-US" spc="-5" dirty="0"/>
              <a:t>.</a:t>
            </a:r>
            <a:r>
              <a:rPr lang="en-US" spc="-15" dirty="0"/>
              <a:t> Blocks</a:t>
            </a:r>
            <a:r>
              <a:rPr lang="en-US" spc="65" dirty="0"/>
              <a:t> </a:t>
            </a:r>
            <a:r>
              <a:rPr lang="en-US" spc="-5" dirty="0"/>
              <a:t>and</a:t>
            </a:r>
            <a:r>
              <a:rPr lang="en-US" spc="-20" dirty="0"/>
              <a:t> </a:t>
            </a:r>
            <a:r>
              <a:rPr lang="en-US" spc="-10" dirty="0"/>
              <a:t>scopes</a:t>
            </a:r>
          </a:p>
          <a:p>
            <a:pPr marL="0" indent="0">
              <a:buNone/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can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be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used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in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constructing</a:t>
            </a:r>
            <a:r>
              <a:rPr lang="en-US" spc="3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programs.</a:t>
            </a:r>
          </a:p>
          <a:p>
            <a:pPr marL="12700">
              <a:lnSpc>
                <a:spcPts val="2280"/>
              </a:lnSpc>
              <a:spcBef>
                <a:spcPts val="95"/>
              </a:spcBef>
            </a:pP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Same</a:t>
            </a:r>
            <a:r>
              <a:rPr lang="en-US" b="1" spc="-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variable</a:t>
            </a:r>
            <a:r>
              <a:rPr lang="en-US" b="1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name</a:t>
            </a:r>
            <a:r>
              <a:rPr lang="en-US" b="1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can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 be</a:t>
            </a:r>
            <a:r>
              <a:rPr lang="en-US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used</a:t>
            </a:r>
            <a:r>
              <a:rPr lang="en-US" spc="4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to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have</a:t>
            </a:r>
            <a:r>
              <a:rPr lang="en-US" spc="4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different</a:t>
            </a:r>
            <a:r>
              <a:rPr lang="en-US" b="1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meanings</a:t>
            </a:r>
            <a:r>
              <a:rPr lang="en-US" b="1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in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different</a:t>
            </a: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blocks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.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scope</a:t>
            </a:r>
            <a:r>
              <a:rPr lang="en-US" b="1" spc="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of</a:t>
            </a:r>
            <a:r>
              <a:rPr lang="en-US" b="1" spc="3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15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b="1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variable</a:t>
            </a:r>
            <a:r>
              <a:rPr lang="en-US" b="1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extends</a:t>
            </a:r>
            <a:r>
              <a:rPr lang="en-US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from</a:t>
            </a:r>
            <a:r>
              <a:rPr lang="en-US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point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of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its</a:t>
            </a:r>
            <a:r>
              <a:rPr lang="en-US" dirty="0"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declaration</a:t>
            </a:r>
            <a:r>
              <a:rPr lang="en-US" spc="6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till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end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of the</a:t>
            </a:r>
            <a:r>
              <a:rPr lang="en-US" spc="2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block</a:t>
            </a:r>
            <a:r>
              <a:rPr lang="en-US" spc="4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containing</a:t>
            </a:r>
            <a:r>
              <a:rPr lang="en-US" spc="3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declaration.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Scope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resolution</a:t>
            </a:r>
            <a:r>
              <a:rPr lang="en-US" spc="6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operator</a:t>
            </a:r>
            <a:r>
              <a:rPr lang="en-US" spc="4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allows</a:t>
            </a:r>
            <a:r>
              <a:rPr lang="en-US" b="1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access</a:t>
            </a:r>
            <a:r>
              <a:rPr lang="en-US" b="1" spc="-15" dirty="0">
                <a:solidFill>
                  <a:srgbClr val="585858"/>
                </a:solidFill>
                <a:latin typeface="Corbel"/>
                <a:cs typeface="Corbel"/>
              </a:rPr>
              <a:t> to</a:t>
            </a:r>
            <a:r>
              <a:rPr lang="en-US" b="1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15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b="1" spc="4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global</a:t>
            </a:r>
            <a:r>
              <a:rPr lang="en-US" b="1" spc="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version</a:t>
            </a:r>
            <a:r>
              <a:rPr lang="en-US" b="1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of a</a:t>
            </a:r>
            <a:r>
              <a:rPr lang="en-US" b="1" spc="-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variable.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hi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s</a:t>
            </a:r>
            <a:r>
              <a:rPr lang="en-US" spc="1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20" dirty="0">
                <a:solidFill>
                  <a:srgbClr val="585858"/>
                </a:solidFill>
                <a:latin typeface="Corbel"/>
                <a:cs typeface="Corbel"/>
              </a:rPr>
              <a:t>c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an</a:t>
            </a:r>
            <a:r>
              <a:rPr lang="en-US" spc="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20" dirty="0">
                <a:solidFill>
                  <a:srgbClr val="585858"/>
                </a:solidFill>
                <a:latin typeface="Corbel"/>
                <a:cs typeface="Corbel"/>
              </a:rPr>
              <a:t>b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e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u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s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e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d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o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unc</a:t>
            </a:r>
            <a:r>
              <a:rPr lang="en-US" spc="-20" dirty="0">
                <a:solidFill>
                  <a:srgbClr val="585858"/>
                </a:solidFill>
                <a:latin typeface="Corbel"/>
                <a:cs typeface="Corbel"/>
              </a:rPr>
              <a:t>o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ve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r</a:t>
            </a:r>
            <a:r>
              <a:rPr lang="en-US" spc="5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a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h</a:t>
            </a:r>
            <a:r>
              <a:rPr lang="en-US" spc="-20" dirty="0">
                <a:solidFill>
                  <a:srgbClr val="585858"/>
                </a:solidFill>
                <a:latin typeface="Corbel"/>
                <a:cs typeface="Corbel"/>
              </a:rPr>
              <a:t>idd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e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n</a:t>
            </a:r>
            <a:r>
              <a:rPr lang="en-US" spc="8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v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aria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ble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.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S</a:t>
            </a:r>
            <a:r>
              <a:rPr lang="en-US" b="1" dirty="0">
                <a:solidFill>
                  <a:srgbClr val="585858"/>
                </a:solidFill>
                <a:latin typeface="Corbel"/>
                <a:cs typeface="Corbel"/>
              </a:rPr>
              <a:t>y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n</a:t>
            </a:r>
            <a:r>
              <a:rPr lang="en-US" b="1" spc="-20" dirty="0">
                <a:solidFill>
                  <a:srgbClr val="585858"/>
                </a:solidFill>
                <a:latin typeface="Corbel"/>
                <a:cs typeface="Corbel"/>
              </a:rPr>
              <a:t>t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a</a:t>
            </a: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x:</a:t>
            </a:r>
            <a:endParaRPr lang="en-US" dirty="0">
              <a:latin typeface="Corbel"/>
              <a:cs typeface="Corbel"/>
            </a:endParaRPr>
          </a:p>
          <a:p>
            <a:pPr marL="927100">
              <a:lnSpc>
                <a:spcPct val="100000"/>
              </a:lnSpc>
              <a:spcBef>
                <a:spcPts val="965"/>
              </a:spcBef>
            </a:pP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::</a:t>
            </a:r>
            <a:r>
              <a:rPr lang="en-US" b="1" spc="-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b="1" spc="-5" dirty="0">
                <a:solidFill>
                  <a:srgbClr val="585858"/>
                </a:solidFill>
                <a:latin typeface="Corbel"/>
                <a:cs typeface="Corbel"/>
              </a:rPr>
              <a:t>variable-name</a:t>
            </a:r>
            <a:endParaRPr lang="en-US" dirty="0">
              <a:latin typeface="Corbel"/>
              <a:cs typeface="Corbel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858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8B42-0572-9766-B2D4-CFF865851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638" y="1168330"/>
            <a:ext cx="10914195" cy="886714"/>
          </a:xfrm>
        </p:spPr>
        <p:txBody>
          <a:bodyPr/>
          <a:lstStyle/>
          <a:p>
            <a:pPr algn="ctr"/>
            <a:r>
              <a:rPr lang="en-IN" spc="-60" dirty="0">
                <a:latin typeface="Corbel"/>
                <a:cs typeface="Corbel"/>
              </a:rPr>
              <a:t>Scope </a:t>
            </a:r>
            <a:r>
              <a:rPr lang="en-IN" spc="-55" dirty="0">
                <a:latin typeface="Corbel"/>
                <a:cs typeface="Corbel"/>
              </a:rPr>
              <a:t> </a:t>
            </a:r>
            <a:r>
              <a:rPr lang="en-IN" spc="-140" dirty="0">
                <a:latin typeface="Corbel"/>
                <a:cs typeface="Corbel"/>
              </a:rPr>
              <a:t>R</a:t>
            </a:r>
            <a:r>
              <a:rPr lang="en-IN" spc="-65" dirty="0">
                <a:latin typeface="Corbel"/>
                <a:cs typeface="Corbel"/>
              </a:rPr>
              <a:t>e</a:t>
            </a:r>
            <a:r>
              <a:rPr lang="en-IN" spc="-70" dirty="0">
                <a:latin typeface="Corbel"/>
                <a:cs typeface="Corbel"/>
              </a:rPr>
              <a:t>s</a:t>
            </a:r>
            <a:r>
              <a:rPr lang="en-IN" spc="-75" dirty="0">
                <a:latin typeface="Corbel"/>
                <a:cs typeface="Corbel"/>
              </a:rPr>
              <a:t>o</a:t>
            </a:r>
            <a:r>
              <a:rPr lang="en-IN" spc="-70" dirty="0">
                <a:latin typeface="Corbel"/>
                <a:cs typeface="Corbel"/>
              </a:rPr>
              <a:t>l</a:t>
            </a:r>
            <a:r>
              <a:rPr lang="en-IN" spc="-65" dirty="0">
                <a:latin typeface="Corbel"/>
                <a:cs typeface="Corbel"/>
              </a:rPr>
              <a:t>u</a:t>
            </a:r>
            <a:r>
              <a:rPr lang="en-IN" spc="-80" dirty="0">
                <a:latin typeface="Corbel"/>
                <a:cs typeface="Corbel"/>
              </a:rPr>
              <a:t>t</a:t>
            </a:r>
            <a:r>
              <a:rPr lang="en-IN" spc="-70" dirty="0">
                <a:latin typeface="Corbel"/>
                <a:cs typeface="Corbel"/>
              </a:rPr>
              <a:t>i</a:t>
            </a:r>
            <a:r>
              <a:rPr lang="en-IN" spc="-75" dirty="0">
                <a:latin typeface="Corbel"/>
                <a:cs typeface="Corbel"/>
              </a:rPr>
              <a:t>o</a:t>
            </a:r>
            <a:r>
              <a:rPr lang="en-IN" dirty="0">
                <a:latin typeface="Corbel"/>
                <a:cs typeface="Corbel"/>
              </a:rPr>
              <a:t>n  </a:t>
            </a:r>
            <a:r>
              <a:rPr lang="en-IN" spc="-65" dirty="0">
                <a:latin typeface="Corbel"/>
                <a:cs typeface="Corbel"/>
              </a:rPr>
              <a:t>Operator</a:t>
            </a:r>
            <a:endParaRPr lang="en-IN" dirty="0"/>
          </a:p>
        </p:txBody>
      </p:sp>
      <p:pic>
        <p:nvPicPr>
          <p:cNvPr id="5" name="Content Placeholder 4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101F1BF9-8923-F9B8-BC15-1633B1E3C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9506" y="2277879"/>
            <a:ext cx="6950074" cy="389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3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32FB5-D684-0EC0-BD67-F0FA60D7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58" y="1356866"/>
            <a:ext cx="10914195" cy="537922"/>
          </a:xfrm>
        </p:spPr>
        <p:txBody>
          <a:bodyPr>
            <a:normAutofit fontScale="90000"/>
          </a:bodyPr>
          <a:lstStyle/>
          <a:p>
            <a:pPr algn="ctr"/>
            <a:r>
              <a:rPr lang="en-IN" spc="-114" dirty="0">
                <a:latin typeface="Corbel"/>
                <a:cs typeface="Corbel"/>
              </a:rPr>
              <a:t>Type </a:t>
            </a:r>
            <a:r>
              <a:rPr lang="en-IN" spc="-110" dirty="0">
                <a:latin typeface="Corbel"/>
                <a:cs typeface="Corbel"/>
              </a:rPr>
              <a:t> </a:t>
            </a:r>
            <a:r>
              <a:rPr lang="en-IN" spc="-85" dirty="0">
                <a:latin typeface="Corbel"/>
                <a:cs typeface="Corbel"/>
              </a:rPr>
              <a:t>C</a:t>
            </a:r>
            <a:r>
              <a:rPr lang="en-IN" spc="-75" dirty="0">
                <a:latin typeface="Corbel"/>
                <a:cs typeface="Corbel"/>
              </a:rPr>
              <a:t>on</a:t>
            </a:r>
            <a:r>
              <a:rPr lang="en-IN" spc="-80" dirty="0">
                <a:latin typeface="Corbel"/>
                <a:cs typeface="Corbel"/>
              </a:rPr>
              <a:t>v</a:t>
            </a:r>
            <a:r>
              <a:rPr lang="en-IN" spc="-65" dirty="0">
                <a:latin typeface="Corbel"/>
                <a:cs typeface="Corbel"/>
              </a:rPr>
              <a:t>e</a:t>
            </a:r>
            <a:r>
              <a:rPr lang="en-IN" spc="-80" dirty="0">
                <a:latin typeface="Corbel"/>
                <a:cs typeface="Corbel"/>
              </a:rPr>
              <a:t>r</a:t>
            </a:r>
            <a:r>
              <a:rPr lang="en-IN" spc="-65" dirty="0">
                <a:latin typeface="Corbel"/>
                <a:cs typeface="Corbel"/>
              </a:rPr>
              <a:t>s</a:t>
            </a:r>
            <a:r>
              <a:rPr lang="en-IN" spc="-70" dirty="0">
                <a:latin typeface="Corbel"/>
                <a:cs typeface="Corbel"/>
              </a:rPr>
              <a:t>i</a:t>
            </a:r>
            <a:r>
              <a:rPr lang="en-IN" spc="-75" dirty="0">
                <a:latin typeface="Corbel"/>
                <a:cs typeface="Corbel"/>
              </a:rPr>
              <a:t>o</a:t>
            </a:r>
            <a:r>
              <a:rPr lang="en-IN" dirty="0">
                <a:latin typeface="Corbel"/>
                <a:cs typeface="Corbel"/>
              </a:rPr>
              <a:t>n</a:t>
            </a:r>
            <a:br>
              <a:rPr lang="en-IN" dirty="0">
                <a:latin typeface="Corbel"/>
                <a:cs typeface="Corbel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03201-6D78-BD50-79A8-450E91F58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pc="-40" dirty="0"/>
              <a:t>Type</a:t>
            </a:r>
            <a:r>
              <a:rPr lang="en-US" spc="25" dirty="0"/>
              <a:t> </a:t>
            </a:r>
            <a:r>
              <a:rPr lang="en-US" spc="-10" dirty="0"/>
              <a:t>conversion</a:t>
            </a:r>
            <a:r>
              <a:rPr lang="en-US" spc="30" dirty="0"/>
              <a:t> </a:t>
            </a:r>
            <a:r>
              <a:rPr lang="en-US" spc="-15" dirty="0"/>
              <a:t>occurs</a:t>
            </a:r>
            <a:r>
              <a:rPr lang="en-US" spc="40" dirty="0"/>
              <a:t> </a:t>
            </a:r>
            <a:r>
              <a:rPr lang="en-US" spc="-10" dirty="0"/>
              <a:t>when</a:t>
            </a:r>
            <a:r>
              <a:rPr lang="en-US" spc="35" dirty="0"/>
              <a:t> </a:t>
            </a:r>
            <a:r>
              <a:rPr lang="en-US" spc="-10" dirty="0"/>
              <a:t>the</a:t>
            </a:r>
            <a:r>
              <a:rPr lang="en-US" spc="20" dirty="0"/>
              <a:t> </a:t>
            </a:r>
            <a:r>
              <a:rPr lang="en-US" spc="-10" dirty="0"/>
              <a:t>expression</a:t>
            </a:r>
            <a:r>
              <a:rPr lang="en-US" spc="30" dirty="0"/>
              <a:t> </a:t>
            </a:r>
            <a:r>
              <a:rPr lang="en-US" spc="-10" dirty="0"/>
              <a:t>has</a:t>
            </a:r>
            <a:r>
              <a:rPr lang="en-US" spc="15" dirty="0"/>
              <a:t> </a:t>
            </a:r>
            <a:r>
              <a:rPr lang="en-US" spc="-10" dirty="0"/>
              <a:t>data</a:t>
            </a:r>
            <a:r>
              <a:rPr lang="en-US" spc="-5" dirty="0"/>
              <a:t> </a:t>
            </a:r>
            <a:r>
              <a:rPr lang="en-US" spc="-10" dirty="0"/>
              <a:t>of</a:t>
            </a:r>
            <a:r>
              <a:rPr lang="en-US" spc="10" dirty="0"/>
              <a:t> </a:t>
            </a:r>
            <a:r>
              <a:rPr lang="en-US" spc="-5" dirty="0"/>
              <a:t>mixed </a:t>
            </a:r>
            <a:r>
              <a:rPr lang="en-US" dirty="0"/>
              <a:t> </a:t>
            </a:r>
            <a:r>
              <a:rPr lang="en-US" spc="-10" dirty="0"/>
              <a:t>data</a:t>
            </a:r>
            <a:r>
              <a:rPr lang="en-US" spc="15" dirty="0"/>
              <a:t> </a:t>
            </a:r>
            <a:r>
              <a:rPr lang="en-US" spc="-5" dirty="0"/>
              <a:t>types.</a:t>
            </a:r>
            <a:r>
              <a:rPr lang="en-US" spc="10" dirty="0"/>
              <a:t> </a:t>
            </a:r>
            <a:r>
              <a:rPr lang="en-US" spc="-5" dirty="0"/>
              <a:t>Example</a:t>
            </a:r>
            <a:r>
              <a:rPr lang="en-US" spc="20" dirty="0"/>
              <a:t> </a:t>
            </a:r>
            <a:r>
              <a:rPr lang="en-US" spc="-10" dirty="0"/>
              <a:t>of</a:t>
            </a:r>
            <a:r>
              <a:rPr lang="en-US" spc="15" dirty="0"/>
              <a:t> </a:t>
            </a:r>
            <a:r>
              <a:rPr lang="en-US" spc="-5" dirty="0"/>
              <a:t>such</a:t>
            </a:r>
            <a:r>
              <a:rPr lang="en-US" spc="-10" dirty="0"/>
              <a:t> </a:t>
            </a:r>
            <a:r>
              <a:rPr lang="en-US" spc="-5" dirty="0"/>
              <a:t>expression</a:t>
            </a:r>
            <a:r>
              <a:rPr lang="en-US" spc="50" dirty="0"/>
              <a:t> </a:t>
            </a:r>
            <a:r>
              <a:rPr lang="en-US" spc="-10" dirty="0"/>
              <a:t>include</a:t>
            </a:r>
            <a:r>
              <a:rPr lang="en-US" spc="40" dirty="0"/>
              <a:t> </a:t>
            </a:r>
            <a:r>
              <a:rPr lang="en-US" spc="-10" dirty="0"/>
              <a:t>converting</a:t>
            </a:r>
            <a:r>
              <a:rPr lang="en-US" spc="50" dirty="0"/>
              <a:t> </a:t>
            </a:r>
            <a:r>
              <a:rPr lang="en-US" spc="-5" dirty="0"/>
              <a:t>an </a:t>
            </a:r>
            <a:r>
              <a:rPr lang="en-US" dirty="0"/>
              <a:t> </a:t>
            </a:r>
            <a:r>
              <a:rPr lang="en-US" spc="-10" dirty="0"/>
              <a:t>integer</a:t>
            </a:r>
            <a:r>
              <a:rPr lang="en-US" spc="50" dirty="0"/>
              <a:t> </a:t>
            </a:r>
            <a:r>
              <a:rPr lang="en-US" spc="-10" dirty="0"/>
              <a:t>value</a:t>
            </a:r>
            <a:r>
              <a:rPr lang="en-US" spc="35" dirty="0"/>
              <a:t> </a:t>
            </a:r>
            <a:r>
              <a:rPr lang="en-US" spc="-10" dirty="0"/>
              <a:t>into</a:t>
            </a:r>
            <a:r>
              <a:rPr lang="en-US" spc="5" dirty="0"/>
              <a:t> </a:t>
            </a:r>
            <a:r>
              <a:rPr lang="en-US" spc="-5" dirty="0"/>
              <a:t>a</a:t>
            </a:r>
            <a:r>
              <a:rPr lang="en-US" spc="-10" dirty="0"/>
              <a:t> float</a:t>
            </a:r>
            <a:r>
              <a:rPr lang="en-US" spc="40" dirty="0"/>
              <a:t> </a:t>
            </a:r>
            <a:r>
              <a:rPr lang="en-US" spc="-10" dirty="0"/>
              <a:t>value.</a:t>
            </a:r>
          </a:p>
          <a:p>
            <a:pPr marL="195580" marR="5080" indent="-182880">
              <a:spcBef>
                <a:spcPts val="334"/>
              </a:spcBef>
            </a:pP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In</a:t>
            </a:r>
            <a:r>
              <a:rPr lang="en-US" spc="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type</a:t>
            </a:r>
            <a:r>
              <a:rPr lang="en-US" spc="1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conversion,</a:t>
            </a:r>
            <a:r>
              <a:rPr lang="en-US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the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data</a:t>
            </a:r>
            <a:r>
              <a:rPr lang="en-US" spc="1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type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is promoted</a:t>
            </a:r>
            <a:r>
              <a:rPr lang="en-US" spc="6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from</a:t>
            </a:r>
            <a:r>
              <a:rPr lang="en-US" spc="3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lower</a:t>
            </a:r>
            <a:r>
              <a:rPr lang="en-US" spc="3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to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higher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because</a:t>
            </a:r>
            <a:r>
              <a:rPr lang="en-US" spc="4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converting</a:t>
            </a:r>
            <a:r>
              <a:rPr lang="en-US" spc="7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higher</a:t>
            </a:r>
            <a:r>
              <a:rPr lang="en-US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to</a:t>
            </a:r>
            <a:r>
              <a:rPr lang="en-US" spc="3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lower</a:t>
            </a:r>
            <a:r>
              <a:rPr lang="en-US" spc="3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5" dirty="0">
                <a:solidFill>
                  <a:srgbClr val="585858"/>
                </a:solidFill>
                <a:latin typeface="Corbel"/>
                <a:cs typeface="Corbel"/>
              </a:rPr>
              <a:t>involves</a:t>
            </a:r>
            <a:r>
              <a:rPr lang="en-US" spc="65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loss</a:t>
            </a:r>
            <a:r>
              <a:rPr lang="en-US" spc="2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of precision</a:t>
            </a:r>
            <a:r>
              <a:rPr lang="en-US" spc="50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and </a:t>
            </a:r>
            <a:r>
              <a:rPr lang="en-US" dirty="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lang="en-US" spc="-10" dirty="0">
                <a:solidFill>
                  <a:srgbClr val="585858"/>
                </a:solidFill>
                <a:latin typeface="Corbel"/>
                <a:cs typeface="Corbel"/>
              </a:rPr>
              <a:t>value.</a:t>
            </a:r>
            <a:endParaRPr lang="en-US" dirty="0">
              <a:latin typeface="Corbel"/>
              <a:cs typeface="Corbel"/>
            </a:endParaRPr>
          </a:p>
          <a:p>
            <a:pPr marL="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pc="-26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lang="en-US" b="1" spc="-10" dirty="0">
                <a:solidFill>
                  <a:srgbClr val="585858"/>
                </a:solidFill>
                <a:latin typeface="Corbel"/>
                <a:cs typeface="Corbel"/>
              </a:rPr>
              <a:t>double&gt;float&gt;long&gt;int&gt;short&gt;char</a:t>
            </a:r>
            <a:endParaRPr lang="en-US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lang="en-US" spc="-5" dirty="0">
                <a:solidFill>
                  <a:srgbClr val="585858"/>
                </a:solidFill>
                <a:latin typeface="Corbel"/>
                <a:cs typeface="Corbel"/>
              </a:rPr>
              <a:t>Ex:</a:t>
            </a:r>
            <a:endParaRPr lang="en-US" dirty="0">
              <a:latin typeface="Corbel"/>
              <a:cs typeface="Corbel"/>
            </a:endParaRPr>
          </a:p>
          <a:p>
            <a:endParaRPr lang="en-IN" dirty="0"/>
          </a:p>
        </p:txBody>
      </p:sp>
      <p:pic>
        <p:nvPicPr>
          <p:cNvPr id="5" name="Picture 4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CCE634A2-D061-5DCC-1BF4-656CAF4B6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488" y="5110852"/>
            <a:ext cx="3629735" cy="124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5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E529-BD1F-EA80-BA3A-4E9F7E4E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59"/>
            <a:ext cx="10914195" cy="773593"/>
          </a:xfrm>
        </p:spPr>
        <p:txBody>
          <a:bodyPr/>
          <a:lstStyle/>
          <a:p>
            <a:pPr algn="ctr"/>
            <a:r>
              <a:rPr lang="en-US" b="1" dirty="0"/>
              <a:t>Type conversion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E5783-91EA-367D-E139-53B00DF33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25" y="1923068"/>
            <a:ext cx="10914195" cy="443328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Type conversion</a:t>
            </a:r>
            <a:r>
              <a:rPr lang="en-US" dirty="0"/>
              <a:t> in C++ is the process of converting a value from </a:t>
            </a:r>
            <a:r>
              <a:rPr lang="en-US" b="1" dirty="0"/>
              <a:t>one data type to another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mainly classified into:</a:t>
            </a:r>
          </a:p>
          <a:p>
            <a:r>
              <a:rPr lang="en-US" b="1" dirty="0"/>
              <a:t>Implicit Type Conversion (Automatic): </a:t>
            </a:r>
            <a:r>
              <a:rPr lang="en-US" dirty="0"/>
              <a:t>The compiler automatically converts one data type into another without programmer intervention. </a:t>
            </a:r>
          </a:p>
          <a:p>
            <a:pPr marL="0" indent="0">
              <a:buNone/>
            </a:pPr>
            <a:r>
              <a:rPr lang="en-US" dirty="0"/>
              <a:t>Eg: </a:t>
            </a:r>
          </a:p>
          <a:p>
            <a:pPr marL="0" indent="0">
              <a:buNone/>
            </a:pPr>
            <a:r>
              <a:rPr lang="en-US" dirty="0"/>
              <a:t>int a = 10;</a:t>
            </a:r>
          </a:p>
          <a:p>
            <a:pPr marL="0" indent="0">
              <a:buNone/>
            </a:pPr>
            <a:r>
              <a:rPr lang="en-US" dirty="0"/>
              <a:t>float b = a; </a:t>
            </a:r>
          </a:p>
          <a:p>
            <a:r>
              <a:rPr lang="en-US" b="1" dirty="0"/>
              <a:t>Explicit Type Conversion (Type Casting): </a:t>
            </a:r>
            <a:r>
              <a:rPr lang="en-US" dirty="0"/>
              <a:t>The </a:t>
            </a:r>
            <a:r>
              <a:rPr lang="en-US" b="1" dirty="0"/>
              <a:t>programmer explicitly forces</a:t>
            </a:r>
            <a:r>
              <a:rPr lang="en-US" dirty="0"/>
              <a:t> conversion of one data type to another.</a:t>
            </a:r>
          </a:p>
          <a:p>
            <a:pPr marL="0" indent="0">
              <a:buNone/>
            </a:pPr>
            <a:r>
              <a:rPr lang="es-ES" dirty="0" err="1"/>
              <a:t>Eg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dirty="0" err="1"/>
              <a:t>int</a:t>
            </a:r>
            <a:r>
              <a:rPr lang="es-ES" dirty="0"/>
              <a:t> x = 10, y = 3;</a:t>
            </a:r>
          </a:p>
          <a:p>
            <a:pPr marL="0" indent="0">
              <a:buNone/>
            </a:pPr>
            <a:r>
              <a:rPr lang="es-ES" dirty="0" err="1"/>
              <a:t>float</a:t>
            </a:r>
            <a:r>
              <a:rPr lang="es-ES" dirty="0"/>
              <a:t> </a:t>
            </a:r>
            <a:r>
              <a:rPr lang="es-ES" dirty="0" err="1"/>
              <a:t>result</a:t>
            </a:r>
            <a:r>
              <a:rPr lang="es-ES" dirty="0"/>
              <a:t> = (</a:t>
            </a:r>
            <a:r>
              <a:rPr lang="es-ES" dirty="0" err="1"/>
              <a:t>float</a:t>
            </a:r>
            <a:r>
              <a:rPr lang="es-ES" dirty="0"/>
              <a:t>)x / y;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934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5BDD-9F55-BC2F-F0BB-F913AA3A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60"/>
            <a:ext cx="10914195" cy="886714"/>
          </a:xfrm>
        </p:spPr>
        <p:txBody>
          <a:bodyPr/>
          <a:lstStyle/>
          <a:p>
            <a:pPr algn="ctr"/>
            <a:r>
              <a:rPr lang="en-IN" dirty="0"/>
              <a:t>Inline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BAC28-DEAA-DDB4-4E0C-B70341DEA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67" y="1781668"/>
            <a:ext cx="10914195" cy="88671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An </a:t>
            </a:r>
            <a:r>
              <a:rPr lang="en-US" b="1" dirty="0"/>
              <a:t>inline function</a:t>
            </a:r>
            <a:r>
              <a:rPr lang="en-US" dirty="0"/>
              <a:t> is a function for which the </a:t>
            </a:r>
            <a:r>
              <a:rPr lang="en-US" b="1" dirty="0"/>
              <a:t>compiler replaces the function call with the actual function code</a:t>
            </a:r>
            <a:r>
              <a:rPr lang="en-US" dirty="0"/>
              <a:t> at the time of compilation.</a:t>
            </a:r>
            <a:endParaRPr lang="en-IN" dirty="0"/>
          </a:p>
        </p:txBody>
      </p:sp>
      <p:pic>
        <p:nvPicPr>
          <p:cNvPr id="7" name="Picture 6" descr="A diagram of a function&#10;&#10;AI-generated content may be incorrect.">
            <a:extLst>
              <a:ext uri="{FF2B5EF4-FFF2-40B4-BE49-F238E27FC236}">
                <a16:creationId xmlns:a16="http://schemas.microsoft.com/office/drawing/2014/main" id="{D5D7ACEB-C164-E2C5-B669-92C60B685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1" y="2960493"/>
            <a:ext cx="4761916" cy="3093869"/>
          </a:xfrm>
          <a:prstGeom prst="rect">
            <a:avLst/>
          </a:prstGeom>
        </p:spPr>
      </p:pic>
      <p:pic>
        <p:nvPicPr>
          <p:cNvPr id="9" name="Picture 8" descr="A diagram of a function&#10;&#10;AI-generated content may be incorrect.">
            <a:extLst>
              <a:ext uri="{FF2B5EF4-FFF2-40B4-BE49-F238E27FC236}">
                <a16:creationId xmlns:a16="http://schemas.microsoft.com/office/drawing/2014/main" id="{BD2C6035-66C2-E720-8DEE-28A530BE3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732" y="3337089"/>
            <a:ext cx="4266636" cy="2717273"/>
          </a:xfrm>
          <a:prstGeom prst="rect">
            <a:avLst/>
          </a:prstGeom>
        </p:spPr>
      </p:pic>
      <p:pic>
        <p:nvPicPr>
          <p:cNvPr id="11" name="Picture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1B5F6BA-A787-1C71-9CD2-AAB5F34B4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749" y="3281300"/>
            <a:ext cx="2678603" cy="264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29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4E475-9E35-8CC0-D056-56EBBF02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26" y="970367"/>
            <a:ext cx="10914195" cy="707604"/>
          </a:xfrm>
        </p:spPr>
        <p:txBody>
          <a:bodyPr/>
          <a:lstStyle/>
          <a:p>
            <a:pPr algn="ctr"/>
            <a:r>
              <a:rPr lang="en-US" b="1" dirty="0"/>
              <a:t>String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D4BB7-A714-AEDE-6F34-1DC73805F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52" y="1798047"/>
            <a:ext cx="10914195" cy="405868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string class</a:t>
            </a:r>
            <a:r>
              <a:rPr lang="en-US" dirty="0"/>
              <a:t> is a </a:t>
            </a:r>
            <a:r>
              <a:rPr lang="en-US" b="1" dirty="0"/>
              <a:t>built-in C++ class</a:t>
            </a:r>
            <a:r>
              <a:rPr lang="en-US" dirty="0"/>
              <a:t> (part of the Standard Library) used to </a:t>
            </a:r>
            <a:r>
              <a:rPr lang="en-US" b="1" dirty="0"/>
              <a:t>store and manipulate text (strings)</a:t>
            </a:r>
            <a:r>
              <a:rPr lang="en-US" dirty="0"/>
              <a:t> easily and safely.</a:t>
            </a:r>
            <a:br>
              <a:rPr lang="en-US" dirty="0"/>
            </a:br>
            <a:r>
              <a:rPr lang="en-US" dirty="0"/>
              <a:t>It overcomes the limitations of </a:t>
            </a:r>
            <a:r>
              <a:rPr lang="en-US" b="1" dirty="0"/>
              <a:t>C-style strings (char[])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69AE627-9FA0-100A-D1B7-F54BBA274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314" y="3359392"/>
            <a:ext cx="3825572" cy="287298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9225C0-2A08-A666-872C-7349A7A53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590507"/>
              </p:ext>
            </p:extLst>
          </p:nvPr>
        </p:nvGraphicFramePr>
        <p:xfrm>
          <a:off x="846039" y="3359392"/>
          <a:ext cx="4792761" cy="3200840"/>
        </p:xfrm>
        <a:graphic>
          <a:graphicData uri="http://schemas.openxmlformats.org/drawingml/2006/table">
            <a:tbl>
              <a:tblPr/>
              <a:tblGrid>
                <a:gridCol w="2321203">
                  <a:extLst>
                    <a:ext uri="{9D8B030D-6E8A-4147-A177-3AD203B41FA5}">
                      <a16:colId xmlns:a16="http://schemas.microsoft.com/office/drawing/2014/main" val="2868469925"/>
                    </a:ext>
                  </a:extLst>
                </a:gridCol>
                <a:gridCol w="2471558">
                  <a:extLst>
                    <a:ext uri="{9D8B030D-6E8A-4147-A177-3AD203B41FA5}">
                      <a16:colId xmlns:a16="http://schemas.microsoft.com/office/drawing/2014/main" val="2756561707"/>
                    </a:ext>
                  </a:extLst>
                </a:gridCol>
              </a:tblGrid>
              <a:tr h="26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56110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length()</a:t>
                      </a:r>
                      <a:r>
                        <a:rPr lang="en-IN" sz="1200"/>
                        <a:t> /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size()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Returns length of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533579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empty()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Checks if string is empty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8507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append()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Adds string at 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081705"/>
                  </a:ext>
                </a:extLst>
              </a:tr>
              <a:tr h="26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clear()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Clears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97454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compare()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Compares two strings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0039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substr()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Extracts substring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337837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find()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Finds position of substring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628205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erase()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Removes characters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091707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replace()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Replaces part of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81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854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7006-F055-4F45-0DB5-DFC286FC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60"/>
            <a:ext cx="10914195" cy="863484"/>
          </a:xfrm>
        </p:spPr>
        <p:txBody>
          <a:bodyPr/>
          <a:lstStyle/>
          <a:p>
            <a:pPr algn="ctr"/>
            <a:r>
              <a:rPr lang="en-US" dirty="0"/>
              <a:t>String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E3B89-419F-AB99-6A5D-6EEE2E600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Why Use string Class?</a:t>
            </a:r>
          </a:p>
          <a:p>
            <a:r>
              <a:rPr lang="en-US" sz="2300" dirty="0"/>
              <a:t>C-style strings have problems like:</a:t>
            </a:r>
          </a:p>
          <a:p>
            <a:r>
              <a:rPr lang="en-US" sz="2300" dirty="0"/>
              <a:t>Fixed size</a:t>
            </a:r>
          </a:p>
          <a:p>
            <a:r>
              <a:rPr lang="en-US" sz="2300" dirty="0"/>
              <a:t>Buffer overflow risk</a:t>
            </a:r>
          </a:p>
          <a:p>
            <a:r>
              <a:rPr lang="en-US" sz="2300" dirty="0"/>
              <a:t>Manual memory management</a:t>
            </a:r>
          </a:p>
          <a:p>
            <a:r>
              <a:rPr lang="en-US" sz="2300" dirty="0"/>
              <a:t>Limited built-in operations</a:t>
            </a:r>
          </a:p>
          <a:p>
            <a:pPr marL="0" indent="0">
              <a:buNone/>
            </a:pPr>
            <a:r>
              <a:rPr lang="en-US" b="1" dirty="0"/>
              <a:t>The string class provides:</a:t>
            </a:r>
          </a:p>
          <a:p>
            <a:r>
              <a:rPr lang="en-US" sz="2100" dirty="0"/>
              <a:t>Dynamic memory allocation</a:t>
            </a:r>
          </a:p>
          <a:p>
            <a:r>
              <a:rPr lang="en-US" sz="2100" dirty="0"/>
              <a:t>Automatic memory management</a:t>
            </a:r>
          </a:p>
          <a:p>
            <a:r>
              <a:rPr lang="en-US" sz="2100" dirty="0"/>
              <a:t>Rich set of member functions</a:t>
            </a:r>
          </a:p>
          <a:p>
            <a:r>
              <a:rPr lang="en-US" sz="2100" dirty="0"/>
              <a:t>Safe and efficient string handling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282F71-9E0C-78ED-AD88-C8FAFC051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899538"/>
              </p:ext>
            </p:extLst>
          </p:nvPr>
        </p:nvGraphicFramePr>
        <p:xfrm>
          <a:off x="6685601" y="2156154"/>
          <a:ext cx="4669974" cy="3688546"/>
        </p:xfrm>
        <a:graphic>
          <a:graphicData uri="http://schemas.openxmlformats.org/drawingml/2006/table">
            <a:tbl>
              <a:tblPr/>
              <a:tblGrid>
                <a:gridCol w="2334987">
                  <a:extLst>
                    <a:ext uri="{9D8B030D-6E8A-4147-A177-3AD203B41FA5}">
                      <a16:colId xmlns:a16="http://schemas.microsoft.com/office/drawing/2014/main" val="147326151"/>
                    </a:ext>
                  </a:extLst>
                </a:gridCol>
                <a:gridCol w="2334987">
                  <a:extLst>
                    <a:ext uri="{9D8B030D-6E8A-4147-A177-3AD203B41FA5}">
                      <a16:colId xmlns:a16="http://schemas.microsoft.com/office/drawing/2014/main" val="528715966"/>
                    </a:ext>
                  </a:extLst>
                </a:gridCol>
              </a:tblGrid>
              <a:tr h="57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String Class 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     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60456"/>
                  </a:ext>
                </a:extLst>
              </a:tr>
              <a:tr h="57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+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Concatenation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009700"/>
                  </a:ext>
                </a:extLst>
              </a:tr>
              <a:tr h="57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=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Assignment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905741"/>
                  </a:ext>
                </a:extLst>
              </a:tr>
              <a:tr h="57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!=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69969"/>
                  </a:ext>
                </a:extLst>
              </a:tr>
              <a:tr h="731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&gt;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Lexicographical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162070"/>
                  </a:ext>
                </a:extLst>
              </a:tr>
              <a:tr h="579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[]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Access 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065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755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04B4-2296-8085-78CE-4F891B40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215958"/>
            <a:ext cx="8294915" cy="896141"/>
          </a:xfrm>
        </p:spPr>
        <p:txBody>
          <a:bodyPr/>
          <a:lstStyle/>
          <a:p>
            <a:r>
              <a:rPr lang="en-IN" dirty="0"/>
              <a:t>Specifying Classes and Objects.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4FD9C-7424-F79E-235B-494FD4EE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996" y="1866659"/>
            <a:ext cx="5226918" cy="4327312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class</a:t>
            </a:r>
            <a:r>
              <a:rPr lang="en-US" dirty="0"/>
              <a:t> in C++ is a </a:t>
            </a:r>
            <a:r>
              <a:rPr lang="en-US" b="1" dirty="0"/>
              <a:t>user-defined data type</a:t>
            </a:r>
            <a:r>
              <a:rPr lang="en-US" dirty="0"/>
              <a:t> that acts as a </a:t>
            </a:r>
            <a:r>
              <a:rPr lang="en-US" b="1" dirty="0"/>
              <a:t>blueprint</a:t>
            </a:r>
            <a:r>
              <a:rPr lang="en-US" dirty="0"/>
              <a:t> for creating objects.</a:t>
            </a:r>
            <a:br>
              <a:rPr lang="en-US" dirty="0"/>
            </a:br>
            <a:r>
              <a:rPr lang="en-US" sz="1800" dirty="0"/>
              <a:t>It defines:</a:t>
            </a:r>
          </a:p>
          <a:p>
            <a:r>
              <a:rPr lang="en-US" sz="1800" b="1" dirty="0"/>
              <a:t>Data members</a:t>
            </a:r>
            <a:r>
              <a:rPr lang="en-US" sz="1800" dirty="0"/>
              <a:t> (variables)</a:t>
            </a:r>
          </a:p>
          <a:p>
            <a:r>
              <a:rPr lang="en-US" sz="1800" b="1" dirty="0"/>
              <a:t>Member functions</a:t>
            </a:r>
            <a:r>
              <a:rPr lang="en-US" sz="1800" dirty="0"/>
              <a:t> (functions)</a:t>
            </a:r>
          </a:p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2400" b="1" dirty="0"/>
              <a:t>Specifying / Defining Objects</a:t>
            </a:r>
          </a:p>
          <a:p>
            <a:r>
              <a:rPr lang="en-US" sz="2200" dirty="0"/>
              <a:t>An </a:t>
            </a:r>
            <a:r>
              <a:rPr lang="en-US" sz="2200" b="1" dirty="0"/>
              <a:t>object</a:t>
            </a:r>
            <a:r>
              <a:rPr lang="en-US" sz="2200" dirty="0"/>
              <a:t> is an </a:t>
            </a:r>
            <a:r>
              <a:rPr lang="en-US" sz="2200" b="1" dirty="0"/>
              <a:t>instance of a class</a:t>
            </a:r>
            <a:r>
              <a:rPr lang="en-US" sz="2200" dirty="0"/>
              <a:t>.</a:t>
            </a:r>
            <a:br>
              <a:rPr lang="en-US" sz="2200" dirty="0"/>
            </a:br>
            <a:r>
              <a:rPr lang="en-US" sz="2200" dirty="0"/>
              <a:t>Objects are specified (created) using the </a:t>
            </a:r>
            <a:r>
              <a:rPr lang="en-US" sz="2200" b="1" dirty="0"/>
              <a:t>class name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1426300-4757-5ED7-98BD-125747BE8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331" y="1600200"/>
            <a:ext cx="5999669" cy="504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31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45910B3-87D6-4500-A7E8-7BCE62E6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710" y="1704474"/>
            <a:ext cx="10888579" cy="3449052"/>
          </a:xfrm>
        </p:spPr>
        <p:txBody>
          <a:bodyPr>
            <a:normAutofit/>
          </a:bodyPr>
          <a:lstStyle/>
          <a:p>
            <a:pPr algn="ctr"/>
            <a:r>
              <a:rPr lang="en-US" sz="19900" dirty="0">
                <a:latin typeface="Edwardian Script ITC" pitchFamily="66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179494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928</Words>
  <Application>Microsoft Office PowerPoint</Application>
  <PresentationFormat>Widescreen</PresentationFormat>
  <Paragraphs>126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Corbel</vt:lpstr>
      <vt:lpstr>Courier New</vt:lpstr>
      <vt:lpstr>Edwardian Script ITC</vt:lpstr>
      <vt:lpstr>Microsoft Sans Serif</vt:lpstr>
      <vt:lpstr>Times New Roman</vt:lpstr>
      <vt:lpstr>Office Theme</vt:lpstr>
      <vt:lpstr>School of Computer Science and Engineering B.Tech (CSE) 2nd Semester</vt:lpstr>
      <vt:lpstr>Input / Output  Stream </vt:lpstr>
      <vt:lpstr>Standard  Output stream  (cout) </vt:lpstr>
      <vt:lpstr>Keyword</vt:lpstr>
      <vt:lpstr>Data Types</vt:lpstr>
      <vt:lpstr>Size and  Range of data  types</vt:lpstr>
      <vt:lpstr>Boolean Data  type </vt:lpstr>
      <vt:lpstr>Reference  Variables</vt:lpstr>
      <vt:lpstr>Example</vt:lpstr>
      <vt:lpstr>Enum</vt:lpstr>
      <vt:lpstr>Operators</vt:lpstr>
      <vt:lpstr>Scope  Resolution  Operator </vt:lpstr>
      <vt:lpstr>Scope  Resolution  Operator</vt:lpstr>
      <vt:lpstr>Type  Conversion </vt:lpstr>
      <vt:lpstr>Type conversion</vt:lpstr>
      <vt:lpstr>Inline Functions</vt:lpstr>
      <vt:lpstr>String class</vt:lpstr>
      <vt:lpstr>String Class</vt:lpstr>
      <vt:lpstr>Specifying Classes and Objects.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Saroliya</dc:creator>
  <cp:lastModifiedBy>Dr. Sahil Kansal</cp:lastModifiedBy>
  <cp:revision>38</cp:revision>
  <dcterms:created xsi:type="dcterms:W3CDTF">2025-07-19T19:52:25Z</dcterms:created>
  <dcterms:modified xsi:type="dcterms:W3CDTF">2025-12-31T08:59:36Z</dcterms:modified>
</cp:coreProperties>
</file>