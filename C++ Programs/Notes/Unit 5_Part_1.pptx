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258" r:id="rId4"/>
    <p:sldId id="259" r:id="rId5"/>
    <p:sldId id="276" r:id="rId6"/>
    <p:sldId id="277" r:id="rId7"/>
    <p:sldId id="278" r:id="rId8"/>
    <p:sldId id="260" r:id="rId9"/>
    <p:sldId id="261" r:id="rId10"/>
    <p:sldId id="262" r:id="rId11"/>
    <p:sldId id="263" r:id="rId12"/>
    <p:sldId id="279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80" r:id="rId23"/>
    <p:sldId id="273" r:id="rId24"/>
    <p:sldId id="274" r:id="rId25"/>
    <p:sldId id="275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313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314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7582" autoAdjust="0"/>
  </p:normalViewPr>
  <p:slideViewPr>
    <p:cSldViewPr snapToGrid="0">
      <p:cViewPr varScale="1">
        <p:scale>
          <a:sx n="72" d="100"/>
          <a:sy n="72" d="100"/>
        </p:scale>
        <p:origin x="110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0780CC-DB8A-44C9-9BBF-195308A432A6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C408EC-ADC7-4385-A19B-CFF3E318A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9446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of:</a:t>
            </a:r>
          </a:p>
          <a:p>
            <a:r>
              <a:rPr lang="en-US" dirty="0"/>
              <a:t>Keyboard →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cin</a:t>
            </a:r>
            <a:r>
              <a:rPr lang="en-US" dirty="0"/>
              <a:t> </a:t>
            </a:r>
          </a:p>
          <a:p>
            <a:r>
              <a:rPr lang="en-US" dirty="0"/>
              <a:t>Screen →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n-US" dirty="0"/>
              <a:t> </a:t>
            </a:r>
          </a:p>
          <a:p>
            <a:r>
              <a:rPr lang="en-US" dirty="0"/>
              <a:t>We use files like: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input.txt</a:t>
            </a:r>
            <a:r>
              <a:rPr lang="en-US" dirty="0"/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output.txt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408EC-ADC7-4385-A19B-CFF3E318A8B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081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is_open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endParaRPr lang="en-US" b="1" dirty="0"/>
          </a:p>
          <a:p>
            <a:r>
              <a:rPr lang="en-US" dirty="0"/>
              <a:t>Checks whether file opened successfully – </a:t>
            </a:r>
            <a:r>
              <a:rPr lang="en-US" dirty="0" err="1"/>
              <a:t>retutn</a:t>
            </a:r>
            <a:r>
              <a:rPr lang="en-US" dirty="0"/>
              <a:t> true or false accordingly</a:t>
            </a:r>
          </a:p>
          <a:p>
            <a:r>
              <a:rPr lang="en-IN" dirty="0"/>
              <a:t>close() – closes the file – so that any resource allocated to it will get free.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408EC-ADC7-4385-A19B-CFF3E318A8B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243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ios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::binary</a:t>
            </a:r>
            <a:r>
              <a:rPr lang="en-US" b="1" dirty="0"/>
              <a:t> (Binary Mode) - </a:t>
            </a:r>
            <a:r>
              <a:rPr lang="en-US" dirty="0"/>
              <a:t>Used to handle </a:t>
            </a:r>
            <a:r>
              <a:rPr lang="en-US" b="1" dirty="0"/>
              <a:t>binary files (non-text)</a:t>
            </a:r>
          </a:p>
          <a:p>
            <a:r>
              <a:rPr lang="en-US" dirty="0"/>
              <a:t>Data is stored in binary format </a:t>
            </a:r>
          </a:p>
          <a:p>
            <a:r>
              <a:rPr lang="en-US" b="1" dirty="0"/>
              <a:t>Example:</a:t>
            </a:r>
          </a:p>
          <a:p>
            <a:r>
              <a:rPr lang="en-US" dirty="0"/>
              <a:t>Images </a:t>
            </a:r>
          </a:p>
          <a:p>
            <a:r>
              <a:rPr lang="en-US" dirty="0"/>
              <a:t>Videos </a:t>
            </a:r>
          </a:p>
          <a:p>
            <a:r>
              <a:rPr lang="en-US" dirty="0"/>
              <a:t>Executable files</a:t>
            </a:r>
          </a:p>
          <a:p>
            <a:r>
              <a:rPr lang="en-US" dirty="0" err="1"/>
              <a:t>ios</a:t>
            </a:r>
            <a:r>
              <a:rPr lang="en-US" dirty="0"/>
              <a:t>::</a:t>
            </a:r>
            <a:r>
              <a:rPr lang="en-US" dirty="0" err="1"/>
              <a:t>trunc</a:t>
            </a:r>
            <a:r>
              <a:rPr lang="en-US" dirty="0"/>
              <a:t> alone → only clears file </a:t>
            </a:r>
            <a:br>
              <a:rPr lang="en-US" dirty="0"/>
            </a:br>
            <a:r>
              <a:rPr lang="en-US" dirty="0" err="1"/>
              <a:t>ios</a:t>
            </a:r>
            <a:r>
              <a:rPr lang="en-US" dirty="0"/>
              <a:t>::out + </a:t>
            </a:r>
            <a:r>
              <a:rPr lang="en-US" dirty="0" err="1"/>
              <a:t>ios</a:t>
            </a:r>
            <a:r>
              <a:rPr lang="en-US" dirty="0"/>
              <a:t>::</a:t>
            </a:r>
            <a:r>
              <a:rPr lang="en-US" dirty="0" err="1"/>
              <a:t>trunc</a:t>
            </a:r>
            <a:r>
              <a:rPr lang="en-US" dirty="0"/>
              <a:t> → clears + writes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408EC-ADC7-4385-A19B-CFF3E318A8BC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9805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&gt;&gt;</a:t>
            </a:r>
            <a:r>
              <a:rPr lang="en-US" dirty="0"/>
              <a:t> → extraction operator (used to read data)</a:t>
            </a:r>
          </a:p>
          <a:p>
            <a:r>
              <a:rPr lang="en-IN" dirty="0"/>
              <a:t>fin &gt;&gt; word - </a:t>
            </a:r>
            <a:r>
              <a:rPr lang="en-US" dirty="0"/>
              <a:t>Read one word from file and store in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word</a:t>
            </a:r>
          </a:p>
          <a:p>
            <a:r>
              <a:rPr lang="en-IN" dirty="0"/>
              <a:t>while (fin &gt;&gt; word) - </a:t>
            </a:r>
            <a:r>
              <a:rPr lang="en-US" dirty="0"/>
              <a:t>Keep looping </a:t>
            </a:r>
            <a:r>
              <a:rPr lang="en-US" b="1" dirty="0"/>
              <a:t>until reading fails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408EC-ADC7-4385-A19B-CFF3E318A8BC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1856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Example Problem</a:t>
            </a:r>
          </a:p>
          <a:p>
            <a:r>
              <a:rPr lang="en-US" dirty="0"/>
              <a:t>File: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Hello World</a:t>
            </a:r>
          </a:p>
          <a:p>
            <a:r>
              <a:rPr lang="en-US" dirty="0"/>
              <a:t>Output: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Hello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World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World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duplicate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408EC-ADC7-4385-A19B-CFF3E318A8BC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3611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Why This Works Perfectly</a:t>
            </a:r>
          </a:p>
          <a:p>
            <a:r>
              <a:rPr lang="en-US" dirty="0"/>
              <a:t>Because:</a:t>
            </a:r>
          </a:p>
          <a:p>
            <a:r>
              <a:rPr lang="en-US" dirty="0"/>
              <a:t>These functions return </a:t>
            </a:r>
            <a:r>
              <a:rPr lang="en-US" b="1" dirty="0"/>
              <a:t>true/false</a:t>
            </a:r>
            <a:endParaRPr lang="en-US" dirty="0"/>
          </a:p>
          <a:p>
            <a:r>
              <a:rPr lang="en-US" dirty="0"/>
              <a:t>Condition		Meaning</a:t>
            </a:r>
          </a:p>
          <a:p>
            <a:r>
              <a:rPr lang="en-US" dirty="0"/>
              <a:t>Success		Continue loop</a:t>
            </a:r>
          </a:p>
          <a:p>
            <a:r>
              <a:rPr lang="en-US" dirty="0"/>
              <a:t>Fail / EOF		Stop loop</a:t>
            </a:r>
          </a:p>
          <a:p>
            <a:r>
              <a:rPr lang="en-US" dirty="0"/>
              <a:t>So no extra iteration happens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408EC-ADC7-4385-A19B-CFF3E318A8BC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0588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408EC-ADC7-4385-A19B-CFF3E318A8BC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788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Takes input from user Adds it at </a:t>
            </a:r>
            <a:r>
              <a:rPr lang="en-US" b="1" dirty="0"/>
              <a:t>end of file</a:t>
            </a:r>
            <a:r>
              <a:rPr lang="en-US" dirty="0"/>
              <a:t> (no deletion)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408EC-ADC7-4385-A19B-CFF3E318A8BC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0659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Writes 5 lines </a:t>
            </a:r>
          </a:p>
          <a:p>
            <a:r>
              <a:rPr lang="en-US" b="1" dirty="0"/>
              <a:t>Old data gets deleted</a:t>
            </a:r>
            <a:r>
              <a:rPr lang="en-US" dirty="0"/>
              <a:t> (default mode)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408EC-ADC7-4385-A19B-CFF3E318A8BC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6329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408EC-ADC7-4385-A19B-CFF3E318A8BC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2333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Output:</a:t>
            </a:r>
          </a:p>
          <a:p>
            <a:pPr rtl="0"/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Position: 1</a:t>
            </a:r>
            <a:b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Position: 2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408EC-ADC7-4385-A19B-CFF3E318A8BC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0932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Hello C++</a:t>
            </a:r>
            <a:r>
              <a:rPr lang="en-IN" dirty="0" err="1"/>
              <a:t>ld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408EC-ADC7-4385-A19B-CFF3E318A8BC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0223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1. Opening File</a:t>
            </a:r>
          </a:p>
          <a:p>
            <a:pPr rtl="0"/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ofstream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fout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data.bin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", </a:t>
            </a:r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ios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::binary);</a:t>
            </a:r>
          </a:p>
          <a:p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ofstream</a:t>
            </a:r>
            <a:r>
              <a:rPr lang="en-IN" dirty="0"/>
              <a:t> → used for writing</a:t>
            </a:r>
            <a:br>
              <a:rPr lang="en-IN" dirty="0"/>
            </a:b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data.bin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IN" dirty="0"/>
              <a:t> → binary file</a:t>
            </a:r>
            <a:br>
              <a:rPr lang="en-IN" dirty="0"/>
            </a:br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ios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::binary</a:t>
            </a:r>
            <a:r>
              <a:rPr lang="en-IN" dirty="0"/>
              <a:t> → </a:t>
            </a:r>
            <a:r>
              <a:rPr lang="en-IN" b="1" dirty="0"/>
              <a:t>IMPORTANT</a:t>
            </a:r>
          </a:p>
          <a:p>
            <a:r>
              <a:rPr lang="en-IN" dirty="0"/>
              <a:t> Without this → file treated as text</a:t>
            </a:r>
            <a:br>
              <a:rPr lang="en-IN" dirty="0"/>
            </a:br>
            <a:r>
              <a:rPr lang="en-IN" dirty="0"/>
              <a:t>With this → raw bytes stored</a:t>
            </a:r>
          </a:p>
          <a:p>
            <a:endParaRPr lang="en-IN" dirty="0"/>
          </a:p>
          <a:p>
            <a:r>
              <a:rPr lang="pt-BR" dirty="0"/>
              <a:t>fout.write((char*)&amp;num, sizeof(num)); - </a:t>
            </a:r>
          </a:p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&amp;num</a:t>
            </a:r>
            <a:endParaRPr lang="en-US" b="1" dirty="0"/>
          </a:p>
          <a:p>
            <a:r>
              <a:rPr lang="en-US" dirty="0"/>
              <a:t>Gives </a:t>
            </a:r>
            <a:r>
              <a:rPr lang="en-US" b="1" dirty="0"/>
              <a:t>address of variable</a:t>
            </a:r>
            <a:endParaRPr lang="en-US" dirty="0"/>
          </a:p>
          <a:p>
            <a:r>
              <a:rPr lang="en-US" dirty="0"/>
              <a:t>Example: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 = 100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Address = 1000 (assume)</a:t>
            </a:r>
          </a:p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(char*)&amp;num</a:t>
            </a:r>
            <a:endParaRPr lang="en-US" b="1" dirty="0"/>
          </a:p>
          <a:p>
            <a:r>
              <a:rPr lang="en-US" dirty="0"/>
              <a:t>Convert address to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char*</a:t>
            </a:r>
            <a:endParaRPr lang="en-US" dirty="0"/>
          </a:p>
          <a:p>
            <a:r>
              <a:rPr lang="en-US" dirty="0"/>
              <a:t>Why?</a:t>
            </a:r>
          </a:p>
          <a:p>
            <a:r>
              <a:rPr lang="en-US" dirty="0"/>
              <a:t>Because: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write() expects pointer to bytes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char*</a:t>
            </a:r>
            <a:r>
              <a:rPr lang="en-US" dirty="0"/>
              <a:t> = pointer to 1 byte</a:t>
            </a:r>
            <a:br>
              <a:rPr lang="en-US" dirty="0"/>
            </a:br>
            <a:r>
              <a:rPr lang="en-US" dirty="0"/>
              <a:t>So file writes </a:t>
            </a:r>
            <a:r>
              <a:rPr lang="en-US" b="1" dirty="0"/>
              <a:t>byte-by-byte</a:t>
            </a:r>
            <a:endParaRPr lang="en-US" dirty="0"/>
          </a:p>
          <a:p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(num)</a:t>
            </a:r>
            <a:endParaRPr lang="en-US" b="1" dirty="0"/>
          </a:p>
          <a:p>
            <a:r>
              <a:rPr lang="en-US" dirty="0"/>
              <a:t>Number of bytes to write</a:t>
            </a:r>
          </a:p>
          <a:p>
            <a:r>
              <a:rPr lang="en-US" dirty="0"/>
              <a:t>For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(int) = 4 bytes (usually)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fout.write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((char*)&amp;num,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(num));</a:t>
            </a:r>
          </a:p>
          <a:p>
            <a:r>
              <a:rPr lang="en-US" dirty="0"/>
              <a:t>“Take 4 bytes from memory starting at address of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</a:t>
            </a:r>
            <a:r>
              <a:rPr lang="en-US" dirty="0"/>
              <a:t> and write them into file”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408EC-ADC7-4385-A19B-CFF3E318A8BC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6425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in.read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((char*)&amp;num,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(num));</a:t>
            </a:r>
          </a:p>
          <a:p>
            <a:r>
              <a:rPr lang="en-US" b="1" dirty="0"/>
              <a:t>Meaning:</a:t>
            </a:r>
          </a:p>
          <a:p>
            <a:r>
              <a:rPr lang="en-US" dirty="0"/>
              <a:t>“Read 4 bytes from file and store them into memory of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</a:t>
            </a:r>
            <a:r>
              <a:rPr lang="en-US" dirty="0"/>
              <a:t>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408EC-ADC7-4385-A19B-CFF3E318A8BC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218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4A9CD-CCE3-14E7-63CF-B7AFC0CE83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4571EF-E194-FDAF-D1B9-87158EC1A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3CBDE-8184-3A49-7B19-ECBA246E7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B5B1B-E973-452E-A80E-AEE48BB6E8F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E5D85-B18F-8197-CBC6-F1121474D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A29AD-052A-C2B9-22FC-B52FA2283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AA3E-E106-4E2D-8611-B1005D4D7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435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9ED60-AF94-3A5E-4F53-8F98E92F3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F1FB6-D200-631E-03AB-8A0F809E3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704F6-C6E2-6800-9404-55C02CCDF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B5B1B-E973-452E-A80E-AEE48BB6E8F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944E3-83F2-0EA1-CD5B-B18185F00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C457B-BAF1-A575-017D-047AB120E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AA3E-E106-4E2D-8611-B1005D4D7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274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16D74-3D1B-C09A-2A82-D0F8E74AD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B518D-5951-0A95-6426-5D13C3F2D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5BF03-61B5-D83B-C966-94CD2B1BD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B5B1B-E973-452E-A80E-AEE48BB6E8F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DEE0C-1339-B466-691F-2A55C38C3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29C3D-1905-93DA-3339-DC22B8F76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AA3E-E106-4E2D-8611-B1005D4D7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938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E919A-D533-2AB9-849B-2203F701C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7C389-A8AB-2D2A-92E7-093971CE3C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0CE65-9C97-B723-DC3B-6364F2B8C4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480EE-79FD-EC47-D3DF-A89EAFAE0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B5B1B-E973-452E-A80E-AEE48BB6E8F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D0E9A1-D207-0552-AAEC-A6996224D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0D4B5-80C5-E7B4-290D-6D4FE2270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AA3E-E106-4E2D-8611-B1005D4D7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002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F1A44-8369-A6A8-0E4B-E61392512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61064-2F70-6C9F-0A2B-8BFE650C6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060526-707E-29BC-45D4-14306497E6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1457CF-033C-42F9-4834-D272A14C28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394DB0-051B-4D0E-B405-8666B9C14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3C6E14-1CAB-0DE7-4356-4CF211962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B5B1B-E973-452E-A80E-AEE48BB6E8F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1FE9C2-5E6C-5931-9292-F2335BFF6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F18698-C1AD-E2A1-1F35-7374F2218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AA3E-E106-4E2D-8611-B1005D4D7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475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BBDDF-C8A0-DDE5-D3AA-20760FC25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9DCB21-2D9D-33B9-4EF1-E264DED30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B5B1B-E973-452E-A80E-AEE48BB6E8F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77DB4C-52FE-4F28-D39F-12966F522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1483E8-BB76-3F56-73B7-8EAA8A905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AA3E-E106-4E2D-8611-B1005D4D7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755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0B0154-D842-8DE4-98D0-574A70EA4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B5B1B-E973-452E-A80E-AEE48BB6E8F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F80051-27FF-D2EF-442F-35158F0EB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6F1E13-C44B-C3E1-56CB-57560AAD9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AA3E-E106-4E2D-8611-B1005D4D7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993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21125-7A25-54A1-E1EB-00ADD586F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38556-6076-7AA7-7DB6-B501334B6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B12026-9A70-07C7-E2E2-3E4FD6587A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FE544-01E9-6679-CF88-ACB971FB5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B5B1B-E973-452E-A80E-AEE48BB6E8F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24E65-ABA9-D1AB-9E7A-536C7D9A3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7FA99-70BC-4E17-6A43-E8670DBEA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AA3E-E106-4E2D-8611-B1005D4D7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1977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B04B0-A733-8A3B-1038-6CE1D6EAC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0EBFBB-B545-FCEB-3A8E-F4E98AEDDF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1364C-BA5E-31AF-9E94-B4875BAC7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1BE171-D5EE-D22D-6993-DC235C059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B5B1B-E973-452E-A80E-AEE48BB6E8F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7E0956-D3BF-8D9E-3B70-96D845B3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37E3F-9BB8-E536-FE49-DABA939C2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AA3E-E106-4E2D-8611-B1005D4D7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869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02ED-E6DF-E0DD-7707-0C998F1EE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28CC9E-33AC-96B9-44CE-F767EA950C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B1F69-13E0-89B5-D5EA-8CBC2CCF9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B5B1B-E973-452E-A80E-AEE48BB6E8F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3428C-8BE5-6BED-4270-C744647C4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365C9-4532-9897-45F9-5E0D4E152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AA3E-E106-4E2D-8611-B1005D4D7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503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C2B545-0C59-5C2B-178E-36DBF9BD70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7E76C1-5DEB-1833-0C65-FB9C1EDE02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A3D04-CBF8-1CC9-8E27-1F93CEDA7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B5B1B-E973-452E-A80E-AEE48BB6E8F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81605-CDEF-E017-2D9B-AEEA0DA33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7369F-EBAF-D4C7-88D2-E1B2EE5BD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AA3E-E106-4E2D-8611-B1005D4D7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355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77E29E-ECEA-3D38-CCF1-3E09517FE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18E73-7311-A87A-7DD1-6CA23ABB9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E9B7A-1986-A4D6-3484-36250D4D2C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5B5B1B-E973-452E-A80E-AEE48BB6E8F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ED89C-C5B6-1801-071E-F1D8FBD988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B28F2-27B1-3108-F18C-D17BE1DF2D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E6AA3E-E106-4E2D-8611-B1005D4D7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869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261E6-852E-3D18-9936-97215D578F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File Handling and Templates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60C1B6-91AE-FC3F-53EB-CEB6D3C5E2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D20ED-9B57-EE33-3F12-CD97BE40C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B0999-8448-3AAE-3C3C-754C3CA98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C++, a </a:t>
            </a:r>
            <a:r>
              <a:rPr lang="en-US" b="1" dirty="0"/>
              <a:t>stream</a:t>
            </a:r>
            <a:r>
              <a:rPr lang="en-US" dirty="0"/>
              <a:t> means a flow of data.</a:t>
            </a:r>
          </a:p>
          <a:p>
            <a:r>
              <a:rPr lang="en-US" dirty="0"/>
              <a:t>Data moves </a:t>
            </a:r>
            <a:r>
              <a:rPr lang="en-US" b="1" dirty="0"/>
              <a:t>from program to output device</a:t>
            </a:r>
            <a:r>
              <a:rPr lang="en-US" dirty="0"/>
              <a:t> OR </a:t>
            </a:r>
            <a:r>
              <a:rPr lang="en-US" b="1" dirty="0"/>
              <a:t>from input device to program</a:t>
            </a:r>
            <a:r>
              <a:rPr lang="en-US" dirty="0"/>
              <a:t> </a:t>
            </a:r>
          </a:p>
          <a:p>
            <a:r>
              <a:rPr lang="en-US" dirty="0"/>
              <a:t>Think of it like a </a:t>
            </a:r>
            <a:r>
              <a:rPr lang="en-US" b="1" dirty="0"/>
              <a:t>pipe carrying data</a:t>
            </a:r>
            <a:r>
              <a:rPr lang="en-US" dirty="0"/>
              <a:t> </a:t>
            </a:r>
          </a:p>
          <a:p>
            <a:r>
              <a:rPr lang="en-US" b="1" dirty="0"/>
              <a:t>Types of Streams</a:t>
            </a:r>
          </a:p>
          <a:p>
            <a:r>
              <a:rPr lang="en-US" dirty="0"/>
              <a:t>Input Stream   → Data comes INTO program</a:t>
            </a:r>
            <a:br>
              <a:rPr lang="en-US" dirty="0"/>
            </a:br>
            <a:r>
              <a:rPr lang="en-US" dirty="0"/>
              <a:t>Output Stream  → Data goes OUT of program</a:t>
            </a:r>
          </a:p>
          <a:p>
            <a:r>
              <a:rPr lang="en-US" b="1" dirty="0"/>
              <a:t>Example</a:t>
            </a:r>
          </a:p>
          <a:p>
            <a:r>
              <a:rPr lang="en-US" dirty="0" err="1"/>
              <a:t>cin</a:t>
            </a:r>
            <a:r>
              <a:rPr lang="en-US" dirty="0"/>
              <a:t> → input stream (keyboard → program) </a:t>
            </a:r>
          </a:p>
          <a:p>
            <a:r>
              <a:rPr lang="en-US" dirty="0" err="1"/>
              <a:t>cout</a:t>
            </a:r>
            <a:r>
              <a:rPr lang="en-US" dirty="0"/>
              <a:t> → output stream (program → screen)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5484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DAA1B-5452-D6B0-303A-C9A6DF86F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r>
              <a:rPr lang="en-IN" b="1" dirty="0"/>
              <a:t>Standard Streams in C++</a:t>
            </a:r>
          </a:p>
          <a:p>
            <a:r>
              <a:rPr lang="en-US" dirty="0"/>
              <a:t>C++ provides some </a:t>
            </a:r>
            <a:r>
              <a:rPr lang="en-US" b="1" dirty="0"/>
              <a:t>predefined streams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IN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43A070D-450F-30AF-BE99-8D90DC192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548019"/>
              </p:ext>
            </p:extLst>
          </p:nvPr>
        </p:nvGraphicFramePr>
        <p:xfrm>
          <a:off x="703182" y="1639648"/>
          <a:ext cx="4777382" cy="340896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29067">
                  <a:extLst>
                    <a:ext uri="{9D8B030D-6E8A-4147-A177-3AD203B41FA5}">
                      <a16:colId xmlns:a16="http://schemas.microsoft.com/office/drawing/2014/main" val="489222788"/>
                    </a:ext>
                  </a:extLst>
                </a:gridCol>
                <a:gridCol w="1932450">
                  <a:extLst>
                    <a:ext uri="{9D8B030D-6E8A-4147-A177-3AD203B41FA5}">
                      <a16:colId xmlns:a16="http://schemas.microsoft.com/office/drawing/2014/main" val="987348797"/>
                    </a:ext>
                  </a:extLst>
                </a:gridCol>
                <a:gridCol w="1715865">
                  <a:extLst>
                    <a:ext uri="{9D8B030D-6E8A-4147-A177-3AD203B41FA5}">
                      <a16:colId xmlns:a16="http://schemas.microsoft.com/office/drawing/2014/main" val="464276591"/>
                    </a:ext>
                  </a:extLst>
                </a:gridCol>
              </a:tblGrid>
              <a:tr h="5657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 cap="none" spc="0">
                          <a:solidFill>
                            <a:schemeClr val="tx1"/>
                          </a:solidFill>
                        </a:rPr>
                        <a:t>Stream</a:t>
                      </a:r>
                    </a:p>
                  </a:txBody>
                  <a:tcPr marL="101543" marR="72531" marT="72531" marB="1450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 cap="none" spc="0">
                          <a:solidFill>
                            <a:schemeClr val="tx1"/>
                          </a:solidFill>
                        </a:rPr>
                        <a:t>Meaning</a:t>
                      </a:r>
                    </a:p>
                  </a:txBody>
                  <a:tcPr marL="101543" marR="72531" marT="72531" marB="1450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 cap="none" spc="0" dirty="0">
                          <a:solidFill>
                            <a:schemeClr val="tx1"/>
                          </a:solidFill>
                        </a:rPr>
                        <a:t>Use</a:t>
                      </a:r>
                    </a:p>
                  </a:txBody>
                  <a:tcPr marL="101543" marR="72531" marT="72531" marB="1450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770252"/>
                  </a:ext>
                </a:extLst>
              </a:tr>
              <a:tr h="5657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cin</a:t>
                      </a:r>
                      <a:endParaRPr lang="en-IN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1543" marR="72531" marT="72531" marB="1450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</a:rPr>
                        <a:t>Standard Input</a:t>
                      </a:r>
                    </a:p>
                  </a:txBody>
                  <a:tcPr marL="101543" marR="72531" marT="72531" marB="1450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</a:rPr>
                        <a:t>Take input</a:t>
                      </a:r>
                    </a:p>
                  </a:txBody>
                  <a:tcPr marL="101543" marR="72531" marT="72531" marB="1450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6444564"/>
                  </a:ext>
                </a:extLst>
              </a:tr>
              <a:tr h="855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cout</a:t>
                      </a:r>
                      <a:endParaRPr lang="en-IN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1543" marR="72531" marT="72531" marB="1450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</a:rPr>
                        <a:t>Standard Output</a:t>
                      </a:r>
                    </a:p>
                  </a:txBody>
                  <a:tcPr marL="101543" marR="72531" marT="72531" marB="1450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</a:rPr>
                        <a:t>Print output</a:t>
                      </a:r>
                    </a:p>
                  </a:txBody>
                  <a:tcPr marL="101543" marR="72531" marT="72531" marB="1450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359682"/>
                  </a:ext>
                </a:extLst>
              </a:tr>
              <a:tr h="5657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cerr</a:t>
                      </a:r>
                      <a:endParaRPr lang="en-IN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1543" marR="72531" marT="72531" marB="1450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</a:rPr>
                        <a:t>Standard Error</a:t>
                      </a:r>
                    </a:p>
                  </a:txBody>
                  <a:tcPr marL="101543" marR="72531" marT="72531" marB="1450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</a:rPr>
                        <a:t>Display error</a:t>
                      </a:r>
                    </a:p>
                  </a:txBody>
                  <a:tcPr marL="101543" marR="72531" marT="72531" marB="1450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8015453"/>
                  </a:ext>
                </a:extLst>
              </a:tr>
              <a:tr h="855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clog</a:t>
                      </a:r>
                      <a:endParaRPr lang="en-IN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1543" marR="72531" marT="72531" marB="1450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</a:rPr>
                        <a:t>Buffered error</a:t>
                      </a:r>
                    </a:p>
                  </a:txBody>
                  <a:tcPr marL="101543" marR="72531" marT="72531" marB="1450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cap="none" spc="0" dirty="0">
                          <a:solidFill>
                            <a:schemeClr val="tx1"/>
                          </a:solidFill>
                        </a:rPr>
                        <a:t>Log messages</a:t>
                      </a:r>
                    </a:p>
                  </a:txBody>
                  <a:tcPr marL="101543" marR="72531" marT="72531" marB="1450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037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1698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E69903-4A56-01E2-68BE-CE593C70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CC25A-B412-6AEA-E876-DDDF53BE9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r>
              <a:rPr lang="en-US" b="1" dirty="0"/>
              <a:t>Stream Classes in C++</a:t>
            </a:r>
          </a:p>
          <a:p>
            <a:r>
              <a:rPr lang="en-US" dirty="0"/>
              <a:t>All streams are part of </a:t>
            </a:r>
            <a:r>
              <a:rPr lang="en-US" b="1" dirty="0"/>
              <a:t>C++ Standard Library.</a:t>
            </a:r>
          </a:p>
          <a:p>
            <a:r>
              <a:rPr lang="en-US" b="1" dirty="0"/>
              <a:t>Main Classes – refer left table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29A9C76-FA63-E3B1-6230-CE79BA8E3E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527221"/>
              </p:ext>
            </p:extLst>
          </p:nvPr>
        </p:nvGraphicFramePr>
        <p:xfrm>
          <a:off x="703182" y="896476"/>
          <a:ext cx="4777381" cy="48953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42340">
                  <a:extLst>
                    <a:ext uri="{9D8B030D-6E8A-4147-A177-3AD203B41FA5}">
                      <a16:colId xmlns:a16="http://schemas.microsoft.com/office/drawing/2014/main" val="4194607936"/>
                    </a:ext>
                  </a:extLst>
                </a:gridCol>
                <a:gridCol w="2935041">
                  <a:extLst>
                    <a:ext uri="{9D8B030D-6E8A-4147-A177-3AD203B41FA5}">
                      <a16:colId xmlns:a16="http://schemas.microsoft.com/office/drawing/2014/main" val="812294048"/>
                    </a:ext>
                  </a:extLst>
                </a:gridCol>
              </a:tblGrid>
              <a:tr h="6993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cap="none" spc="0">
                          <a:solidFill>
                            <a:schemeClr val="tx1"/>
                          </a:solidFill>
                        </a:rPr>
                        <a:t>Class</a:t>
                      </a:r>
                    </a:p>
                  </a:txBody>
                  <a:tcPr marL="89658" marR="89658" marT="89658" marB="1793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cap="none" spc="0" dirty="0">
                          <a:solidFill>
                            <a:schemeClr val="tx1"/>
                          </a:solidFill>
                        </a:rPr>
                        <a:t>Purpose</a:t>
                      </a:r>
                    </a:p>
                  </a:txBody>
                  <a:tcPr marL="89658" marR="89658" marT="89658" marB="1793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2313897"/>
                  </a:ext>
                </a:extLst>
              </a:tr>
              <a:tr h="6993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istream</a:t>
                      </a:r>
                      <a:endParaRPr lang="en-IN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9658" marR="89658" marT="89658" marB="1793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Input stream</a:t>
                      </a:r>
                    </a:p>
                  </a:txBody>
                  <a:tcPr marL="89658" marR="89658" marT="89658" marB="1793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187476"/>
                  </a:ext>
                </a:extLst>
              </a:tr>
              <a:tr h="6993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ostream</a:t>
                      </a:r>
                      <a:endParaRPr lang="en-IN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9658" marR="89658" marT="89658" marB="1793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Output stream</a:t>
                      </a:r>
                    </a:p>
                  </a:txBody>
                  <a:tcPr marL="89658" marR="89658" marT="89658" marB="1793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399368"/>
                  </a:ext>
                </a:extLst>
              </a:tr>
              <a:tr h="6993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iostream</a:t>
                      </a:r>
                      <a:endParaRPr lang="en-IN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9658" marR="89658" marT="89658" marB="1793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Both input &amp; output</a:t>
                      </a:r>
                    </a:p>
                  </a:txBody>
                  <a:tcPr marL="89658" marR="89658" marT="89658" marB="1793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893219"/>
                  </a:ext>
                </a:extLst>
              </a:tr>
              <a:tr h="6993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ifstream</a:t>
                      </a:r>
                      <a:endParaRPr lang="en-IN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9658" marR="89658" marT="89658" marB="1793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File input</a:t>
                      </a:r>
                    </a:p>
                  </a:txBody>
                  <a:tcPr marL="89658" marR="89658" marT="89658" marB="1793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2608961"/>
                  </a:ext>
                </a:extLst>
              </a:tr>
              <a:tr h="6993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ofstream</a:t>
                      </a:r>
                      <a:endParaRPr lang="en-IN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9658" marR="89658" marT="89658" marB="1793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File output</a:t>
                      </a:r>
                    </a:p>
                  </a:txBody>
                  <a:tcPr marL="89658" marR="89658" marT="89658" marB="1793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1881155"/>
                  </a:ext>
                </a:extLst>
              </a:tr>
              <a:tr h="6993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fstream</a:t>
                      </a:r>
                      <a:endParaRPr lang="en-IN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9658" marR="89658" marT="89658" marB="1793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 dirty="0">
                          <a:solidFill>
                            <a:schemeClr val="tx1"/>
                          </a:solidFill>
                        </a:rPr>
                        <a:t>File input + output</a:t>
                      </a:r>
                    </a:p>
                  </a:txBody>
                  <a:tcPr marL="89658" marR="89658" marT="89658" marB="1793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5765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5540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50989C-CA52-EFC7-A94D-B6BFF6FAF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N" sz="4800"/>
              <a:t>File Streams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67D9D-F63B-709F-0929-4319831D6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1400"/>
              <a:t>When we work with files, data flows between:</a:t>
            </a:r>
          </a:p>
          <a:p>
            <a:r>
              <a:rPr lang="en-US" sz="1400"/>
              <a:t>Program ↔ File</a:t>
            </a:r>
          </a:p>
          <a:p>
            <a:r>
              <a:rPr lang="en-US" sz="1400"/>
              <a:t>This is called </a:t>
            </a:r>
            <a:r>
              <a:rPr lang="en-US" sz="1400" b="1"/>
              <a:t>File Stream</a:t>
            </a:r>
          </a:p>
          <a:p>
            <a:r>
              <a:rPr lang="en-US" sz="1400" b="1"/>
              <a:t>i.e. </a:t>
            </a:r>
            <a:r>
              <a:rPr lang="en-US" sz="1400"/>
              <a:t>A </a:t>
            </a:r>
            <a:r>
              <a:rPr lang="en-US" sz="1400" b="1"/>
              <a:t>file stream</a:t>
            </a:r>
            <a:r>
              <a:rPr lang="en-US" sz="1400"/>
              <a:t> is used to </a:t>
            </a:r>
            <a:r>
              <a:rPr lang="en-US" sz="1400" b="1"/>
              <a:t>read data from a file</a:t>
            </a:r>
            <a:r>
              <a:rPr lang="en-US" sz="1400"/>
              <a:t> or </a:t>
            </a:r>
            <a:r>
              <a:rPr lang="en-US" sz="1400" b="1"/>
              <a:t>write data into a file</a:t>
            </a:r>
            <a:r>
              <a:rPr lang="en-US" sz="1400"/>
              <a:t>.</a:t>
            </a:r>
          </a:p>
          <a:p>
            <a:endParaRPr lang="en-US" sz="1400"/>
          </a:p>
          <a:p>
            <a:endParaRPr lang="en-US" sz="1400" b="1"/>
          </a:p>
          <a:p>
            <a:r>
              <a:rPr lang="en-US" sz="1400" b="1"/>
              <a:t>Header File for File Handling</a:t>
            </a:r>
          </a:p>
          <a:p>
            <a:r>
              <a:rPr lang="en-US" sz="1400"/>
              <a:t>Before using file streams:</a:t>
            </a:r>
          </a:p>
          <a:p>
            <a:r>
              <a:rPr lang="en-US" sz="1400"/>
              <a:t>#include &lt;fstream&gt;</a:t>
            </a:r>
          </a:p>
          <a:p>
            <a:r>
              <a:rPr lang="en-US" sz="1400"/>
              <a:t>This library provides classes for file handling.</a:t>
            </a:r>
          </a:p>
          <a:p>
            <a:endParaRPr lang="en-US" sz="1400"/>
          </a:p>
          <a:p>
            <a:endParaRPr lang="en-IN" sz="1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FC33FE-9346-6592-E278-BD747D777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532" y="3176126"/>
            <a:ext cx="5150277" cy="233050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486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C17C1-18A5-2DA4-3083-F170A4400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File Stream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605FE-CAA8-D84F-DD34-6C2085AFD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</a:t>
            </a:r>
            <a:r>
              <a:rPr lang="en-US" b="1" dirty="0" err="1"/>
              <a:t>ifstream</a:t>
            </a:r>
            <a:r>
              <a:rPr lang="en-US" b="1" dirty="0"/>
              <a:t> (Input File Stream) - </a:t>
            </a:r>
            <a:r>
              <a:rPr lang="en-US" dirty="0"/>
              <a:t>Used to </a:t>
            </a:r>
            <a:r>
              <a:rPr lang="en-US" b="1" dirty="0"/>
              <a:t>read data from file.</a:t>
            </a:r>
          </a:p>
          <a:p>
            <a:r>
              <a:rPr lang="en-US" b="1" dirty="0"/>
              <a:t>2. </a:t>
            </a:r>
            <a:r>
              <a:rPr lang="en-US" b="1" dirty="0" err="1"/>
              <a:t>ofstream</a:t>
            </a:r>
            <a:r>
              <a:rPr lang="en-US" b="1" dirty="0"/>
              <a:t> (Output File Stream) - </a:t>
            </a:r>
            <a:r>
              <a:rPr lang="en-US" dirty="0"/>
              <a:t>Used to </a:t>
            </a:r>
            <a:r>
              <a:rPr lang="en-US" b="1" dirty="0"/>
              <a:t>write data to file.</a:t>
            </a:r>
          </a:p>
          <a:p>
            <a:r>
              <a:rPr lang="en-US" b="1" dirty="0"/>
              <a:t>3. </a:t>
            </a:r>
            <a:r>
              <a:rPr lang="en-US" b="1" dirty="0" err="1"/>
              <a:t>fstream</a:t>
            </a:r>
            <a:r>
              <a:rPr lang="en-US" b="1" dirty="0"/>
              <a:t> (Input + Output) - </a:t>
            </a:r>
            <a:r>
              <a:rPr lang="en-US" dirty="0"/>
              <a:t>Used for </a:t>
            </a:r>
            <a:r>
              <a:rPr lang="en-US" b="1" dirty="0"/>
              <a:t>both reading and writing.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7721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3266A-0E47-5604-6609-57EA71EA3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Opening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27248-3A66-9C31-4B9D-E2D687443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Opening a file</a:t>
            </a:r>
            <a:r>
              <a:rPr lang="en-US" dirty="0"/>
              <a:t> means connecting your program with a file so that you can:</a:t>
            </a:r>
          </a:p>
          <a:p>
            <a:r>
              <a:rPr lang="en-US" dirty="0"/>
              <a:t>Read data from it </a:t>
            </a:r>
          </a:p>
          <a:p>
            <a:r>
              <a:rPr lang="en-US" dirty="0"/>
              <a:t>Write data into it </a:t>
            </a:r>
          </a:p>
          <a:p>
            <a:r>
              <a:rPr lang="en-US" dirty="0"/>
              <a:t>Until you open a file → you </a:t>
            </a:r>
            <a:r>
              <a:rPr lang="en-US" b="1" dirty="0"/>
              <a:t>cannot access it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1491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AE2EC-3490-0EC8-D2F7-5954AE12E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F67E7-2108-ADA7-849F-C392057DD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>
            <a:normAutofit fontScale="40000" lnSpcReduction="20000"/>
          </a:bodyPr>
          <a:lstStyle/>
          <a:p>
            <a:r>
              <a:rPr lang="en-US" b="1" dirty="0"/>
              <a:t>Ways to Open a File</a:t>
            </a:r>
          </a:p>
          <a:p>
            <a:r>
              <a:rPr lang="en-US" dirty="0"/>
              <a:t>There are </a:t>
            </a:r>
            <a:r>
              <a:rPr lang="en-US" b="1" dirty="0"/>
              <a:t>2 main ways</a:t>
            </a:r>
            <a:r>
              <a:rPr lang="en-US" dirty="0"/>
              <a:t>:</a:t>
            </a:r>
          </a:p>
          <a:p>
            <a:r>
              <a:rPr lang="en-US" b="1" dirty="0"/>
              <a:t> 1. Open File Using Constructor</a:t>
            </a:r>
          </a:p>
          <a:p>
            <a:r>
              <a:rPr lang="en-US" dirty="0"/>
              <a:t>File opens </a:t>
            </a:r>
            <a:r>
              <a:rPr lang="en-US" b="1" dirty="0"/>
              <a:t>at the time of object creation</a:t>
            </a:r>
          </a:p>
          <a:p>
            <a:r>
              <a:rPr lang="en-IN" b="1" dirty="0"/>
              <a:t>Syntax:</a:t>
            </a:r>
          </a:p>
          <a:p>
            <a:r>
              <a:rPr lang="en-IN" dirty="0" err="1"/>
              <a:t>ClassName</a:t>
            </a:r>
            <a:r>
              <a:rPr lang="en-IN" dirty="0"/>
              <a:t> </a:t>
            </a:r>
            <a:r>
              <a:rPr lang="en-IN" dirty="0" err="1"/>
              <a:t>object_name</a:t>
            </a:r>
            <a:r>
              <a:rPr lang="en-IN" dirty="0"/>
              <a:t>("filename", mode);</a:t>
            </a:r>
          </a:p>
          <a:p>
            <a:endParaRPr lang="en-IN" dirty="0"/>
          </a:p>
          <a:p>
            <a:r>
              <a:rPr lang="en-US" dirty="0"/>
              <a:t>Example – </a:t>
            </a:r>
          </a:p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fstream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ifstream</a:t>
            </a:r>
            <a:r>
              <a:rPr lang="en-US" dirty="0"/>
              <a:t> fin("data.txt", </a:t>
            </a:r>
            <a:r>
              <a:rPr lang="en-US" dirty="0" err="1"/>
              <a:t>ios</a:t>
            </a:r>
            <a:r>
              <a:rPr lang="en-US" dirty="0"/>
              <a:t>::in);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if (</a:t>
            </a:r>
            <a:r>
              <a:rPr lang="en-US" dirty="0" err="1"/>
              <a:t>fin.is_open</a:t>
            </a:r>
            <a:r>
              <a:rPr lang="en-US" dirty="0"/>
              <a:t>())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"File opened successfully";</a:t>
            </a:r>
          </a:p>
          <a:p>
            <a:pPr marL="0" indent="0">
              <a:buNone/>
            </a:pPr>
            <a:r>
              <a:rPr lang="en-US" dirty="0"/>
              <a:t>    } else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"Error opening file";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fin.close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230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5B9592-5C59-5D71-4279-3A9F06DF9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7A4ED-DAE4-A221-98D0-62DC65C74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IN" sz="2000" dirty="0"/>
              <a:t>File Opening Modes – </a:t>
            </a:r>
          </a:p>
          <a:p>
            <a:r>
              <a:rPr lang="en-US" sz="2000" dirty="0"/>
              <a:t>Modes tell </a:t>
            </a:r>
            <a:r>
              <a:rPr lang="en-US" sz="2000" b="1" dirty="0"/>
              <a:t>how the file will be used</a:t>
            </a: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7DFAB8-04D5-DD3C-EE03-A5B5383BB1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506072"/>
              </p:ext>
            </p:extLst>
          </p:nvPr>
        </p:nvGraphicFramePr>
        <p:xfrm>
          <a:off x="6127325" y="2484255"/>
          <a:ext cx="4718695" cy="3714246"/>
        </p:xfrm>
        <a:graphic>
          <a:graphicData uri="http://schemas.openxmlformats.org/drawingml/2006/table">
            <a:tbl>
              <a:tblPr/>
              <a:tblGrid>
                <a:gridCol w="1033394">
                  <a:extLst>
                    <a:ext uri="{9D8B030D-6E8A-4147-A177-3AD203B41FA5}">
                      <a16:colId xmlns:a16="http://schemas.microsoft.com/office/drawing/2014/main" val="200220026"/>
                    </a:ext>
                  </a:extLst>
                </a:gridCol>
                <a:gridCol w="930363">
                  <a:extLst>
                    <a:ext uri="{9D8B030D-6E8A-4147-A177-3AD203B41FA5}">
                      <a16:colId xmlns:a16="http://schemas.microsoft.com/office/drawing/2014/main" val="86414130"/>
                    </a:ext>
                  </a:extLst>
                </a:gridCol>
                <a:gridCol w="959284">
                  <a:extLst>
                    <a:ext uri="{9D8B030D-6E8A-4147-A177-3AD203B41FA5}">
                      <a16:colId xmlns:a16="http://schemas.microsoft.com/office/drawing/2014/main" val="3743692883"/>
                    </a:ext>
                  </a:extLst>
                </a:gridCol>
                <a:gridCol w="843600">
                  <a:extLst>
                    <a:ext uri="{9D8B030D-6E8A-4147-A177-3AD203B41FA5}">
                      <a16:colId xmlns:a16="http://schemas.microsoft.com/office/drawing/2014/main" val="3828425996"/>
                    </a:ext>
                  </a:extLst>
                </a:gridCol>
                <a:gridCol w="952054">
                  <a:extLst>
                    <a:ext uri="{9D8B030D-6E8A-4147-A177-3AD203B41FA5}">
                      <a16:colId xmlns:a16="http://schemas.microsoft.com/office/drawing/2014/main" val="258019985"/>
                    </a:ext>
                  </a:extLst>
                </a:gridCol>
              </a:tblGrid>
              <a:tr h="384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Mode</a:t>
                      </a:r>
                    </a:p>
                  </a:txBody>
                  <a:tcPr marL="51610" marR="51610" marT="25805" marB="258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Full Name</a:t>
                      </a:r>
                    </a:p>
                  </a:txBody>
                  <a:tcPr marL="51610" marR="51610" marT="25805" marB="258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Purpose</a:t>
                      </a:r>
                    </a:p>
                  </a:txBody>
                  <a:tcPr marL="51610" marR="51610" marT="25805" marB="258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Data Flow</a:t>
                      </a:r>
                    </a:p>
                  </a:txBody>
                  <a:tcPr marL="51610" marR="51610" marT="25805" marB="258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Important Points</a:t>
                      </a:r>
                    </a:p>
                  </a:txBody>
                  <a:tcPr marL="51610" marR="51610" marT="25805" marB="258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4718503"/>
                  </a:ext>
                </a:extLst>
              </a:tr>
              <a:tr h="697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ios::in</a:t>
                      </a:r>
                      <a:endParaRPr lang="en-IN" sz="1000"/>
                    </a:p>
                  </a:txBody>
                  <a:tcPr marL="51610" marR="51610" marT="25805" marB="258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Input Mode</a:t>
                      </a:r>
                    </a:p>
                  </a:txBody>
                  <a:tcPr marL="51610" marR="51610" marT="25805" marB="258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Read data from file</a:t>
                      </a:r>
                    </a:p>
                  </a:txBody>
                  <a:tcPr marL="51610" marR="51610" marT="25805" marB="258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File → Program</a:t>
                      </a:r>
                    </a:p>
                  </a:txBody>
                  <a:tcPr marL="51610" marR="51610" marT="25805" marB="258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File must exist, otherwise error</a:t>
                      </a:r>
                    </a:p>
                  </a:txBody>
                  <a:tcPr marL="51610" marR="51610" marT="25805" marB="258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502972"/>
                  </a:ext>
                </a:extLst>
              </a:tr>
              <a:tr h="697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ios::out</a:t>
                      </a:r>
                      <a:endParaRPr lang="en-IN" sz="1000"/>
                    </a:p>
                  </a:txBody>
                  <a:tcPr marL="51610" marR="51610" marT="25805" marB="258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Output Mode</a:t>
                      </a:r>
                    </a:p>
                  </a:txBody>
                  <a:tcPr marL="51610" marR="51610" marT="25805" marB="258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Write data to file</a:t>
                      </a:r>
                    </a:p>
                  </a:txBody>
                  <a:tcPr marL="51610" marR="51610" marT="25805" marB="258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Program → File</a:t>
                      </a:r>
                    </a:p>
                  </a:txBody>
                  <a:tcPr marL="51610" marR="51610" marT="25805" marB="258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Creates file if not exists, overwrites existing data</a:t>
                      </a:r>
                    </a:p>
                  </a:txBody>
                  <a:tcPr marL="51610" marR="51610" marT="25805" marB="258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992151"/>
                  </a:ext>
                </a:extLst>
              </a:tr>
              <a:tr h="697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ios::app</a:t>
                      </a:r>
                      <a:endParaRPr lang="en-IN" sz="1000"/>
                    </a:p>
                  </a:txBody>
                  <a:tcPr marL="51610" marR="51610" marT="25805" marB="258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Append Mode</a:t>
                      </a:r>
                    </a:p>
                  </a:txBody>
                  <a:tcPr marL="51610" marR="51610" marT="25805" marB="258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Add data at end of file</a:t>
                      </a:r>
                    </a:p>
                  </a:txBody>
                  <a:tcPr marL="51610" marR="51610" marT="25805" marB="258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Program → File</a:t>
                      </a:r>
                    </a:p>
                  </a:txBody>
                  <a:tcPr marL="51610" marR="51610" marT="25805" marB="258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Old data is not deleted, always writes at end</a:t>
                      </a:r>
                    </a:p>
                  </a:txBody>
                  <a:tcPr marL="51610" marR="51610" marT="25805" marB="258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5182656"/>
                  </a:ext>
                </a:extLst>
              </a:tr>
              <a:tr h="540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ios::trunc</a:t>
                      </a:r>
                      <a:endParaRPr lang="en-IN" sz="1000"/>
                    </a:p>
                  </a:txBody>
                  <a:tcPr marL="51610" marR="51610" marT="25805" marB="258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Truncate Mode</a:t>
                      </a:r>
                    </a:p>
                  </a:txBody>
                  <a:tcPr marL="51610" marR="51610" marT="25805" marB="258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Clear file before writing</a:t>
                      </a:r>
                    </a:p>
                  </a:txBody>
                  <a:tcPr marL="51610" marR="51610" marT="25805" marB="258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Program → File</a:t>
                      </a:r>
                    </a:p>
                  </a:txBody>
                  <a:tcPr marL="51610" marR="51610" marT="25805" marB="258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Deletes all previous content</a:t>
                      </a:r>
                    </a:p>
                  </a:txBody>
                  <a:tcPr marL="51610" marR="51610" marT="25805" marB="258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550263"/>
                  </a:ext>
                </a:extLst>
              </a:tr>
              <a:tr h="697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ios::binary</a:t>
                      </a:r>
                      <a:endParaRPr lang="en-IN" sz="1000"/>
                    </a:p>
                  </a:txBody>
                  <a:tcPr marL="51610" marR="51610" marT="25805" marB="258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Binary Mode</a:t>
                      </a:r>
                    </a:p>
                  </a:txBody>
                  <a:tcPr marL="51610" marR="51610" marT="25805" marB="258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Work with binary data</a:t>
                      </a:r>
                    </a:p>
                  </a:txBody>
                  <a:tcPr marL="51610" marR="51610" marT="25805" marB="258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Both</a:t>
                      </a:r>
                    </a:p>
                  </a:txBody>
                  <a:tcPr marL="51610" marR="51610" marT="25805" marB="258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Used for non-text files (images, videos, etc.)</a:t>
                      </a:r>
                    </a:p>
                  </a:txBody>
                  <a:tcPr marL="51610" marR="51610" marT="25805" marB="258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1732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917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A80BD-3C7A-8813-3E63-8B17AF1F8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80603-DC0A-CB52-C085-7F58C7240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Combining Modes</a:t>
            </a:r>
          </a:p>
          <a:p>
            <a:r>
              <a:rPr lang="en-IN" dirty="0"/>
              <a:t>Use | operator</a:t>
            </a:r>
          </a:p>
          <a:p>
            <a:r>
              <a:rPr lang="en-IN" dirty="0" err="1"/>
              <a:t>ios</a:t>
            </a:r>
            <a:r>
              <a:rPr lang="en-IN" dirty="0"/>
              <a:t>::in | </a:t>
            </a:r>
            <a:r>
              <a:rPr lang="en-IN" dirty="0" err="1"/>
              <a:t>ios</a:t>
            </a:r>
            <a:r>
              <a:rPr lang="en-IN" dirty="0"/>
              <a:t>::out</a:t>
            </a:r>
          </a:p>
          <a:p>
            <a:r>
              <a:rPr lang="en-IN" dirty="0"/>
              <a:t>Example:</a:t>
            </a:r>
          </a:p>
          <a:p>
            <a:r>
              <a:rPr lang="en-IN" dirty="0" err="1"/>
              <a:t>fstream</a:t>
            </a:r>
            <a:r>
              <a:rPr lang="en-IN" dirty="0"/>
              <a:t> file("data.txt", </a:t>
            </a:r>
            <a:r>
              <a:rPr lang="en-IN" dirty="0" err="1"/>
              <a:t>ios</a:t>
            </a:r>
            <a:r>
              <a:rPr lang="en-IN" dirty="0"/>
              <a:t>::in | </a:t>
            </a:r>
            <a:r>
              <a:rPr lang="en-IN" dirty="0" err="1"/>
              <a:t>ios</a:t>
            </a:r>
            <a:r>
              <a:rPr lang="en-IN" dirty="0"/>
              <a:t>::out);</a:t>
            </a:r>
          </a:p>
          <a:p>
            <a:endParaRPr lang="en-IN" dirty="0"/>
          </a:p>
          <a:p>
            <a:r>
              <a:rPr lang="en-IN" b="1" dirty="0"/>
              <a:t>Default Modes 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Example:</a:t>
            </a:r>
          </a:p>
          <a:p>
            <a:r>
              <a:rPr lang="en-US" dirty="0" err="1"/>
              <a:t>ifstream</a:t>
            </a:r>
            <a:r>
              <a:rPr lang="en-US" dirty="0"/>
              <a:t> fin("data.txt");   // automatically </a:t>
            </a:r>
            <a:r>
              <a:rPr lang="en-US" dirty="0" err="1"/>
              <a:t>ios</a:t>
            </a:r>
            <a:r>
              <a:rPr lang="en-US" dirty="0"/>
              <a:t>::in</a:t>
            </a:r>
            <a:br>
              <a:rPr lang="en-US" dirty="0"/>
            </a:br>
            <a:r>
              <a:rPr lang="en-US" dirty="0" err="1"/>
              <a:t>ofstream</a:t>
            </a:r>
            <a:r>
              <a:rPr lang="en-US" dirty="0"/>
              <a:t> </a:t>
            </a:r>
            <a:r>
              <a:rPr lang="en-US" dirty="0" err="1"/>
              <a:t>fout</a:t>
            </a:r>
            <a:r>
              <a:rPr lang="en-US" dirty="0"/>
              <a:t>("data.txt");  // automatically </a:t>
            </a:r>
            <a:r>
              <a:rPr lang="en-US" dirty="0" err="1"/>
              <a:t>ios</a:t>
            </a:r>
            <a:r>
              <a:rPr lang="en-US" dirty="0"/>
              <a:t>::out</a:t>
            </a:r>
          </a:p>
          <a:p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0AB44B1-2828-9487-F156-A850358FD3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164859"/>
              </p:ext>
            </p:extLst>
          </p:nvPr>
        </p:nvGraphicFramePr>
        <p:xfrm>
          <a:off x="838200" y="3057123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53059366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302138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Default Mode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744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ifstream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ios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::in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30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ofstream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ios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::out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818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fstream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 fixed default (specify mode)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06658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7055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8D487-8989-10F9-F941-178A43DDC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06EB3-A981-1FCA-232B-66F7A49BF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>
            <a:normAutofit fontScale="47500" lnSpcReduction="20000"/>
          </a:bodyPr>
          <a:lstStyle/>
          <a:p>
            <a:r>
              <a:rPr lang="en-US" b="1" dirty="0"/>
              <a:t>2. Open File Using open() Function – </a:t>
            </a:r>
            <a:r>
              <a:rPr lang="en-US" dirty="0"/>
              <a:t>First create object, then open file.</a:t>
            </a:r>
          </a:p>
          <a:p>
            <a:r>
              <a:rPr lang="fr-FR" b="1" dirty="0" err="1"/>
              <a:t>Syntax</a:t>
            </a:r>
            <a:r>
              <a:rPr lang="fr-FR" b="1" dirty="0"/>
              <a:t>:</a:t>
            </a:r>
          </a:p>
          <a:p>
            <a:r>
              <a:rPr lang="fr-FR" dirty="0" err="1"/>
              <a:t>file_object.open</a:t>
            </a:r>
            <a:r>
              <a:rPr lang="fr-FR" dirty="0"/>
              <a:t>("</a:t>
            </a:r>
            <a:r>
              <a:rPr lang="fr-FR" dirty="0" err="1"/>
              <a:t>filename</a:t>
            </a:r>
            <a:r>
              <a:rPr lang="fr-FR" dirty="0"/>
              <a:t>", mode);</a:t>
            </a:r>
          </a:p>
          <a:p>
            <a:r>
              <a:rPr lang="en-IN" b="1" dirty="0"/>
              <a:t>Example – 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fstream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ifstream</a:t>
            </a:r>
            <a:r>
              <a:rPr lang="en-IN" dirty="0"/>
              <a:t> fin;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fin.open</a:t>
            </a:r>
            <a:r>
              <a:rPr lang="en-IN" dirty="0"/>
              <a:t>("data.txt", </a:t>
            </a:r>
            <a:r>
              <a:rPr lang="en-IN" dirty="0" err="1"/>
              <a:t>ios</a:t>
            </a:r>
            <a:r>
              <a:rPr lang="en-IN" dirty="0"/>
              <a:t>::in);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if (</a:t>
            </a:r>
            <a:r>
              <a:rPr lang="en-IN" dirty="0" err="1"/>
              <a:t>fin.is_open</a:t>
            </a:r>
            <a:r>
              <a:rPr lang="en-IN" dirty="0"/>
              <a:t>())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"File opened successfully";</a:t>
            </a:r>
          </a:p>
          <a:p>
            <a:pPr marL="0" indent="0">
              <a:buNone/>
            </a:pPr>
            <a:r>
              <a:rPr lang="en-IN" dirty="0"/>
              <a:t>    } else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"Error opening file";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fin.close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70654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BF2B0-6660-B760-9852-90576F627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File 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6149A-EEF3-BA93-57C7-8AC67D8D1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C++, file reading is done using:</a:t>
            </a:r>
          </a:p>
          <a:p>
            <a:r>
              <a:rPr lang="en-US" dirty="0"/>
              <a:t> </a:t>
            </a:r>
            <a:r>
              <a:rPr lang="en-US" dirty="0" err="1"/>
              <a:t>ifstream</a:t>
            </a:r>
            <a:r>
              <a:rPr lang="en-US" dirty="0"/>
              <a:t> (input file stream)</a:t>
            </a:r>
          </a:p>
          <a:p>
            <a:r>
              <a:rPr lang="en-US" b="1" dirty="0"/>
              <a:t>Basic Steps for Reading a File</a:t>
            </a:r>
          </a:p>
          <a:p>
            <a:r>
              <a:rPr lang="en-US" dirty="0"/>
              <a:t>Create object of </a:t>
            </a:r>
            <a:r>
              <a:rPr lang="en-US" dirty="0" err="1"/>
              <a:t>ifstream</a:t>
            </a:r>
            <a:r>
              <a:rPr lang="en-US" dirty="0"/>
              <a:t> </a:t>
            </a:r>
          </a:p>
          <a:p>
            <a:r>
              <a:rPr lang="en-US" dirty="0"/>
              <a:t>Open the file </a:t>
            </a:r>
          </a:p>
          <a:p>
            <a:r>
              <a:rPr lang="en-US" dirty="0"/>
              <a:t>Read data </a:t>
            </a:r>
          </a:p>
          <a:p>
            <a:r>
              <a:rPr lang="en-US" dirty="0"/>
              <a:t>Close file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475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22E3D-D8CA-1962-8A3B-069F6E692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D663E-7346-069E-3461-789131886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>
            <a:normAutofit fontScale="32500" lnSpcReduction="20000"/>
          </a:bodyPr>
          <a:lstStyle/>
          <a:p>
            <a:r>
              <a:rPr lang="en-US" dirty="0"/>
              <a:t>Example 1: Reading Word by Word </a:t>
            </a:r>
          </a:p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fstream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ifstream</a:t>
            </a:r>
            <a:r>
              <a:rPr lang="en-US" dirty="0"/>
              <a:t> fin("data.txt");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if (</a:t>
            </a:r>
            <a:r>
              <a:rPr lang="en-US" dirty="0" err="1"/>
              <a:t>fin.is_open</a:t>
            </a:r>
            <a:r>
              <a:rPr lang="en-US" dirty="0"/>
              <a:t>()) {</a:t>
            </a:r>
          </a:p>
          <a:p>
            <a:pPr marL="0" indent="0">
              <a:buNone/>
            </a:pPr>
            <a:r>
              <a:rPr lang="en-US" dirty="0"/>
              <a:t>        string word;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while (fin &gt;&gt; word) 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cout</a:t>
            </a:r>
            <a:r>
              <a:rPr lang="en-US" dirty="0"/>
              <a:t> &lt;&lt; word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fin.close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} else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"File could not be opened!";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r>
              <a:rPr lang="en-US" dirty="0"/>
              <a:t>"data.txt" must exist in same folder OR give full path: </a:t>
            </a:r>
          </a:p>
          <a:p>
            <a:r>
              <a:rPr lang="en-US" dirty="0" err="1"/>
              <a:t>ifstream</a:t>
            </a:r>
            <a:r>
              <a:rPr lang="en-US" dirty="0"/>
              <a:t> fin("C:\\Users\\Rohit\\Desktop\\data.txt");</a:t>
            </a:r>
          </a:p>
          <a:p>
            <a:r>
              <a:rPr lang="en-US" dirty="0"/>
              <a:t>fin &gt;&gt; word </a:t>
            </a:r>
          </a:p>
          <a:p>
            <a:pPr lvl="1"/>
            <a:r>
              <a:rPr lang="en-US" dirty="0"/>
              <a:t>Reads until space, tab, newline </a:t>
            </a:r>
          </a:p>
          <a:p>
            <a:pPr lvl="1"/>
            <a:r>
              <a:rPr lang="en-US" dirty="0"/>
              <a:t>Automatically stops at EOF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5341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85F0F-2EAF-1810-BECA-6F5D8CEE0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6CE64-0B40-3557-6375-18509C7AE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Example 2: Reading Line by Line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fstream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ifstream</a:t>
            </a:r>
            <a:r>
              <a:rPr lang="en-IN" dirty="0"/>
              <a:t> fin("data.txt");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if (</a:t>
            </a:r>
            <a:r>
              <a:rPr lang="en-IN" dirty="0" err="1"/>
              <a:t>fin.is_open</a:t>
            </a:r>
            <a:r>
              <a:rPr lang="en-IN" dirty="0"/>
              <a:t>()) {</a:t>
            </a:r>
          </a:p>
          <a:p>
            <a:pPr marL="0" indent="0">
              <a:buNone/>
            </a:pPr>
            <a:r>
              <a:rPr lang="en-IN" dirty="0"/>
              <a:t>        string line;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while (</a:t>
            </a:r>
            <a:r>
              <a:rPr lang="en-IN" dirty="0" err="1"/>
              <a:t>getline</a:t>
            </a:r>
            <a:r>
              <a:rPr lang="en-IN" dirty="0"/>
              <a:t>(fin, line))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cout</a:t>
            </a:r>
            <a:r>
              <a:rPr lang="en-IN" dirty="0"/>
              <a:t> &lt;&lt; line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fin.close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} else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"Error opening file!";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US" b="1" dirty="0"/>
              <a:t>Why this is better?</a:t>
            </a:r>
          </a:p>
          <a:p>
            <a:r>
              <a:rPr lang="en-US" dirty="0"/>
              <a:t>Reads full line (including spaces) </a:t>
            </a:r>
          </a:p>
          <a:p>
            <a:r>
              <a:rPr lang="en-US" dirty="0"/>
              <a:t>Used in </a:t>
            </a:r>
            <a:r>
              <a:rPr lang="en-US" b="1" dirty="0"/>
              <a:t>logs, CSV, real-world files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4630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5E56D-5C4A-2660-B50D-1FCCC7C7F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4A77B-6EB1-4256-7091-B26883F2E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Example 3: Reading Character by Character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fstream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ifstream</a:t>
            </a:r>
            <a:r>
              <a:rPr lang="en-IN" dirty="0"/>
              <a:t> fin("data.txt");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if (</a:t>
            </a:r>
            <a:r>
              <a:rPr lang="en-IN" dirty="0" err="1"/>
              <a:t>fin.is_open</a:t>
            </a:r>
            <a:r>
              <a:rPr lang="en-IN" dirty="0"/>
              <a:t>()) {</a:t>
            </a:r>
          </a:p>
          <a:p>
            <a:pPr marL="0" indent="0">
              <a:buNone/>
            </a:pPr>
            <a:r>
              <a:rPr lang="en-IN" dirty="0"/>
              <a:t>        char </a:t>
            </a:r>
            <a:r>
              <a:rPr lang="en-IN" dirty="0" err="1"/>
              <a:t>ch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while (</a:t>
            </a:r>
            <a:r>
              <a:rPr lang="en-IN" dirty="0" err="1"/>
              <a:t>fin.get</a:t>
            </a:r>
            <a:r>
              <a:rPr lang="en-IN" dirty="0"/>
              <a:t>(</a:t>
            </a:r>
            <a:r>
              <a:rPr lang="en-IN" dirty="0" err="1"/>
              <a:t>ch</a:t>
            </a:r>
            <a:r>
              <a:rPr lang="en-IN" dirty="0"/>
              <a:t>))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ch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fin.close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} else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"File not opened!";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61907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6D43A-6584-E0EE-2DEB-136EFAC5D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B626D-3C3B-6C9C-5171-64B5BEBEC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>
            <a:normAutofit fontScale="47500" lnSpcReduction="20000"/>
          </a:bodyPr>
          <a:lstStyle/>
          <a:p>
            <a:r>
              <a:rPr lang="en-IN" dirty="0"/>
              <a:t>Example 4: Reading Numbers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fstream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ifstream</a:t>
            </a:r>
            <a:r>
              <a:rPr lang="en-IN" dirty="0"/>
              <a:t> fin("numbers.txt");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if (</a:t>
            </a:r>
            <a:r>
              <a:rPr lang="en-IN" dirty="0" err="1"/>
              <a:t>fin.is_open</a:t>
            </a:r>
            <a:r>
              <a:rPr lang="en-IN" dirty="0"/>
              <a:t>()) {</a:t>
            </a:r>
          </a:p>
          <a:p>
            <a:pPr marL="0" indent="0">
              <a:buNone/>
            </a:pPr>
            <a:r>
              <a:rPr lang="en-IN" dirty="0"/>
              <a:t>        int </a:t>
            </a:r>
            <a:r>
              <a:rPr lang="en-IN" dirty="0" err="1"/>
              <a:t>num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while (fin &gt;&gt; </a:t>
            </a:r>
            <a:r>
              <a:rPr lang="en-IN" dirty="0" err="1"/>
              <a:t>num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cout</a:t>
            </a:r>
            <a:r>
              <a:rPr lang="en-IN" dirty="0"/>
              <a:t> &lt;&lt; "Read: " &lt;&lt; </a:t>
            </a:r>
            <a:r>
              <a:rPr lang="en-IN" dirty="0" err="1"/>
              <a:t>num</a:t>
            </a:r>
            <a:r>
              <a:rPr lang="en-IN" dirty="0"/>
              <a:t>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fin.close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} else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"Unable to open file!";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79620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D2B61B-B8C5-175E-A957-EAF5ABB7D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15987-511D-B2E6-B67D-BC729FDCA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 lnSpcReduction="10000"/>
          </a:bodyPr>
          <a:lstStyle/>
          <a:p>
            <a:r>
              <a:rPr lang="en-IN" sz="1400" b="1" dirty="0" err="1"/>
              <a:t>eof</a:t>
            </a:r>
            <a:r>
              <a:rPr lang="en-IN" sz="1400" b="1" dirty="0"/>
              <a:t>() – </a:t>
            </a:r>
          </a:p>
          <a:p>
            <a:r>
              <a:rPr lang="en-US" sz="1400" dirty="0" err="1"/>
              <a:t>eof</a:t>
            </a:r>
            <a:r>
              <a:rPr lang="en-US" sz="1400" dirty="0"/>
              <a:t>() means </a:t>
            </a:r>
            <a:r>
              <a:rPr lang="en-US" sz="1400" b="1" dirty="0"/>
              <a:t>End Of File</a:t>
            </a:r>
            <a:endParaRPr lang="en-US" sz="1400" dirty="0"/>
          </a:p>
          <a:p>
            <a:r>
              <a:rPr lang="en-US" sz="1400" dirty="0" err="1"/>
              <a:t>fin.eof</a:t>
            </a:r>
            <a:r>
              <a:rPr lang="en-US" sz="1400" dirty="0"/>
              <a:t>()</a:t>
            </a:r>
          </a:p>
          <a:p>
            <a:r>
              <a:rPr lang="en-US" sz="1400" dirty="0"/>
              <a:t>Returns:</a:t>
            </a:r>
          </a:p>
          <a:p>
            <a:r>
              <a:rPr lang="en-US" sz="1400" dirty="0"/>
              <a:t>true → end of file reached </a:t>
            </a:r>
          </a:p>
          <a:p>
            <a:r>
              <a:rPr lang="en-US" sz="1400" dirty="0"/>
              <a:t>false → still data available</a:t>
            </a:r>
          </a:p>
          <a:p>
            <a:r>
              <a:rPr lang="en-US" sz="1400" dirty="0" err="1"/>
              <a:t>eof</a:t>
            </a:r>
            <a:r>
              <a:rPr lang="en-US" sz="1400" dirty="0"/>
              <a:t>() becomes true ONLY AFTER a read fails</a:t>
            </a:r>
          </a:p>
          <a:p>
            <a:r>
              <a:rPr lang="en-US" sz="1400" b="1" dirty="0"/>
              <a:t>How File Reading Actually Works (Step-by-Step)</a:t>
            </a:r>
          </a:p>
          <a:p>
            <a:r>
              <a:rPr lang="en-US" sz="1400" dirty="0"/>
              <a:t>Suppose file content is:</a:t>
            </a:r>
          </a:p>
          <a:p>
            <a:r>
              <a:rPr lang="en-US" sz="1400" dirty="0"/>
              <a:t>A B C</a:t>
            </a:r>
          </a:p>
          <a:p>
            <a:pPr marL="0" indent="0">
              <a:buNone/>
            </a:pPr>
            <a:endParaRPr lang="en-US" sz="1400" dirty="0"/>
          </a:p>
          <a:p>
            <a:r>
              <a:rPr lang="en-US" sz="1400" dirty="0"/>
              <a:t>EOF is detected </a:t>
            </a:r>
            <a:r>
              <a:rPr lang="en-US" sz="1400" b="1" dirty="0"/>
              <a:t>after failure</a:t>
            </a:r>
            <a:r>
              <a:rPr lang="en-US" sz="1400" dirty="0"/>
              <a:t>, not before</a:t>
            </a:r>
            <a:endParaRPr lang="en-IN" sz="1400" dirty="0"/>
          </a:p>
          <a:p>
            <a:endParaRPr lang="en-IN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21812A5-024B-E980-5500-ED7E64AA05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784348"/>
              </p:ext>
            </p:extLst>
          </p:nvPr>
        </p:nvGraphicFramePr>
        <p:xfrm>
          <a:off x="5911532" y="3048127"/>
          <a:ext cx="5150279" cy="258650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932916">
                  <a:extLst>
                    <a:ext uri="{9D8B030D-6E8A-4147-A177-3AD203B41FA5}">
                      <a16:colId xmlns:a16="http://schemas.microsoft.com/office/drawing/2014/main" val="133942453"/>
                    </a:ext>
                  </a:extLst>
                </a:gridCol>
                <a:gridCol w="1995961">
                  <a:extLst>
                    <a:ext uri="{9D8B030D-6E8A-4147-A177-3AD203B41FA5}">
                      <a16:colId xmlns:a16="http://schemas.microsoft.com/office/drawing/2014/main" val="2106219580"/>
                    </a:ext>
                  </a:extLst>
                </a:gridCol>
                <a:gridCol w="1288486">
                  <a:extLst>
                    <a:ext uri="{9D8B030D-6E8A-4147-A177-3AD203B41FA5}">
                      <a16:colId xmlns:a16="http://schemas.microsoft.com/office/drawing/2014/main" val="2297616096"/>
                    </a:ext>
                  </a:extLst>
                </a:gridCol>
                <a:gridCol w="932916">
                  <a:extLst>
                    <a:ext uri="{9D8B030D-6E8A-4147-A177-3AD203B41FA5}">
                      <a16:colId xmlns:a16="http://schemas.microsoft.com/office/drawing/2014/main" val="2063535835"/>
                    </a:ext>
                  </a:extLst>
                </a:gridCol>
              </a:tblGrid>
              <a:tr h="517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Step</a:t>
                      </a:r>
                    </a:p>
                  </a:txBody>
                  <a:tcPr marL="211143" marR="105571" marT="105571" marB="1055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Operation</a:t>
                      </a:r>
                    </a:p>
                  </a:txBody>
                  <a:tcPr marL="211143" marR="105571" marT="105571" marB="1055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Result</a:t>
                      </a:r>
                    </a:p>
                  </a:txBody>
                  <a:tcPr marL="211143" marR="105571" marT="105571" marB="1055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eof()</a:t>
                      </a:r>
                    </a:p>
                  </a:txBody>
                  <a:tcPr marL="211143" marR="105571" marT="105571" marB="1055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4145976"/>
                  </a:ext>
                </a:extLst>
              </a:tr>
              <a:tr h="517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</a:t>
                      </a:r>
                    </a:p>
                  </a:txBody>
                  <a:tcPr marL="211143" marR="105571" marT="105571" marB="105571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Read A</a:t>
                      </a:r>
                    </a:p>
                  </a:txBody>
                  <a:tcPr marL="211143" marR="105571" marT="105571" marB="105571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Success</a:t>
                      </a:r>
                    </a:p>
                  </a:txBody>
                  <a:tcPr marL="211143" marR="105571" marT="105571" marB="105571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false</a:t>
                      </a:r>
                    </a:p>
                  </a:txBody>
                  <a:tcPr marL="211143" marR="105571" marT="105571" marB="105571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577044"/>
                  </a:ext>
                </a:extLst>
              </a:tr>
              <a:tr h="517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</a:t>
                      </a:r>
                    </a:p>
                  </a:txBody>
                  <a:tcPr marL="211143" marR="105571" marT="105571" marB="1055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Read B</a:t>
                      </a:r>
                    </a:p>
                  </a:txBody>
                  <a:tcPr marL="211143" marR="105571" marT="105571" marB="1055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Success</a:t>
                      </a:r>
                    </a:p>
                  </a:txBody>
                  <a:tcPr marL="211143" marR="105571" marT="105571" marB="1055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false</a:t>
                      </a:r>
                    </a:p>
                  </a:txBody>
                  <a:tcPr marL="211143" marR="105571" marT="105571" marB="1055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817693"/>
                  </a:ext>
                </a:extLst>
              </a:tr>
              <a:tr h="517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</a:t>
                      </a:r>
                    </a:p>
                  </a:txBody>
                  <a:tcPr marL="211143" marR="105571" marT="105571" marB="105571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Read C</a:t>
                      </a:r>
                    </a:p>
                  </a:txBody>
                  <a:tcPr marL="211143" marR="105571" marT="105571" marB="105571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Success</a:t>
                      </a:r>
                    </a:p>
                  </a:txBody>
                  <a:tcPr marL="211143" marR="105571" marT="105571" marB="105571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false</a:t>
                      </a:r>
                    </a:p>
                  </a:txBody>
                  <a:tcPr marL="211143" marR="105571" marT="105571" marB="105571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60005"/>
                  </a:ext>
                </a:extLst>
              </a:tr>
              <a:tr h="517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</a:t>
                      </a:r>
                    </a:p>
                  </a:txBody>
                  <a:tcPr marL="211143" marR="105571" marT="105571" marB="1055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Try to read next</a:t>
                      </a:r>
                    </a:p>
                  </a:txBody>
                  <a:tcPr marL="211143" marR="105571" marT="105571" marB="1055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❌ FAIL</a:t>
                      </a:r>
                    </a:p>
                  </a:txBody>
                  <a:tcPr marL="211143" marR="105571" marT="105571" marB="1055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true</a:t>
                      </a:r>
                    </a:p>
                  </a:txBody>
                  <a:tcPr marL="211143" marR="105571" marT="105571" marB="1055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5413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45199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929AE-04EE-933A-AB1D-1456FAE28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A81FF-9DB4-682B-289C-60BF1D9F6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Wrong Way of Using </a:t>
            </a:r>
            <a:r>
              <a:rPr lang="en-US" b="1" dirty="0" err="1"/>
              <a:t>eof</a:t>
            </a:r>
            <a:r>
              <a:rPr lang="en-US" b="1" dirty="0"/>
              <a:t>() </a:t>
            </a:r>
          </a:p>
          <a:p>
            <a:r>
              <a:rPr lang="en-US" dirty="0" err="1"/>
              <a:t>ifstream</a:t>
            </a:r>
            <a:r>
              <a:rPr lang="en-US" dirty="0"/>
              <a:t> fin("data.txt");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if (</a:t>
            </a:r>
            <a:r>
              <a:rPr lang="en-US" dirty="0" err="1"/>
              <a:t>fin.is_open</a:t>
            </a:r>
            <a:r>
              <a:rPr lang="en-US" dirty="0"/>
              <a:t>()) {</a:t>
            </a:r>
            <a:br>
              <a:rPr lang="en-US" dirty="0"/>
            </a:br>
            <a:r>
              <a:rPr lang="en-US" dirty="0"/>
              <a:t>    string word;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while (!</a:t>
            </a:r>
            <a:r>
              <a:rPr lang="en-US" dirty="0" err="1"/>
              <a:t>fin.eof</a:t>
            </a:r>
            <a:r>
              <a:rPr lang="en-US" dirty="0"/>
              <a:t>()) {</a:t>
            </a:r>
            <a:br>
              <a:rPr lang="en-US" dirty="0"/>
            </a:br>
            <a:r>
              <a:rPr lang="en-US" dirty="0"/>
              <a:t>        fin &gt;&gt; word;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word &lt;&lt; </a:t>
            </a:r>
            <a:r>
              <a:rPr lang="en-US" dirty="0" err="1"/>
              <a:t>endl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    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fin.close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b="1" dirty="0"/>
              <a:t>Why This is Wrong?</a:t>
            </a:r>
          </a:p>
          <a:p>
            <a:r>
              <a:rPr lang="en-US" dirty="0"/>
              <a:t>Because:</a:t>
            </a:r>
          </a:p>
          <a:p>
            <a:r>
              <a:rPr lang="en-US" dirty="0"/>
              <a:t>Loop checks </a:t>
            </a:r>
            <a:r>
              <a:rPr lang="en-US" dirty="0" err="1"/>
              <a:t>eof</a:t>
            </a:r>
            <a:r>
              <a:rPr lang="en-US" dirty="0"/>
              <a:t>() first </a:t>
            </a:r>
          </a:p>
          <a:p>
            <a:r>
              <a:rPr lang="en-US" dirty="0"/>
              <a:t>Then tries to read </a:t>
            </a:r>
          </a:p>
          <a:p>
            <a:r>
              <a:rPr lang="en-US" dirty="0"/>
              <a:t>Last iteration → read fails </a:t>
            </a:r>
          </a:p>
          <a:p>
            <a:r>
              <a:rPr lang="en-US" dirty="0"/>
              <a:t>But loop already entered </a:t>
            </a:r>
          </a:p>
          <a:p>
            <a:r>
              <a:rPr lang="en-US" dirty="0"/>
              <a:t>So invalid data gets printed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0707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B298A-354E-CDEF-6797-A9A57FD31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98232-7DDC-EDB6-1D4F-35F3C7032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Why </a:t>
            </a:r>
            <a:r>
              <a:rPr lang="en-US" b="1" dirty="0" err="1"/>
              <a:t>eof</a:t>
            </a:r>
            <a:r>
              <a:rPr lang="en-US" b="1" dirty="0"/>
              <a:t>() is NOT Recommended</a:t>
            </a:r>
          </a:p>
          <a:p>
            <a:r>
              <a:rPr lang="en-US" dirty="0"/>
              <a:t>Problems:</a:t>
            </a:r>
          </a:p>
          <a:p>
            <a:r>
              <a:rPr lang="en-US" dirty="0"/>
              <a:t>Checks EOF </a:t>
            </a:r>
            <a:r>
              <a:rPr lang="en-US" b="1" dirty="0"/>
              <a:t>too late</a:t>
            </a:r>
            <a:r>
              <a:rPr lang="en-US" dirty="0"/>
              <a:t> </a:t>
            </a:r>
          </a:p>
          <a:p>
            <a:r>
              <a:rPr lang="en-US" dirty="0"/>
              <a:t>Causes </a:t>
            </a:r>
            <a:r>
              <a:rPr lang="en-US" b="1" dirty="0"/>
              <a:t>extra iteration</a:t>
            </a:r>
            <a:r>
              <a:rPr lang="en-US" dirty="0"/>
              <a:t> </a:t>
            </a:r>
          </a:p>
          <a:p>
            <a:r>
              <a:rPr lang="en-US" dirty="0"/>
              <a:t>May print </a:t>
            </a:r>
            <a:r>
              <a:rPr lang="en-US" b="1" dirty="0"/>
              <a:t>duplicate or garbage data</a:t>
            </a:r>
            <a:endParaRPr lang="en-US" dirty="0"/>
          </a:p>
          <a:p>
            <a:r>
              <a:rPr lang="en-US" b="1" dirty="0"/>
              <a:t>Correct Way (Best Practice)</a:t>
            </a:r>
          </a:p>
          <a:p>
            <a:r>
              <a:rPr lang="en-US" dirty="0"/>
              <a:t>Use the </a:t>
            </a:r>
            <a:r>
              <a:rPr lang="en-US" b="1" dirty="0"/>
              <a:t>read operation itself as condition</a:t>
            </a:r>
          </a:p>
          <a:p>
            <a:r>
              <a:rPr lang="en-IN" dirty="0"/>
              <a:t>Example 1: Word Reading</a:t>
            </a:r>
            <a:endParaRPr lang="en-US" b="1" dirty="0"/>
          </a:p>
          <a:p>
            <a:pPr marL="0" indent="0">
              <a:buNone/>
            </a:pPr>
            <a:r>
              <a:rPr lang="en-US" dirty="0" err="1"/>
              <a:t>ifstream</a:t>
            </a:r>
            <a:r>
              <a:rPr lang="en-US" dirty="0"/>
              <a:t> fin("data.txt");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(</a:t>
            </a:r>
            <a:r>
              <a:rPr lang="en-US" dirty="0" err="1"/>
              <a:t>fin.is_open</a:t>
            </a:r>
            <a:r>
              <a:rPr lang="en-US" dirty="0"/>
              <a:t>()) {</a:t>
            </a:r>
          </a:p>
          <a:p>
            <a:pPr marL="0" indent="0">
              <a:buNone/>
            </a:pPr>
            <a:r>
              <a:rPr lang="en-US" dirty="0"/>
              <a:t>    string word;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while (fin &gt;&gt; word)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word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fin.close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02671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F4400-C925-DE8B-5AAD-7AAF3C755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02F9F-AF9F-3D73-7B61-D391FC14B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Example 2: Line Reading</a:t>
            </a:r>
          </a:p>
          <a:p>
            <a:r>
              <a:rPr lang="en-US" dirty="0" err="1"/>
              <a:t>ifstream</a:t>
            </a:r>
            <a:r>
              <a:rPr lang="en-US" dirty="0"/>
              <a:t> fin("data.txt");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if (</a:t>
            </a:r>
            <a:r>
              <a:rPr lang="en-US" dirty="0" err="1"/>
              <a:t>fin.is_open</a:t>
            </a:r>
            <a:r>
              <a:rPr lang="en-US" dirty="0"/>
              <a:t>()) {</a:t>
            </a:r>
            <a:br>
              <a:rPr lang="en-US" dirty="0"/>
            </a:br>
            <a:r>
              <a:rPr lang="en-US" dirty="0"/>
              <a:t>    string line;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while (</a:t>
            </a:r>
            <a:r>
              <a:rPr lang="en-US" dirty="0" err="1"/>
              <a:t>getline</a:t>
            </a:r>
            <a:r>
              <a:rPr lang="en-US" dirty="0"/>
              <a:t>(fin, line)) {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line &lt;&lt; </a:t>
            </a:r>
            <a:r>
              <a:rPr lang="en-US" dirty="0" err="1"/>
              <a:t>endl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    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fin.close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IN" b="1" dirty="0"/>
              <a:t>Example 3: Character Reading</a:t>
            </a:r>
          </a:p>
          <a:p>
            <a:r>
              <a:rPr lang="en-IN" dirty="0" err="1"/>
              <a:t>ifstream</a:t>
            </a:r>
            <a:r>
              <a:rPr lang="en-IN" dirty="0"/>
              <a:t> fin("data.txt");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if (</a:t>
            </a:r>
            <a:r>
              <a:rPr lang="en-IN" dirty="0" err="1"/>
              <a:t>fin.is_open</a:t>
            </a:r>
            <a:r>
              <a:rPr lang="en-IN" dirty="0"/>
              <a:t>()) {</a:t>
            </a:r>
            <a:br>
              <a:rPr lang="en-IN" dirty="0"/>
            </a:br>
            <a:r>
              <a:rPr lang="en-IN" dirty="0"/>
              <a:t>    char </a:t>
            </a:r>
            <a:r>
              <a:rPr lang="en-IN" dirty="0" err="1"/>
              <a:t>ch</a:t>
            </a:r>
            <a:r>
              <a:rPr lang="en-IN" dirty="0"/>
              <a:t>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while (</a:t>
            </a:r>
            <a:r>
              <a:rPr lang="en-IN" dirty="0" err="1"/>
              <a:t>fin.get</a:t>
            </a:r>
            <a:r>
              <a:rPr lang="en-IN" dirty="0"/>
              <a:t>(</a:t>
            </a:r>
            <a:r>
              <a:rPr lang="en-IN" dirty="0" err="1"/>
              <a:t>ch</a:t>
            </a:r>
            <a:r>
              <a:rPr lang="en-IN" dirty="0"/>
              <a:t>)) {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ch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fin.close</a:t>
            </a:r>
            <a:r>
              <a:rPr lang="en-IN" dirty="0"/>
              <a:t>();</a:t>
            </a:r>
            <a:br>
              <a:rPr lang="en-IN" dirty="0"/>
            </a:br>
            <a:r>
              <a:rPr lang="en-IN" dirty="0"/>
              <a:t>}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10342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080A1-1C63-33EC-F2D2-72E482696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FF93F-33AE-825E-57BF-22D58E812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When Should You Use </a:t>
            </a:r>
            <a:r>
              <a:rPr lang="en-US" b="1" dirty="0" err="1"/>
              <a:t>eof</a:t>
            </a:r>
            <a:r>
              <a:rPr lang="en-US" b="1" dirty="0"/>
              <a:t>()? (</a:t>
            </a:r>
            <a:r>
              <a:rPr lang="en-US" b="1"/>
              <a:t>Correct Usage)</a:t>
            </a:r>
            <a:endParaRPr lang="en-US" b="1" dirty="0"/>
          </a:p>
          <a:p>
            <a:r>
              <a:rPr lang="en-US" dirty="0" err="1"/>
              <a:t>eof</a:t>
            </a:r>
            <a:r>
              <a:rPr lang="en-US" dirty="0"/>
              <a:t>() is NOT for loop control</a:t>
            </a:r>
          </a:p>
          <a:p>
            <a:r>
              <a:rPr lang="en-US" dirty="0"/>
              <a:t>It is used for </a:t>
            </a:r>
            <a:r>
              <a:rPr lang="en-US" b="1" dirty="0"/>
              <a:t>checking state AFTER reading</a:t>
            </a:r>
          </a:p>
          <a:p>
            <a:r>
              <a:rPr lang="en-US" dirty="0"/>
              <a:t>Example: Detect EOF After Loop</a:t>
            </a:r>
          </a:p>
          <a:p>
            <a:pPr marL="0" indent="0">
              <a:buNone/>
            </a:pPr>
            <a:r>
              <a:rPr lang="en-US" dirty="0" err="1"/>
              <a:t>ifstream</a:t>
            </a:r>
            <a:r>
              <a:rPr lang="en-US" dirty="0"/>
              <a:t> fin("data.txt");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(</a:t>
            </a:r>
            <a:r>
              <a:rPr lang="en-US" dirty="0" err="1"/>
              <a:t>fin.is_open</a:t>
            </a:r>
            <a:r>
              <a:rPr lang="en-US" dirty="0"/>
              <a:t>()) {</a:t>
            </a:r>
          </a:p>
          <a:p>
            <a:pPr marL="0" indent="0">
              <a:buNone/>
            </a:pPr>
            <a:r>
              <a:rPr lang="en-US" dirty="0"/>
              <a:t>    string word;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while (fin &gt;&gt; word)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word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if (</a:t>
            </a:r>
            <a:r>
              <a:rPr lang="en-US" dirty="0" err="1"/>
              <a:t>fin.eof</a:t>
            </a:r>
            <a:r>
              <a:rPr lang="en-US" dirty="0"/>
              <a:t>())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"Reached end of file";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fin.close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22016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27CB6-26CC-E387-5D9B-90B9C252F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File Writing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EEEC6-8957-3023-005F-5E6768498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Writing means storing data into a file instead of printing on screen.</a:t>
            </a:r>
          </a:p>
          <a:p>
            <a:r>
              <a:rPr lang="en-US" dirty="0"/>
              <a:t>We use:</a:t>
            </a:r>
          </a:p>
          <a:p>
            <a:r>
              <a:rPr lang="en-US" dirty="0"/>
              <a:t>#include &lt;</a:t>
            </a:r>
            <a:r>
              <a:rPr lang="en-US" dirty="0" err="1"/>
              <a:t>fstream</a:t>
            </a:r>
            <a:r>
              <a:rPr lang="en-US" dirty="0"/>
              <a:t>&gt;</a:t>
            </a:r>
          </a:p>
          <a:p>
            <a:r>
              <a:rPr lang="en-US" dirty="0"/>
              <a:t>Main class:</a:t>
            </a:r>
          </a:p>
          <a:p>
            <a:r>
              <a:rPr lang="en-US" dirty="0" err="1"/>
              <a:t>ofstream</a:t>
            </a:r>
            <a:r>
              <a:rPr lang="en-US" dirty="0"/>
              <a:t>   // output file stream</a:t>
            </a:r>
          </a:p>
          <a:p>
            <a:r>
              <a:rPr lang="en-US" b="1" dirty="0"/>
              <a:t>Basic Steps for Writing</a:t>
            </a:r>
          </a:p>
          <a:p>
            <a:r>
              <a:rPr lang="en-US" dirty="0"/>
              <a:t>Create </a:t>
            </a:r>
            <a:r>
              <a:rPr lang="en-US" dirty="0" err="1"/>
              <a:t>ofstream</a:t>
            </a:r>
            <a:r>
              <a:rPr lang="en-US" dirty="0"/>
              <a:t> object </a:t>
            </a:r>
          </a:p>
          <a:p>
            <a:r>
              <a:rPr lang="en-US" dirty="0"/>
              <a:t>Open file </a:t>
            </a:r>
          </a:p>
          <a:p>
            <a:r>
              <a:rPr lang="en-US" dirty="0"/>
              <a:t>Write data </a:t>
            </a:r>
          </a:p>
          <a:p>
            <a:r>
              <a:rPr lang="en-US" dirty="0"/>
              <a:t>Close file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63057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FC78A-987E-4481-8E22-44C63D3DC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52733-DE90-FCF4-01B7-BF5499945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Example 1: Basic Writing</a:t>
            </a:r>
          </a:p>
          <a:p>
            <a:r>
              <a:rPr lang="en-IN" dirty="0"/>
              <a:t>#include &lt;iostream&gt;</a:t>
            </a:r>
            <a:br>
              <a:rPr lang="en-IN" dirty="0"/>
            </a:br>
            <a:r>
              <a:rPr lang="en-IN" dirty="0"/>
              <a:t>#include &lt;</a:t>
            </a:r>
            <a:r>
              <a:rPr lang="en-IN" dirty="0" err="1"/>
              <a:t>fstream</a:t>
            </a:r>
            <a:r>
              <a:rPr lang="en-IN" dirty="0"/>
              <a:t>&gt;</a:t>
            </a:r>
            <a:br>
              <a:rPr lang="en-IN" dirty="0"/>
            </a:br>
            <a:r>
              <a:rPr lang="en-IN" dirty="0"/>
              <a:t>using namespace std;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int main() {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ofstream</a:t>
            </a:r>
            <a:r>
              <a:rPr lang="en-IN" dirty="0"/>
              <a:t> </a:t>
            </a:r>
            <a:r>
              <a:rPr lang="en-IN" dirty="0" err="1"/>
              <a:t>fout</a:t>
            </a:r>
            <a:r>
              <a:rPr lang="en-IN" dirty="0"/>
              <a:t>("data.txt");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if (</a:t>
            </a:r>
            <a:r>
              <a:rPr lang="en-IN" dirty="0" err="1"/>
              <a:t>fout.is_open</a:t>
            </a:r>
            <a:r>
              <a:rPr lang="en-IN" dirty="0"/>
              <a:t>()) {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fout</a:t>
            </a:r>
            <a:r>
              <a:rPr lang="en-IN" dirty="0"/>
              <a:t> &lt;&lt; "Hello World";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fout.close</a:t>
            </a:r>
            <a:r>
              <a:rPr lang="en-IN" dirty="0"/>
              <a:t>();</a:t>
            </a:r>
            <a:br>
              <a:rPr lang="en-IN" dirty="0"/>
            </a:br>
            <a:r>
              <a:rPr lang="en-IN" dirty="0"/>
              <a:t>    } else {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"File not opened!";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</a:p>
          <a:p>
            <a:r>
              <a:rPr lang="en-US" dirty="0"/>
              <a:t>If file does NOT exist → it is created</a:t>
            </a:r>
          </a:p>
          <a:p>
            <a:r>
              <a:rPr lang="en-US" dirty="0"/>
              <a:t>If file exists → it is overwritten (default)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81550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1A0E3-B2F4-F28A-7C5F-CB03B255A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45D7D-D08E-1A80-D5ED-03F5611FB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Writing Multiple Lines</a:t>
            </a:r>
          </a:p>
          <a:p>
            <a:r>
              <a:rPr lang="en-US" dirty="0" err="1"/>
              <a:t>ofstream</a:t>
            </a:r>
            <a:r>
              <a:rPr lang="en-US" dirty="0"/>
              <a:t> </a:t>
            </a:r>
            <a:r>
              <a:rPr lang="en-US" dirty="0" err="1"/>
              <a:t>fout</a:t>
            </a:r>
            <a:r>
              <a:rPr lang="en-US" dirty="0"/>
              <a:t>("data.txt");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if (</a:t>
            </a:r>
            <a:r>
              <a:rPr lang="en-US" dirty="0" err="1"/>
              <a:t>fout.is_open</a:t>
            </a:r>
            <a:r>
              <a:rPr lang="en-US" dirty="0"/>
              <a:t>()) {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fout</a:t>
            </a:r>
            <a:r>
              <a:rPr lang="en-US" dirty="0"/>
              <a:t> &lt;&lt; "Line 1" &lt;&lt; </a:t>
            </a:r>
            <a:r>
              <a:rPr lang="en-US" dirty="0" err="1"/>
              <a:t>endl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fout</a:t>
            </a:r>
            <a:r>
              <a:rPr lang="en-US" dirty="0"/>
              <a:t> &lt;&lt; "Line 2" &lt;&lt; </a:t>
            </a:r>
            <a:r>
              <a:rPr lang="en-US" dirty="0" err="1"/>
              <a:t>endl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fout</a:t>
            </a:r>
            <a:r>
              <a:rPr lang="en-US" dirty="0"/>
              <a:t> &lt;&lt; "Line 3" &lt;&lt; </a:t>
            </a:r>
            <a:r>
              <a:rPr lang="en-US" dirty="0" err="1"/>
              <a:t>endl</a:t>
            </a:r>
            <a:r>
              <a:rPr lang="en-US" dirty="0"/>
              <a:t>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fout.close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b="1" dirty="0"/>
              <a:t>Writing Different Data Types</a:t>
            </a:r>
          </a:p>
          <a:p>
            <a:r>
              <a:rPr lang="en-US" dirty="0" err="1"/>
              <a:t>ofstream</a:t>
            </a:r>
            <a:r>
              <a:rPr lang="en-US" dirty="0"/>
              <a:t> </a:t>
            </a:r>
            <a:r>
              <a:rPr lang="en-US" dirty="0" err="1"/>
              <a:t>fout</a:t>
            </a:r>
            <a:r>
              <a:rPr lang="en-US" dirty="0"/>
              <a:t>("data.txt");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if (</a:t>
            </a:r>
            <a:r>
              <a:rPr lang="en-US" dirty="0" err="1"/>
              <a:t>fout.is_open</a:t>
            </a:r>
            <a:r>
              <a:rPr lang="en-US" dirty="0"/>
              <a:t>()) {</a:t>
            </a:r>
            <a:br>
              <a:rPr lang="en-US" dirty="0"/>
            </a:br>
            <a:r>
              <a:rPr lang="en-US" dirty="0"/>
              <a:t>    int age = 25;</a:t>
            </a:r>
            <a:br>
              <a:rPr lang="en-US" dirty="0"/>
            </a:br>
            <a:r>
              <a:rPr lang="en-US" dirty="0"/>
              <a:t>    float salary = 50000.5;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fout</a:t>
            </a:r>
            <a:r>
              <a:rPr lang="en-US" dirty="0"/>
              <a:t> &lt;&lt; "Age: " &lt;&lt; age &lt;&lt; </a:t>
            </a:r>
            <a:r>
              <a:rPr lang="en-US" dirty="0" err="1"/>
              <a:t>endl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fout</a:t>
            </a:r>
            <a:r>
              <a:rPr lang="en-US" dirty="0"/>
              <a:t> &lt;&lt; "Salary: " &lt;&lt; salary &lt;&lt; </a:t>
            </a:r>
            <a:r>
              <a:rPr lang="en-US" dirty="0" err="1"/>
              <a:t>endl</a:t>
            </a:r>
            <a:r>
              <a:rPr lang="en-US" dirty="0"/>
              <a:t>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fout.close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dirty="0"/>
              <a:t>Works like </a:t>
            </a:r>
            <a:r>
              <a:rPr lang="en-US" dirty="0" err="1"/>
              <a:t>cout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53344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0638B-5A2D-7999-3D53-3593693ED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747A2-09A4-A449-6D4B-B48762EA8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/>
          <a:lstStyle/>
          <a:p>
            <a:r>
              <a:rPr lang="en-US" b="1" dirty="0"/>
              <a:t>Writing Using Variables</a:t>
            </a:r>
          </a:p>
          <a:p>
            <a:r>
              <a:rPr lang="en-US" dirty="0" err="1"/>
              <a:t>ofstream</a:t>
            </a:r>
            <a:r>
              <a:rPr lang="en-US" dirty="0"/>
              <a:t> </a:t>
            </a:r>
            <a:r>
              <a:rPr lang="en-US" dirty="0" err="1"/>
              <a:t>fout</a:t>
            </a:r>
            <a:r>
              <a:rPr lang="en-US" dirty="0"/>
              <a:t>("data.txt");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if (</a:t>
            </a:r>
            <a:r>
              <a:rPr lang="en-US" dirty="0" err="1"/>
              <a:t>fout.is_open</a:t>
            </a:r>
            <a:r>
              <a:rPr lang="en-US" dirty="0"/>
              <a:t>()) {</a:t>
            </a:r>
            <a:br>
              <a:rPr lang="en-US" dirty="0"/>
            </a:br>
            <a:r>
              <a:rPr lang="en-US" dirty="0"/>
              <a:t>    string name = "Rohit";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fout</a:t>
            </a:r>
            <a:r>
              <a:rPr lang="en-US" dirty="0"/>
              <a:t> &lt;&lt; "Name: " &lt;&lt; name;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fout.close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50288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19AF1-450B-3A38-BC3C-28F78C93A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BBD8F-8C9D-9CAC-7002-D1AF879A2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/>
          <a:lstStyle/>
          <a:p>
            <a:r>
              <a:rPr lang="en-IN" b="1" dirty="0"/>
              <a:t>Using </a:t>
            </a:r>
            <a:r>
              <a:rPr lang="en-IN" b="1" dirty="0" err="1"/>
              <a:t>ios</a:t>
            </a:r>
            <a:r>
              <a:rPr lang="en-IN" b="1" dirty="0"/>
              <a:t>::app (Append Mode)</a:t>
            </a:r>
          </a:p>
          <a:p>
            <a:r>
              <a:rPr lang="en-IN" dirty="0" err="1"/>
              <a:t>ofstream</a:t>
            </a:r>
            <a:r>
              <a:rPr lang="en-IN" dirty="0"/>
              <a:t> </a:t>
            </a:r>
            <a:r>
              <a:rPr lang="en-IN" dirty="0" err="1"/>
              <a:t>fout</a:t>
            </a:r>
            <a:r>
              <a:rPr lang="en-IN" dirty="0"/>
              <a:t>("data.txt", </a:t>
            </a:r>
            <a:r>
              <a:rPr lang="en-IN" dirty="0" err="1"/>
              <a:t>ios</a:t>
            </a:r>
            <a:r>
              <a:rPr lang="en-IN" dirty="0"/>
              <a:t>::app);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if (</a:t>
            </a:r>
            <a:r>
              <a:rPr lang="en-IN" dirty="0" err="1"/>
              <a:t>fout.is_open</a:t>
            </a:r>
            <a:r>
              <a:rPr lang="en-IN" dirty="0"/>
              <a:t>()) {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fout</a:t>
            </a:r>
            <a:r>
              <a:rPr lang="en-IN" dirty="0"/>
              <a:t> &lt;&lt; "New line added" &lt;&lt; </a:t>
            </a:r>
            <a:r>
              <a:rPr lang="en-IN" dirty="0" err="1"/>
              <a:t>endl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fout.close</a:t>
            </a:r>
            <a:r>
              <a:rPr lang="en-IN" dirty="0"/>
              <a:t>();</a:t>
            </a:r>
            <a:br>
              <a:rPr lang="en-IN" dirty="0"/>
            </a:br>
            <a:r>
              <a:rPr lang="en-IN" dirty="0"/>
              <a:t>}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 err="1"/>
              <a:t>Behavior</a:t>
            </a:r>
            <a:endParaRPr lang="en-IN" b="1" dirty="0"/>
          </a:p>
          <a:p>
            <a:r>
              <a:rPr lang="en-IN" dirty="0"/>
              <a:t>Old data remains</a:t>
            </a:r>
            <a:br>
              <a:rPr lang="en-IN" dirty="0"/>
            </a:br>
            <a:r>
              <a:rPr lang="en-IN" dirty="0"/>
              <a:t>New data is added at end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59599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8FC07-EF00-A5AD-7E89-7A52B9E65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BE23A-D448-E717-24DC-FD72E3AA6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Using </a:t>
            </a:r>
            <a:r>
              <a:rPr lang="en-IN" b="1" dirty="0" err="1"/>
              <a:t>ios</a:t>
            </a:r>
            <a:r>
              <a:rPr lang="en-IN" b="1" dirty="0"/>
              <a:t>::</a:t>
            </a:r>
            <a:r>
              <a:rPr lang="en-IN" b="1" dirty="0" err="1"/>
              <a:t>trunc</a:t>
            </a:r>
            <a:endParaRPr lang="en-IN" b="1" dirty="0"/>
          </a:p>
          <a:p>
            <a:r>
              <a:rPr lang="en-IN" dirty="0" err="1"/>
              <a:t>ofstream</a:t>
            </a:r>
            <a:r>
              <a:rPr lang="en-IN" dirty="0"/>
              <a:t> </a:t>
            </a:r>
            <a:r>
              <a:rPr lang="en-IN" dirty="0" err="1"/>
              <a:t>fout</a:t>
            </a:r>
            <a:r>
              <a:rPr lang="en-IN" dirty="0"/>
              <a:t>("data.txt", </a:t>
            </a:r>
            <a:r>
              <a:rPr lang="en-IN" dirty="0" err="1"/>
              <a:t>ios</a:t>
            </a:r>
            <a:r>
              <a:rPr lang="en-IN" dirty="0"/>
              <a:t>::</a:t>
            </a:r>
            <a:r>
              <a:rPr lang="en-IN" dirty="0" err="1"/>
              <a:t>trunc</a:t>
            </a:r>
            <a:r>
              <a:rPr lang="en-IN" dirty="0"/>
              <a:t>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if (</a:t>
            </a:r>
            <a:r>
              <a:rPr lang="en-IN" dirty="0" err="1"/>
              <a:t>fout.is_open</a:t>
            </a:r>
            <a:r>
              <a:rPr lang="en-IN" dirty="0"/>
              <a:t>()) {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fout</a:t>
            </a:r>
            <a:r>
              <a:rPr lang="en-IN" dirty="0"/>
              <a:t> &lt;&lt; "Old data deleted, new data written";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fout.close</a:t>
            </a:r>
            <a:r>
              <a:rPr lang="en-IN" dirty="0"/>
              <a:t>();</a:t>
            </a:r>
            <a:br>
              <a:rPr lang="en-IN" dirty="0"/>
            </a:br>
            <a:r>
              <a:rPr lang="en-IN" dirty="0"/>
              <a:t>}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 err="1"/>
              <a:t>ios</a:t>
            </a:r>
            <a:r>
              <a:rPr lang="en-IN" dirty="0"/>
              <a:t>::</a:t>
            </a:r>
            <a:r>
              <a:rPr lang="en-IN" dirty="0" err="1"/>
              <a:t>trunc</a:t>
            </a:r>
            <a:r>
              <a:rPr lang="en-IN" dirty="0"/>
              <a:t>:</a:t>
            </a:r>
          </a:p>
          <a:p>
            <a:r>
              <a:rPr lang="en-IN" dirty="0"/>
              <a:t>Deletes previous content </a:t>
            </a:r>
          </a:p>
          <a:p>
            <a:r>
              <a:rPr lang="en-IN" dirty="0"/>
              <a:t>Starts fresh </a:t>
            </a:r>
          </a:p>
          <a:p>
            <a:r>
              <a:rPr lang="en-IN" dirty="0"/>
              <a:t>Note - </a:t>
            </a:r>
          </a:p>
          <a:p>
            <a:r>
              <a:rPr lang="en-IN" dirty="0" err="1"/>
              <a:t>ofstream</a:t>
            </a:r>
            <a:r>
              <a:rPr lang="en-IN" dirty="0"/>
              <a:t> </a:t>
            </a:r>
            <a:r>
              <a:rPr lang="en-IN" dirty="0" err="1"/>
              <a:t>fout</a:t>
            </a:r>
            <a:r>
              <a:rPr lang="en-IN" dirty="0"/>
              <a:t>("data.txt", </a:t>
            </a:r>
            <a:r>
              <a:rPr lang="en-IN" dirty="0" err="1"/>
              <a:t>ios</a:t>
            </a:r>
            <a:r>
              <a:rPr lang="en-IN" dirty="0"/>
              <a:t>::</a:t>
            </a:r>
            <a:r>
              <a:rPr lang="en-IN" dirty="0" err="1"/>
              <a:t>trunc</a:t>
            </a:r>
            <a:r>
              <a:rPr lang="en-IN" dirty="0"/>
              <a:t>);</a:t>
            </a:r>
          </a:p>
          <a:p>
            <a:r>
              <a:rPr lang="en-IN" dirty="0"/>
              <a:t>provided only </a:t>
            </a:r>
            <a:r>
              <a:rPr lang="en-IN" dirty="0" err="1"/>
              <a:t>trunc</a:t>
            </a:r>
            <a:r>
              <a:rPr lang="en-IN" dirty="0"/>
              <a:t>, but:</a:t>
            </a:r>
          </a:p>
          <a:p>
            <a:r>
              <a:rPr lang="en-IN" dirty="0" err="1"/>
              <a:t>ofstream</a:t>
            </a:r>
            <a:r>
              <a:rPr lang="en-IN" dirty="0"/>
              <a:t> automatically adds:</a:t>
            </a:r>
          </a:p>
          <a:p>
            <a:r>
              <a:rPr lang="en-IN" dirty="0" err="1"/>
              <a:t>ios</a:t>
            </a:r>
            <a:r>
              <a:rPr lang="en-IN" dirty="0"/>
              <a:t>::out    </a:t>
            </a:r>
            <a:r>
              <a:rPr lang="en-IN" dirty="0" err="1"/>
              <a:t>bc</a:t>
            </a:r>
            <a:r>
              <a:rPr lang="en-IN" dirty="0"/>
              <a:t> out is the default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03039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F32A0-A2A5-EBEB-3863-E2772F989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890E8-640A-B578-5B54-E220D74B0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>
            <a:normAutofit fontScale="32500" lnSpcReduction="20000"/>
          </a:bodyPr>
          <a:lstStyle/>
          <a:p>
            <a:r>
              <a:rPr lang="en-IN" dirty="0" err="1"/>
              <a:t>Exampels</a:t>
            </a:r>
            <a:r>
              <a:rPr lang="en-IN" dirty="0"/>
              <a:t> – </a:t>
            </a:r>
          </a:p>
          <a:p>
            <a:r>
              <a:rPr lang="en-IN" dirty="0"/>
              <a:t>1 - </a:t>
            </a:r>
            <a:r>
              <a:rPr lang="en-US" dirty="0"/>
              <a:t>User Input → Write to File (Append Mode)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fstream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ofstream</a:t>
            </a:r>
            <a:r>
              <a:rPr lang="en-IN" dirty="0"/>
              <a:t> </a:t>
            </a:r>
            <a:r>
              <a:rPr lang="en-IN" dirty="0" err="1"/>
              <a:t>fout</a:t>
            </a:r>
            <a:r>
              <a:rPr lang="en-IN" dirty="0"/>
              <a:t>("data.txt", </a:t>
            </a:r>
            <a:r>
              <a:rPr lang="en-IN" dirty="0" err="1"/>
              <a:t>ios</a:t>
            </a:r>
            <a:r>
              <a:rPr lang="en-IN" dirty="0"/>
              <a:t>::app);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if (!</a:t>
            </a:r>
            <a:r>
              <a:rPr lang="en-IN" dirty="0" err="1"/>
              <a:t>fout.is_open</a:t>
            </a:r>
            <a:r>
              <a:rPr lang="en-IN" dirty="0"/>
              <a:t>())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"Error opening file!";</a:t>
            </a:r>
          </a:p>
          <a:p>
            <a:pPr marL="0" indent="0">
              <a:buNone/>
            </a:pPr>
            <a:r>
              <a:rPr lang="en-IN" dirty="0"/>
              <a:t>        return 0;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string line;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"Enter a line: ";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getline</a:t>
            </a:r>
            <a:r>
              <a:rPr lang="en-IN" dirty="0"/>
              <a:t>(</a:t>
            </a:r>
            <a:r>
              <a:rPr lang="en-IN" dirty="0" err="1"/>
              <a:t>cin</a:t>
            </a:r>
            <a:r>
              <a:rPr lang="en-IN" dirty="0"/>
              <a:t>, line);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fout</a:t>
            </a:r>
            <a:r>
              <a:rPr lang="en-IN" dirty="0"/>
              <a:t> &lt;&lt; line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"Data written successfully!"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fout.close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296502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B1848-2C57-D58D-5FBD-E27568870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2C531-D97F-07DB-CBD0-B3571EC1B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>
            <a:normAutofit fontScale="47500" lnSpcReduction="20000"/>
          </a:bodyPr>
          <a:lstStyle/>
          <a:p>
            <a:r>
              <a:rPr lang="en-IN" dirty="0"/>
              <a:t>2 - </a:t>
            </a:r>
            <a:r>
              <a:rPr lang="en-US" dirty="0"/>
              <a:t>Writing Multiple Lines Using Loop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fstream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ofstream</a:t>
            </a:r>
            <a:r>
              <a:rPr lang="en-IN" dirty="0"/>
              <a:t> </a:t>
            </a:r>
            <a:r>
              <a:rPr lang="en-IN" dirty="0" err="1"/>
              <a:t>fout</a:t>
            </a:r>
            <a:r>
              <a:rPr lang="en-IN" dirty="0"/>
              <a:t>("data.txt");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if (!</a:t>
            </a:r>
            <a:r>
              <a:rPr lang="en-IN" dirty="0" err="1"/>
              <a:t>fout.is_open</a:t>
            </a:r>
            <a:r>
              <a:rPr lang="en-IN" dirty="0"/>
              <a:t>())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"Error opening file!";</a:t>
            </a:r>
          </a:p>
          <a:p>
            <a:pPr marL="0" indent="0">
              <a:buNone/>
            </a:pPr>
            <a:r>
              <a:rPr lang="en-IN" dirty="0"/>
              <a:t>        return 0;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for (int </a:t>
            </a:r>
            <a:r>
              <a:rPr lang="en-IN" dirty="0" err="1"/>
              <a:t>i</a:t>
            </a:r>
            <a:r>
              <a:rPr lang="en-IN" dirty="0"/>
              <a:t> = 1; </a:t>
            </a:r>
            <a:r>
              <a:rPr lang="en-IN" dirty="0" err="1"/>
              <a:t>i</a:t>
            </a:r>
            <a:r>
              <a:rPr lang="en-IN" dirty="0"/>
              <a:t> &lt;= 5;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fout</a:t>
            </a:r>
            <a:r>
              <a:rPr lang="en-IN" dirty="0"/>
              <a:t> &lt;&lt; "This is line " &lt;&lt; </a:t>
            </a:r>
            <a:r>
              <a:rPr lang="en-IN" dirty="0" err="1"/>
              <a:t>i</a:t>
            </a:r>
            <a:r>
              <a:rPr lang="en-IN" dirty="0"/>
              <a:t>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"5 lines written successfully!"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fout.close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3084846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77EB0-A432-4E5C-F8E7-870FFACF4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A78CF-0EC6-B2CB-AC52-A21492465E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25302"/>
            <a:ext cx="5181600" cy="5751661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Writing Multiple User Inputs (Loop)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fstream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ofstream</a:t>
            </a:r>
            <a:r>
              <a:rPr lang="en-IN" dirty="0"/>
              <a:t> </a:t>
            </a:r>
            <a:r>
              <a:rPr lang="en-IN" dirty="0" err="1"/>
              <a:t>fout</a:t>
            </a:r>
            <a:r>
              <a:rPr lang="en-IN" dirty="0"/>
              <a:t>("data.txt", </a:t>
            </a:r>
            <a:r>
              <a:rPr lang="en-IN" dirty="0" err="1"/>
              <a:t>ios</a:t>
            </a:r>
            <a:r>
              <a:rPr lang="en-IN" dirty="0"/>
              <a:t>::app);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if (!</a:t>
            </a:r>
            <a:r>
              <a:rPr lang="en-IN" dirty="0" err="1"/>
              <a:t>fout.is_open</a:t>
            </a:r>
            <a:r>
              <a:rPr lang="en-IN" dirty="0"/>
              <a:t>())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"Error opening file!";</a:t>
            </a:r>
          </a:p>
          <a:p>
            <a:pPr marL="0" indent="0">
              <a:buNone/>
            </a:pPr>
            <a:r>
              <a:rPr lang="en-IN" dirty="0"/>
              <a:t>        return 0;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int n;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"How many lines do you want to enter? ";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cin</a:t>
            </a:r>
            <a:r>
              <a:rPr lang="en-IN" dirty="0"/>
              <a:t> &gt;&gt; n;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cin.ignore</a:t>
            </a:r>
            <a:r>
              <a:rPr lang="en-IN" dirty="0"/>
              <a:t>();  // to clear newline from buffer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E35DD8-A946-CE39-6561-3221CC30DA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425302"/>
            <a:ext cx="5181600" cy="575166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 string line;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for (int </a:t>
            </a:r>
            <a:r>
              <a:rPr lang="en-IN" dirty="0" err="1"/>
              <a:t>i</a:t>
            </a:r>
            <a:r>
              <a:rPr lang="en-IN" dirty="0"/>
              <a:t> = 1; </a:t>
            </a:r>
            <a:r>
              <a:rPr lang="en-IN" dirty="0" err="1"/>
              <a:t>i</a:t>
            </a:r>
            <a:r>
              <a:rPr lang="en-IN" dirty="0"/>
              <a:t> &lt;= n;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"Enter line " &lt;&lt; </a:t>
            </a:r>
            <a:r>
              <a:rPr lang="en-IN" dirty="0" err="1"/>
              <a:t>i</a:t>
            </a:r>
            <a:r>
              <a:rPr lang="en-IN" dirty="0"/>
              <a:t> &lt;&lt; ": ";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getline</a:t>
            </a:r>
            <a:r>
              <a:rPr lang="en-IN" dirty="0"/>
              <a:t>(</a:t>
            </a:r>
            <a:r>
              <a:rPr lang="en-IN" dirty="0" err="1"/>
              <a:t>cin</a:t>
            </a:r>
            <a:r>
              <a:rPr lang="en-IN" dirty="0"/>
              <a:t>, line);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fout</a:t>
            </a:r>
            <a:r>
              <a:rPr lang="en-IN" dirty="0"/>
              <a:t> &lt;&lt; line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"All lines written successfully!"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fout.close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Note - </a:t>
            </a:r>
            <a:r>
              <a:rPr lang="en-US" dirty="0" err="1"/>
              <a:t>cin.ignore</a:t>
            </a:r>
            <a:r>
              <a:rPr lang="en-US" dirty="0"/>
              <a:t>() is needed before </a:t>
            </a:r>
            <a:r>
              <a:rPr lang="en-US" dirty="0" err="1"/>
              <a:t>getline</a:t>
            </a:r>
            <a:r>
              <a:rPr lang="en-US" dirty="0"/>
              <a:t>()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87806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B801F-C22A-7C08-2104-A75ADE00B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A1D5B-D62D-A104-2FD2-1F1CADDA6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Writing Structured Data (Table Format)- 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fstream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ofstream</a:t>
            </a:r>
            <a:r>
              <a:rPr lang="en-IN" dirty="0"/>
              <a:t> </a:t>
            </a:r>
            <a:r>
              <a:rPr lang="en-IN" dirty="0" err="1"/>
              <a:t>fout</a:t>
            </a:r>
            <a:r>
              <a:rPr lang="en-IN" dirty="0"/>
              <a:t>("employees.txt");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if (!</a:t>
            </a:r>
            <a:r>
              <a:rPr lang="en-IN" dirty="0" err="1"/>
              <a:t>fout.is_open</a:t>
            </a:r>
            <a:r>
              <a:rPr lang="en-IN" dirty="0"/>
              <a:t>())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"Error opening file!";</a:t>
            </a:r>
          </a:p>
          <a:p>
            <a:pPr marL="0" indent="0">
              <a:buNone/>
            </a:pPr>
            <a:r>
              <a:rPr lang="en-IN" dirty="0"/>
              <a:t>        return 0;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fout</a:t>
            </a:r>
            <a:r>
              <a:rPr lang="en-IN" dirty="0"/>
              <a:t> &lt;&lt; "Name\</a:t>
            </a:r>
            <a:r>
              <a:rPr lang="en-IN" dirty="0" err="1"/>
              <a:t>tAge</a:t>
            </a:r>
            <a:r>
              <a:rPr lang="en-IN" dirty="0"/>
              <a:t>\</a:t>
            </a:r>
            <a:r>
              <a:rPr lang="en-IN" dirty="0" err="1"/>
              <a:t>tSalary</a:t>
            </a:r>
            <a:r>
              <a:rPr lang="en-IN" dirty="0"/>
              <a:t>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fout</a:t>
            </a:r>
            <a:r>
              <a:rPr lang="en-IN" dirty="0"/>
              <a:t> &lt;&lt; "Rohit\t25\t50000"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fout</a:t>
            </a:r>
            <a:r>
              <a:rPr lang="en-IN" dirty="0"/>
              <a:t> &lt;&lt; "Amit\t30\t60000"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fout</a:t>
            </a:r>
            <a:r>
              <a:rPr lang="en-IN" dirty="0"/>
              <a:t> &lt;&lt; "Neha\t28\t55000"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"Employee data written successfully!"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fout.close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309191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D4C98-DAAC-BA6C-FD6A-07A197E27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4527B-6DB8-4B47-9403-9041736E0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>
            <a:normAutofit fontScale="32500" lnSpcReduction="20000"/>
          </a:bodyPr>
          <a:lstStyle/>
          <a:p>
            <a:r>
              <a:rPr lang="en-IN" dirty="0"/>
              <a:t>Writing Mixed Data Types – 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fstream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ofstream</a:t>
            </a:r>
            <a:r>
              <a:rPr lang="en-IN" dirty="0"/>
              <a:t> </a:t>
            </a:r>
            <a:r>
              <a:rPr lang="en-IN" dirty="0" err="1"/>
              <a:t>fout</a:t>
            </a:r>
            <a:r>
              <a:rPr lang="en-IN" dirty="0"/>
              <a:t>("student.txt");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if (!</a:t>
            </a:r>
            <a:r>
              <a:rPr lang="en-IN" dirty="0" err="1"/>
              <a:t>fout.is_open</a:t>
            </a:r>
            <a:r>
              <a:rPr lang="en-IN" dirty="0"/>
              <a:t>())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"Error opening file!";</a:t>
            </a:r>
          </a:p>
          <a:p>
            <a:pPr marL="0" indent="0">
              <a:buNone/>
            </a:pPr>
            <a:r>
              <a:rPr lang="en-IN" dirty="0"/>
              <a:t>        return 0;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string name = "Rohit";</a:t>
            </a:r>
          </a:p>
          <a:p>
            <a:pPr marL="0" indent="0">
              <a:buNone/>
            </a:pPr>
            <a:r>
              <a:rPr lang="en-IN" dirty="0"/>
              <a:t>    int age = 22;</a:t>
            </a:r>
          </a:p>
          <a:p>
            <a:pPr marL="0" indent="0">
              <a:buNone/>
            </a:pPr>
            <a:r>
              <a:rPr lang="en-IN" dirty="0"/>
              <a:t>    float marks = 88.5;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fout</a:t>
            </a:r>
            <a:r>
              <a:rPr lang="en-IN" dirty="0"/>
              <a:t> &lt;&lt; "Name: " &lt;&lt; name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fout</a:t>
            </a:r>
            <a:r>
              <a:rPr lang="en-IN" dirty="0"/>
              <a:t> &lt;&lt; "Age: " &lt;&lt; age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fout</a:t>
            </a:r>
            <a:r>
              <a:rPr lang="en-IN" dirty="0"/>
              <a:t> &lt;&lt; "Marks: " &lt;&lt; marks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"Student data written!"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fout.close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917287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52C29-2A7E-A9DD-365F-3E4FF509D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File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52C68-79C2-B0DB-0923-EEE7B7F0A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you open a file, C++ maintains </a:t>
            </a:r>
            <a:r>
              <a:rPr lang="en-US" b="1" dirty="0"/>
              <a:t>positions (pointers)</a:t>
            </a:r>
            <a:r>
              <a:rPr lang="en-US" dirty="0"/>
              <a:t> inside the file.</a:t>
            </a:r>
          </a:p>
          <a:p>
            <a:r>
              <a:rPr lang="en-US" dirty="0"/>
              <a:t>These pointers decide:</a:t>
            </a:r>
          </a:p>
          <a:p>
            <a:r>
              <a:rPr lang="en-US" dirty="0"/>
              <a:t>From where to </a:t>
            </a:r>
            <a:r>
              <a:rPr lang="en-US" b="1" dirty="0"/>
              <a:t>read</a:t>
            </a:r>
            <a:r>
              <a:rPr lang="en-US" dirty="0"/>
              <a:t> </a:t>
            </a:r>
          </a:p>
          <a:p>
            <a:r>
              <a:rPr lang="en-US" dirty="0"/>
              <a:t>From where to </a:t>
            </a:r>
            <a:r>
              <a:rPr lang="en-US" b="1" dirty="0"/>
              <a:t>write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009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3CDC88-6BB9-DD5A-019C-E6BA663BD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1010880-5FCE-82BF-A808-999DD245A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810" y="2960716"/>
            <a:ext cx="4036334" cy="2387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3800" b="1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Types of File Pointers</a:t>
            </a:r>
          </a:p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38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There are </a:t>
            </a:r>
            <a:r>
              <a:rPr kumimoji="0" lang="en-US" altLang="en-US" sz="3800" b="1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two pointers</a:t>
            </a:r>
            <a:r>
              <a:rPr kumimoji="0" lang="en-US" altLang="en-US" sz="38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:</a:t>
            </a:r>
          </a:p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38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1">
            <a:extLst>
              <a:ext uri="{FF2B5EF4-FFF2-40B4-BE49-F238E27FC236}">
                <a16:creationId xmlns:a16="http://schemas.microsoft.com/office/drawing/2014/main" id="{FF093B26-ABAC-139E-30A8-B1EEF18F6A1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922492" y="2047496"/>
          <a:ext cx="5536003" cy="270425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85589">
                  <a:extLst>
                    <a:ext uri="{9D8B030D-6E8A-4147-A177-3AD203B41FA5}">
                      <a16:colId xmlns:a16="http://schemas.microsoft.com/office/drawing/2014/main" val="2284664050"/>
                    </a:ext>
                  </a:extLst>
                </a:gridCol>
                <a:gridCol w="1596263">
                  <a:extLst>
                    <a:ext uri="{9D8B030D-6E8A-4147-A177-3AD203B41FA5}">
                      <a16:colId xmlns:a16="http://schemas.microsoft.com/office/drawing/2014/main" val="1386213613"/>
                    </a:ext>
                  </a:extLst>
                </a:gridCol>
                <a:gridCol w="1854151">
                  <a:extLst>
                    <a:ext uri="{9D8B030D-6E8A-4147-A177-3AD203B41FA5}">
                      <a16:colId xmlns:a16="http://schemas.microsoft.com/office/drawing/2014/main" val="2646604707"/>
                    </a:ext>
                  </a:extLst>
                </a:gridCol>
              </a:tblGrid>
              <a:tr h="647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cap="none" spc="0" dirty="0">
                          <a:solidFill>
                            <a:schemeClr val="tx1"/>
                          </a:solidFill>
                        </a:rPr>
                        <a:t>Pointer</a:t>
                      </a:r>
                    </a:p>
                  </a:txBody>
                  <a:tcPr marL="0" marR="190441" marT="95220" marB="952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cap="none" spc="0">
                          <a:solidFill>
                            <a:schemeClr val="tx1"/>
                          </a:solidFill>
                        </a:rPr>
                        <a:t>Used For</a:t>
                      </a:r>
                    </a:p>
                  </a:txBody>
                  <a:tcPr marL="0" marR="190441" marT="95220" marB="952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cap="none" spc="0">
                          <a:solidFill>
                            <a:schemeClr val="tx1"/>
                          </a:solidFill>
                        </a:rPr>
                        <a:t>Function</a:t>
                      </a:r>
                    </a:p>
                  </a:txBody>
                  <a:tcPr marL="0" marR="190441" marT="95220" marB="952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388135"/>
                  </a:ext>
                </a:extLst>
              </a:tr>
              <a:tr h="1028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b="1" cap="none" spc="0">
                          <a:solidFill>
                            <a:schemeClr val="tx1"/>
                          </a:solidFill>
                        </a:rPr>
                        <a:t>get pointer (g)</a:t>
                      </a:r>
                      <a:endParaRPr lang="en-IN" sz="2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90441" marT="95220" marB="952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cap="none" spc="0">
                          <a:solidFill>
                            <a:schemeClr val="tx1"/>
                          </a:solidFill>
                        </a:rPr>
                        <a:t>Reading</a:t>
                      </a:r>
                    </a:p>
                  </a:txBody>
                  <a:tcPr marL="0" marR="190441" marT="95220" marB="952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seekg()</a:t>
                      </a:r>
                      <a:r>
                        <a:rPr lang="en-IN" sz="2500" cap="none" spc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IN" sz="25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tellg()</a:t>
                      </a:r>
                      <a:endParaRPr lang="en-IN" sz="2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90441" marT="95220" marB="952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619009"/>
                  </a:ext>
                </a:extLst>
              </a:tr>
              <a:tr h="1028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b="1" cap="none" spc="0">
                          <a:solidFill>
                            <a:schemeClr val="tx1"/>
                          </a:solidFill>
                        </a:rPr>
                        <a:t>put pointer (p)</a:t>
                      </a:r>
                      <a:endParaRPr lang="en-IN" sz="2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90441" marT="95220" marB="952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cap="none" spc="0">
                          <a:solidFill>
                            <a:schemeClr val="tx1"/>
                          </a:solidFill>
                        </a:rPr>
                        <a:t>Writing</a:t>
                      </a:r>
                    </a:p>
                  </a:txBody>
                  <a:tcPr marL="0" marR="190441" marT="95220" marB="952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cap="none" spc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seekp</a:t>
                      </a:r>
                      <a:r>
                        <a:rPr lang="en-IN" sz="250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IN" sz="2500" cap="none" spc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IN" sz="2500" cap="none" spc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tellp</a:t>
                      </a:r>
                      <a:r>
                        <a:rPr lang="en-IN" sz="250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()</a:t>
                      </a:r>
                      <a:endParaRPr lang="en-IN" sz="25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190441" marT="95220" marB="952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5967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35758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61B72-94C7-C4BC-173C-652FBD18E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DAF00-59C3-73F4-1F81-0AC4BEB84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 err="1"/>
              <a:t>tellg</a:t>
            </a:r>
            <a:r>
              <a:rPr lang="en-US" b="1" dirty="0"/>
              <a:t>() → Get Current Read Position</a:t>
            </a:r>
          </a:p>
          <a:p>
            <a:r>
              <a:rPr lang="en-US" dirty="0" err="1"/>
              <a:t>fin.tellg</a:t>
            </a:r>
            <a:r>
              <a:rPr lang="en-US" dirty="0"/>
              <a:t>()</a:t>
            </a:r>
          </a:p>
          <a:p>
            <a:r>
              <a:rPr lang="en-US" dirty="0"/>
              <a:t>Returns current position of </a:t>
            </a:r>
            <a:r>
              <a:rPr lang="en-US" b="1" dirty="0"/>
              <a:t>get pointer</a:t>
            </a:r>
          </a:p>
          <a:p>
            <a:r>
              <a:rPr lang="en-IN" b="1" dirty="0"/>
              <a:t>Example 1: </a:t>
            </a:r>
            <a:r>
              <a:rPr lang="en-IN" b="1" dirty="0" err="1"/>
              <a:t>tellg</a:t>
            </a:r>
            <a:r>
              <a:rPr lang="en-IN" b="1" dirty="0"/>
              <a:t>()</a:t>
            </a:r>
          </a:p>
          <a:p>
            <a:r>
              <a:rPr lang="en-IN" dirty="0"/>
              <a:t>#include &lt;iostream&gt;</a:t>
            </a:r>
            <a:br>
              <a:rPr lang="en-IN" dirty="0"/>
            </a:br>
            <a:r>
              <a:rPr lang="en-IN" dirty="0"/>
              <a:t>#include &lt;</a:t>
            </a:r>
            <a:r>
              <a:rPr lang="en-IN" dirty="0" err="1"/>
              <a:t>fstream</a:t>
            </a:r>
            <a:r>
              <a:rPr lang="en-IN" dirty="0"/>
              <a:t>&gt;</a:t>
            </a:r>
            <a:br>
              <a:rPr lang="en-IN" dirty="0"/>
            </a:br>
            <a:r>
              <a:rPr lang="en-IN" dirty="0"/>
              <a:t>using namespace std;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int main() {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ifstream</a:t>
            </a:r>
            <a:r>
              <a:rPr lang="en-IN" dirty="0"/>
              <a:t> fin("data.txt");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if (!</a:t>
            </a:r>
            <a:r>
              <a:rPr lang="en-IN" dirty="0" err="1"/>
              <a:t>fin.is_open</a:t>
            </a:r>
            <a:r>
              <a:rPr lang="en-IN" dirty="0"/>
              <a:t>()) {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"File not opened!";</a:t>
            </a:r>
            <a:br>
              <a:rPr lang="en-IN" dirty="0"/>
            </a:br>
            <a:r>
              <a:rPr lang="en-IN" dirty="0"/>
              <a:t>        return 0;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char </a:t>
            </a:r>
            <a:r>
              <a:rPr lang="en-IN" dirty="0" err="1"/>
              <a:t>ch</a:t>
            </a:r>
            <a:r>
              <a:rPr lang="en-IN" dirty="0"/>
              <a:t>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fin.get</a:t>
            </a:r>
            <a:r>
              <a:rPr lang="en-IN" dirty="0"/>
              <a:t>(</a:t>
            </a:r>
            <a:r>
              <a:rPr lang="en-IN" dirty="0" err="1"/>
              <a:t>ch</a:t>
            </a:r>
            <a:r>
              <a:rPr lang="en-IN" dirty="0"/>
              <a:t>);  // read 1 char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"Position: " &lt;&lt; </a:t>
            </a:r>
            <a:r>
              <a:rPr lang="en-IN" dirty="0" err="1"/>
              <a:t>fin.tellg</a:t>
            </a:r>
            <a:r>
              <a:rPr lang="en-IN" dirty="0"/>
              <a:t>() &lt;&lt; </a:t>
            </a:r>
            <a:r>
              <a:rPr lang="en-IN" dirty="0" err="1"/>
              <a:t>endl</a:t>
            </a:r>
            <a:r>
              <a:rPr lang="en-IN" dirty="0"/>
              <a:t>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fin.get</a:t>
            </a:r>
            <a:r>
              <a:rPr lang="en-IN" dirty="0"/>
              <a:t>(</a:t>
            </a:r>
            <a:r>
              <a:rPr lang="en-IN" dirty="0" err="1"/>
              <a:t>ch</a:t>
            </a:r>
            <a:r>
              <a:rPr lang="en-IN" dirty="0"/>
              <a:t>);  // read next char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"Position: " &lt;&lt; </a:t>
            </a:r>
            <a:r>
              <a:rPr lang="en-IN" dirty="0" err="1"/>
              <a:t>fin.tellg</a:t>
            </a:r>
            <a:r>
              <a:rPr lang="en-IN" dirty="0"/>
              <a:t>() &lt;&lt; </a:t>
            </a:r>
            <a:r>
              <a:rPr lang="en-IN" dirty="0" err="1"/>
              <a:t>endl</a:t>
            </a:r>
            <a:r>
              <a:rPr lang="en-IN" dirty="0"/>
              <a:t>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fin.close</a:t>
            </a:r>
            <a:r>
              <a:rPr lang="en-IN" dirty="0"/>
              <a:t>();</a:t>
            </a:r>
            <a:br>
              <a:rPr lang="en-IN" dirty="0"/>
            </a:br>
            <a:r>
              <a:rPr lang="en-IN" dirty="0"/>
              <a:t>}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37682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39614-BF32-1E52-0BA7-3E85486A1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99099-A6CA-5732-3C56-3A88EFC7D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 err="1"/>
              <a:t>tellp</a:t>
            </a:r>
            <a:r>
              <a:rPr lang="en-US" b="1" dirty="0"/>
              <a:t>() → Get Current Write Position</a:t>
            </a:r>
          </a:p>
          <a:p>
            <a:r>
              <a:rPr lang="en-US" dirty="0" err="1"/>
              <a:t>fout.tellp</a:t>
            </a:r>
            <a:r>
              <a:rPr lang="en-US" dirty="0"/>
              <a:t>()</a:t>
            </a:r>
          </a:p>
          <a:p>
            <a:r>
              <a:rPr lang="en-US" dirty="0"/>
              <a:t>Returns position of </a:t>
            </a:r>
            <a:r>
              <a:rPr lang="en-US" b="1" dirty="0"/>
              <a:t>put pointer</a:t>
            </a:r>
            <a:endParaRPr lang="en-US" dirty="0"/>
          </a:p>
          <a:p>
            <a:r>
              <a:rPr lang="en-IN" b="1" dirty="0"/>
              <a:t>Example 2: </a:t>
            </a:r>
            <a:r>
              <a:rPr lang="en-IN" b="1" dirty="0" err="1"/>
              <a:t>tellp</a:t>
            </a:r>
            <a:r>
              <a:rPr lang="en-IN" b="1" dirty="0"/>
              <a:t>()</a:t>
            </a:r>
          </a:p>
          <a:p>
            <a:r>
              <a:rPr lang="en-IN" dirty="0"/>
              <a:t>#include &lt;iostream&gt;</a:t>
            </a:r>
            <a:br>
              <a:rPr lang="en-IN" dirty="0"/>
            </a:br>
            <a:r>
              <a:rPr lang="en-IN" dirty="0"/>
              <a:t>#include &lt;</a:t>
            </a:r>
            <a:r>
              <a:rPr lang="en-IN" dirty="0" err="1"/>
              <a:t>fstream</a:t>
            </a:r>
            <a:r>
              <a:rPr lang="en-IN" dirty="0"/>
              <a:t>&gt;</a:t>
            </a:r>
            <a:br>
              <a:rPr lang="en-IN" dirty="0"/>
            </a:br>
            <a:r>
              <a:rPr lang="en-IN" dirty="0"/>
              <a:t>using namespace std;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int main() {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ofstream</a:t>
            </a:r>
            <a:r>
              <a:rPr lang="en-IN" dirty="0"/>
              <a:t> </a:t>
            </a:r>
            <a:r>
              <a:rPr lang="en-IN" dirty="0" err="1"/>
              <a:t>fout</a:t>
            </a:r>
            <a:r>
              <a:rPr lang="en-IN" dirty="0"/>
              <a:t>("data.txt");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if (!</a:t>
            </a:r>
            <a:r>
              <a:rPr lang="en-IN" dirty="0" err="1"/>
              <a:t>fout.is_open</a:t>
            </a:r>
            <a:r>
              <a:rPr lang="en-IN" dirty="0"/>
              <a:t>()) {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"Error!";</a:t>
            </a:r>
            <a:br>
              <a:rPr lang="en-IN" dirty="0"/>
            </a:br>
            <a:r>
              <a:rPr lang="en-IN" dirty="0"/>
              <a:t>        return 0;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fout</a:t>
            </a:r>
            <a:r>
              <a:rPr lang="en-IN" dirty="0"/>
              <a:t> &lt;&lt; "Hello";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"Position: " &lt;&lt; </a:t>
            </a:r>
            <a:r>
              <a:rPr lang="en-IN" dirty="0" err="1"/>
              <a:t>fout.tellp</a:t>
            </a:r>
            <a:r>
              <a:rPr lang="en-IN" dirty="0"/>
              <a:t>() &lt;&lt; </a:t>
            </a:r>
            <a:r>
              <a:rPr lang="en-IN" dirty="0" err="1"/>
              <a:t>endl</a:t>
            </a:r>
            <a:r>
              <a:rPr lang="en-IN" dirty="0"/>
              <a:t>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fout</a:t>
            </a:r>
            <a:r>
              <a:rPr lang="en-IN" dirty="0"/>
              <a:t> &lt;&lt; " World";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"Position: " &lt;&lt; </a:t>
            </a:r>
            <a:r>
              <a:rPr lang="en-IN" dirty="0" err="1"/>
              <a:t>fout.tellp</a:t>
            </a:r>
            <a:r>
              <a:rPr lang="en-IN" dirty="0"/>
              <a:t>() &lt;&lt; </a:t>
            </a:r>
            <a:r>
              <a:rPr lang="en-IN" dirty="0" err="1"/>
              <a:t>endl</a:t>
            </a:r>
            <a:r>
              <a:rPr lang="en-IN" dirty="0"/>
              <a:t>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fout.close</a:t>
            </a:r>
            <a:r>
              <a:rPr lang="en-IN" dirty="0"/>
              <a:t>();</a:t>
            </a:r>
            <a:br>
              <a:rPr lang="en-IN" dirty="0"/>
            </a:b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0830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8846A-CC35-607B-13B2-6CC86A8A5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646DE-82B1-2B9C-74EB-037FF8980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 err="1"/>
              <a:t>seekg</a:t>
            </a:r>
            <a:r>
              <a:rPr lang="en-US" b="1" dirty="0"/>
              <a:t>() → Move Read Pointer</a:t>
            </a:r>
          </a:p>
          <a:p>
            <a:r>
              <a:rPr lang="en-US" dirty="0" err="1"/>
              <a:t>fin.seekg</a:t>
            </a:r>
            <a:r>
              <a:rPr lang="en-US" dirty="0"/>
              <a:t>(position);</a:t>
            </a:r>
          </a:p>
          <a:p>
            <a:r>
              <a:rPr lang="en-US" dirty="0"/>
              <a:t>Moves </a:t>
            </a:r>
            <a:r>
              <a:rPr lang="en-US" b="1" dirty="0"/>
              <a:t>get pointer</a:t>
            </a:r>
            <a:endParaRPr lang="en-US" dirty="0"/>
          </a:p>
          <a:p>
            <a:r>
              <a:rPr lang="en-IN" b="1" dirty="0"/>
              <a:t>Example 3: </a:t>
            </a:r>
            <a:r>
              <a:rPr lang="en-IN" b="1" dirty="0" err="1"/>
              <a:t>seekg</a:t>
            </a:r>
            <a:r>
              <a:rPr lang="en-IN" b="1" dirty="0"/>
              <a:t>()</a:t>
            </a:r>
          </a:p>
          <a:p>
            <a:r>
              <a:rPr lang="en-IN" dirty="0"/>
              <a:t>#include &lt;iostream&gt;</a:t>
            </a:r>
            <a:br>
              <a:rPr lang="en-IN" dirty="0"/>
            </a:br>
            <a:r>
              <a:rPr lang="en-IN" dirty="0"/>
              <a:t>#include &lt;</a:t>
            </a:r>
            <a:r>
              <a:rPr lang="en-IN" dirty="0" err="1"/>
              <a:t>fstream</a:t>
            </a:r>
            <a:r>
              <a:rPr lang="en-IN" dirty="0"/>
              <a:t>&gt;</a:t>
            </a:r>
            <a:br>
              <a:rPr lang="en-IN" dirty="0"/>
            </a:br>
            <a:r>
              <a:rPr lang="en-IN" dirty="0"/>
              <a:t>using namespace std;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int main() {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ifstream</a:t>
            </a:r>
            <a:r>
              <a:rPr lang="en-IN" dirty="0"/>
              <a:t> fin("data.txt");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if (!</a:t>
            </a:r>
            <a:r>
              <a:rPr lang="en-IN" dirty="0" err="1"/>
              <a:t>fin.is_open</a:t>
            </a:r>
            <a:r>
              <a:rPr lang="en-IN" dirty="0"/>
              <a:t>()) {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"Error!";</a:t>
            </a:r>
            <a:br>
              <a:rPr lang="en-IN" dirty="0"/>
            </a:br>
            <a:r>
              <a:rPr lang="en-IN" dirty="0"/>
              <a:t>        return 0;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char </a:t>
            </a:r>
            <a:r>
              <a:rPr lang="en-IN" dirty="0" err="1"/>
              <a:t>ch</a:t>
            </a:r>
            <a:r>
              <a:rPr lang="en-IN" dirty="0"/>
              <a:t>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fin.seekg</a:t>
            </a:r>
            <a:r>
              <a:rPr lang="en-IN" dirty="0"/>
              <a:t>(6);   // move to index 6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fin.get</a:t>
            </a:r>
            <a:r>
              <a:rPr lang="en-IN" dirty="0"/>
              <a:t>(</a:t>
            </a:r>
            <a:r>
              <a:rPr lang="en-IN" dirty="0" err="1"/>
              <a:t>ch</a:t>
            </a:r>
            <a:r>
              <a:rPr lang="en-IN" dirty="0"/>
              <a:t>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ch</a:t>
            </a:r>
            <a:r>
              <a:rPr lang="en-IN" dirty="0"/>
              <a:t> &lt;&lt; </a:t>
            </a:r>
            <a:r>
              <a:rPr lang="en-IN" dirty="0" err="1"/>
              <a:t>endl</a:t>
            </a:r>
            <a:r>
              <a:rPr lang="en-IN" dirty="0"/>
              <a:t>;  // prints character at position 6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fin.close</a:t>
            </a:r>
            <a:r>
              <a:rPr lang="en-IN" dirty="0"/>
              <a:t>();</a:t>
            </a:r>
            <a:br>
              <a:rPr lang="en-IN" dirty="0"/>
            </a:b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45253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D2178-4D4E-3B8F-B6DB-9C97E63A8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47B0F-F5F6-9057-D441-681F0955A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 err="1"/>
              <a:t>seekp</a:t>
            </a:r>
            <a:r>
              <a:rPr lang="en-US" b="1" dirty="0"/>
              <a:t>() → Move Write Pointer</a:t>
            </a:r>
          </a:p>
          <a:p>
            <a:r>
              <a:rPr lang="en-US" dirty="0" err="1"/>
              <a:t>fout.seekp</a:t>
            </a:r>
            <a:r>
              <a:rPr lang="en-US" dirty="0"/>
              <a:t>(position);</a:t>
            </a:r>
          </a:p>
          <a:p>
            <a:r>
              <a:rPr lang="en-US" dirty="0"/>
              <a:t>Moves </a:t>
            </a:r>
            <a:r>
              <a:rPr lang="en-US" b="1" dirty="0"/>
              <a:t>put pointer</a:t>
            </a:r>
          </a:p>
          <a:p>
            <a:r>
              <a:rPr lang="en-IN" b="1" dirty="0"/>
              <a:t>Example 4: </a:t>
            </a:r>
            <a:r>
              <a:rPr lang="en-IN" b="1" dirty="0" err="1"/>
              <a:t>seekp</a:t>
            </a:r>
            <a:r>
              <a:rPr lang="en-IN" b="1" dirty="0"/>
              <a:t>()</a:t>
            </a:r>
          </a:p>
          <a:p>
            <a:r>
              <a:rPr lang="en-IN" dirty="0"/>
              <a:t>#include &lt;iostream&gt;</a:t>
            </a:r>
            <a:br>
              <a:rPr lang="en-IN" dirty="0"/>
            </a:br>
            <a:r>
              <a:rPr lang="en-IN" dirty="0"/>
              <a:t>#include &lt;</a:t>
            </a:r>
            <a:r>
              <a:rPr lang="en-IN" dirty="0" err="1"/>
              <a:t>fstream</a:t>
            </a:r>
            <a:r>
              <a:rPr lang="en-IN" dirty="0"/>
              <a:t>&gt;</a:t>
            </a:r>
            <a:br>
              <a:rPr lang="en-IN" dirty="0"/>
            </a:br>
            <a:r>
              <a:rPr lang="en-IN" dirty="0"/>
              <a:t>using namespace std;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int main() {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ofstream</a:t>
            </a:r>
            <a:r>
              <a:rPr lang="en-IN" dirty="0"/>
              <a:t> </a:t>
            </a:r>
            <a:r>
              <a:rPr lang="en-IN" dirty="0" err="1"/>
              <a:t>fout</a:t>
            </a:r>
            <a:r>
              <a:rPr lang="en-IN" dirty="0"/>
              <a:t>("data.txt");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if (!</a:t>
            </a:r>
            <a:r>
              <a:rPr lang="en-IN" dirty="0" err="1"/>
              <a:t>fout.is_open</a:t>
            </a:r>
            <a:r>
              <a:rPr lang="en-IN" dirty="0"/>
              <a:t>()) {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"Error!";</a:t>
            </a:r>
            <a:br>
              <a:rPr lang="en-IN" dirty="0"/>
            </a:br>
            <a:r>
              <a:rPr lang="en-IN" dirty="0"/>
              <a:t>        return 0;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fout</a:t>
            </a:r>
            <a:r>
              <a:rPr lang="en-IN" dirty="0"/>
              <a:t> &lt;&lt; "Hello World";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fout.seekp</a:t>
            </a:r>
            <a:r>
              <a:rPr lang="en-IN" dirty="0"/>
              <a:t>(6);   // move to position 6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fout</a:t>
            </a:r>
            <a:r>
              <a:rPr lang="en-IN" dirty="0"/>
              <a:t> &lt;&lt; "C++";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fout.close</a:t>
            </a:r>
            <a:r>
              <a:rPr lang="en-IN" dirty="0"/>
              <a:t>();</a:t>
            </a:r>
            <a:br>
              <a:rPr lang="en-IN" dirty="0"/>
            </a:br>
            <a:r>
              <a:rPr lang="en-IN" dirty="0"/>
              <a:t>}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89811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1BBBF-BA17-C318-2C60-E872AF0EA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0ACFF-199F-FD88-84D8-F65EE2D86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seek with Direction </a:t>
            </a:r>
          </a:p>
          <a:p>
            <a:r>
              <a:rPr lang="en-US" dirty="0"/>
              <a:t>You can move pointer relative to: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b="1" dirty="0"/>
              <a:t>Example 5: </a:t>
            </a:r>
            <a:r>
              <a:rPr lang="en-IN" b="1" dirty="0" err="1"/>
              <a:t>seekg</a:t>
            </a:r>
            <a:r>
              <a:rPr lang="en-IN" b="1" dirty="0"/>
              <a:t> with direction</a:t>
            </a:r>
          </a:p>
          <a:p>
            <a:r>
              <a:rPr lang="en-IN" dirty="0" err="1"/>
              <a:t>ifstream</a:t>
            </a:r>
            <a:r>
              <a:rPr lang="en-IN" dirty="0"/>
              <a:t> fin("data.txt");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if (</a:t>
            </a:r>
            <a:r>
              <a:rPr lang="en-IN" dirty="0" err="1"/>
              <a:t>fin.is_open</a:t>
            </a:r>
            <a:r>
              <a:rPr lang="en-IN" dirty="0"/>
              <a:t>()) {</a:t>
            </a:r>
            <a:br>
              <a:rPr lang="en-IN" dirty="0"/>
            </a:br>
            <a:r>
              <a:rPr lang="en-IN" dirty="0"/>
              <a:t>    char </a:t>
            </a:r>
            <a:r>
              <a:rPr lang="en-IN" dirty="0" err="1"/>
              <a:t>ch</a:t>
            </a:r>
            <a:r>
              <a:rPr lang="en-IN" dirty="0"/>
              <a:t>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fin.seekg</a:t>
            </a:r>
            <a:r>
              <a:rPr lang="en-IN" dirty="0"/>
              <a:t>(2, </a:t>
            </a:r>
            <a:r>
              <a:rPr lang="en-IN" dirty="0" err="1"/>
              <a:t>ios</a:t>
            </a:r>
            <a:r>
              <a:rPr lang="en-IN" dirty="0"/>
              <a:t>::beg);  // from beginning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fin.get</a:t>
            </a:r>
            <a:r>
              <a:rPr lang="en-IN" dirty="0"/>
              <a:t>(</a:t>
            </a:r>
            <a:r>
              <a:rPr lang="en-IN" dirty="0" err="1"/>
              <a:t>ch</a:t>
            </a:r>
            <a:r>
              <a:rPr lang="en-IN" dirty="0"/>
              <a:t>);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ch</a:t>
            </a:r>
            <a:r>
              <a:rPr lang="en-IN" dirty="0"/>
              <a:t> &lt;&lt; </a:t>
            </a:r>
            <a:r>
              <a:rPr lang="en-IN" dirty="0" err="1"/>
              <a:t>endl</a:t>
            </a:r>
            <a:r>
              <a:rPr lang="en-IN" dirty="0"/>
              <a:t>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fin.seekg</a:t>
            </a:r>
            <a:r>
              <a:rPr lang="en-IN" dirty="0"/>
              <a:t>(-1, </a:t>
            </a:r>
            <a:r>
              <a:rPr lang="en-IN" dirty="0" err="1"/>
              <a:t>ios</a:t>
            </a:r>
            <a:r>
              <a:rPr lang="en-IN" dirty="0"/>
              <a:t>::end); // last character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fin.get</a:t>
            </a:r>
            <a:r>
              <a:rPr lang="en-IN" dirty="0"/>
              <a:t>(</a:t>
            </a:r>
            <a:r>
              <a:rPr lang="en-IN" dirty="0" err="1"/>
              <a:t>ch</a:t>
            </a:r>
            <a:r>
              <a:rPr lang="en-IN" dirty="0"/>
              <a:t>);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ch</a:t>
            </a:r>
            <a:r>
              <a:rPr lang="en-IN" dirty="0"/>
              <a:t> &lt;&lt; </a:t>
            </a:r>
            <a:r>
              <a:rPr lang="en-IN" dirty="0" err="1"/>
              <a:t>endl</a:t>
            </a:r>
            <a:r>
              <a:rPr lang="en-IN" dirty="0"/>
              <a:t>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fin.close</a:t>
            </a:r>
            <a:r>
              <a:rPr lang="en-IN" dirty="0"/>
              <a:t>();</a:t>
            </a:r>
            <a:br>
              <a:rPr lang="en-IN" dirty="0"/>
            </a:br>
            <a:r>
              <a:rPr lang="en-IN" dirty="0"/>
              <a:t>}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D4D6BB6-88CC-7ADD-09AB-BEB4FA71F2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265712"/>
              </p:ext>
            </p:extLst>
          </p:nvPr>
        </p:nvGraphicFramePr>
        <p:xfrm>
          <a:off x="838200" y="1132630"/>
          <a:ext cx="10515600" cy="1463040"/>
        </p:xfrm>
        <a:graphic>
          <a:graphicData uri="http://schemas.openxmlformats.org/drawingml/2006/table">
            <a:tbl>
              <a:tblPr/>
              <a:tblGrid>
                <a:gridCol w="5147931">
                  <a:extLst>
                    <a:ext uri="{9D8B030D-6E8A-4147-A177-3AD203B41FA5}">
                      <a16:colId xmlns:a16="http://schemas.microsoft.com/office/drawing/2014/main" val="3673443248"/>
                    </a:ext>
                  </a:extLst>
                </a:gridCol>
                <a:gridCol w="5367669">
                  <a:extLst>
                    <a:ext uri="{9D8B030D-6E8A-4147-A177-3AD203B41FA5}">
                      <a16:colId xmlns:a16="http://schemas.microsoft.com/office/drawing/2014/main" val="10132581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Flag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6301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ios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::beg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from beginning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777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ios::cur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from current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986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ios::end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from 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5420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73592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F55DF-B2CA-F6A2-D97B-B03AE6E53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2C788-75C4-5BCD-1EA6-CE90405C6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/>
          <a:lstStyle/>
          <a:p>
            <a:r>
              <a:rPr lang="en-US" b="1" dirty="0"/>
              <a:t>Important Concept</a:t>
            </a:r>
          </a:p>
          <a:p>
            <a:r>
              <a:rPr lang="en-US" dirty="0"/>
              <a:t>Positions are in </a:t>
            </a:r>
            <a:r>
              <a:rPr lang="en-US" b="1" dirty="0"/>
              <a:t>bytes</a:t>
            </a:r>
            <a:endParaRPr lang="en-US" dirty="0"/>
          </a:p>
          <a:p>
            <a:r>
              <a:rPr lang="en-US" dirty="0"/>
              <a:t>So:</a:t>
            </a:r>
          </a:p>
          <a:p>
            <a:r>
              <a:rPr lang="en-US" dirty="0"/>
              <a:t>1 char = 1 byte </a:t>
            </a:r>
          </a:p>
          <a:p>
            <a:r>
              <a:rPr lang="en-US" dirty="0"/>
              <a:t>int/struct may take more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8465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A687-434B-F4D0-5B2C-6465C9B67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120A1-A9CF-9319-1E96-E6729759B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>
            <a:normAutofit fontScale="32500" lnSpcReduction="20000"/>
          </a:bodyPr>
          <a:lstStyle/>
          <a:p>
            <a:r>
              <a:rPr lang="en-US" dirty="0"/>
              <a:t>Using </a:t>
            </a:r>
            <a:r>
              <a:rPr lang="en-US" dirty="0" err="1"/>
              <a:t>fstream</a:t>
            </a:r>
            <a:r>
              <a:rPr lang="en-US" dirty="0"/>
              <a:t> (Read + Write Together)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fstream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fstream</a:t>
            </a:r>
            <a:r>
              <a:rPr lang="en-IN" dirty="0"/>
              <a:t> file("data.txt", </a:t>
            </a:r>
            <a:r>
              <a:rPr lang="en-IN" dirty="0" err="1"/>
              <a:t>ios</a:t>
            </a:r>
            <a:r>
              <a:rPr lang="en-IN" dirty="0"/>
              <a:t>::in | </a:t>
            </a:r>
            <a:r>
              <a:rPr lang="en-IN" dirty="0" err="1"/>
              <a:t>ios</a:t>
            </a:r>
            <a:r>
              <a:rPr lang="en-IN" dirty="0"/>
              <a:t>::out);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if (!</a:t>
            </a:r>
            <a:r>
              <a:rPr lang="en-IN" dirty="0" err="1"/>
              <a:t>file.is_open</a:t>
            </a:r>
            <a:r>
              <a:rPr lang="en-IN" dirty="0"/>
              <a:t>())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"Error!";</a:t>
            </a:r>
          </a:p>
          <a:p>
            <a:pPr marL="0" indent="0">
              <a:buNone/>
            </a:pPr>
            <a:r>
              <a:rPr lang="en-IN" dirty="0"/>
              <a:t>        return 0;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file.seekp</a:t>
            </a:r>
            <a:r>
              <a:rPr lang="en-IN" dirty="0"/>
              <a:t>(0);</a:t>
            </a:r>
          </a:p>
          <a:p>
            <a:pPr marL="0" indent="0">
              <a:buNone/>
            </a:pPr>
            <a:r>
              <a:rPr lang="en-IN" dirty="0"/>
              <a:t>    file &lt;&lt; "Hi";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file.seekg</a:t>
            </a:r>
            <a:r>
              <a:rPr lang="en-IN" dirty="0"/>
              <a:t>(0);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char </a:t>
            </a:r>
            <a:r>
              <a:rPr lang="en-IN" dirty="0" err="1"/>
              <a:t>ch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file.get</a:t>
            </a:r>
            <a:r>
              <a:rPr lang="en-IN" dirty="0"/>
              <a:t>(</a:t>
            </a:r>
            <a:r>
              <a:rPr lang="en-IN" dirty="0" err="1"/>
              <a:t>ch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ch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file.close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719739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172810-E1DD-E0CA-9196-4D893CFA2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89" y="4883544"/>
            <a:ext cx="3876086" cy="155690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Types of Files in C++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5C841C5-FB58-3ED4-13FF-B93A7A1B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2719" y="4883544"/>
            <a:ext cx="6586915" cy="155690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In C++, files are mainly of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2 types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: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22EE3EE-7DEB-2EF3-129C-98F6FDACC4F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806342" y="940254"/>
          <a:ext cx="8675371" cy="2715768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952327">
                  <a:extLst>
                    <a:ext uri="{9D8B030D-6E8A-4147-A177-3AD203B41FA5}">
                      <a16:colId xmlns:a16="http://schemas.microsoft.com/office/drawing/2014/main" val="1476416039"/>
                    </a:ext>
                  </a:extLst>
                </a:gridCol>
                <a:gridCol w="5723044">
                  <a:extLst>
                    <a:ext uri="{9D8B030D-6E8A-4147-A177-3AD203B41FA5}">
                      <a16:colId xmlns:a16="http://schemas.microsoft.com/office/drawing/2014/main" val="4182512640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Type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Meaning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4277185996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 b="1"/>
                        <a:t>Text Files</a:t>
                      </a:r>
                      <a:endParaRPr lang="en-IN" sz="3300"/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Store data in readable form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857872940"/>
                  </a:ext>
                </a:extLst>
              </a:tr>
              <a:tr h="1240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 b="1"/>
                        <a:t>Binary Files</a:t>
                      </a:r>
                      <a:endParaRPr lang="en-IN" sz="3300"/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Store data in machine (raw) form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4093751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65069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1477C-9A11-AA6B-9F19-A60760529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BBC26-A68B-59DE-5C19-E15FE3259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Text Files</a:t>
            </a:r>
          </a:p>
          <a:p>
            <a:r>
              <a:rPr lang="en-US" dirty="0"/>
              <a:t>Data is stored as </a:t>
            </a:r>
            <a:r>
              <a:rPr lang="en-US" b="1" dirty="0"/>
              <a:t>characters (human-readable)</a:t>
            </a:r>
            <a:endParaRPr lang="en-US" dirty="0"/>
          </a:p>
          <a:p>
            <a:r>
              <a:rPr lang="en-US" dirty="0"/>
              <a:t>Example content:</a:t>
            </a:r>
          </a:p>
          <a:p>
            <a:r>
              <a:rPr lang="en-US" dirty="0"/>
              <a:t>Name: Ajay</a:t>
            </a:r>
            <a:br>
              <a:rPr lang="en-US" dirty="0"/>
            </a:br>
            <a:r>
              <a:rPr lang="en-US" dirty="0"/>
              <a:t>Age: 25</a:t>
            </a:r>
            <a:br>
              <a:rPr lang="en-US" dirty="0"/>
            </a:br>
            <a:r>
              <a:rPr lang="en-US" dirty="0"/>
              <a:t>Salary: 50000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Features of Text Files</a:t>
            </a:r>
          </a:p>
          <a:p>
            <a:r>
              <a:rPr lang="en-US" dirty="0"/>
              <a:t>Human readable</a:t>
            </a:r>
          </a:p>
          <a:p>
            <a:r>
              <a:rPr lang="en-US" dirty="0"/>
              <a:t>Easy to edit (Notepad, VS Code)</a:t>
            </a:r>
          </a:p>
          <a:p>
            <a:r>
              <a:rPr lang="en-US" dirty="0"/>
              <a:t> Data stored as characters</a:t>
            </a:r>
          </a:p>
          <a:p>
            <a:r>
              <a:rPr lang="en-US" dirty="0"/>
              <a:t>Slower (due to conversion)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8929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5CA40-73EF-CF4E-D760-B5857E6E5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35F8C-EEB1-AB32-A99E-294689757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/>
          <a:lstStyle/>
          <a:p>
            <a:r>
              <a:rPr lang="en-US" b="1" dirty="0"/>
              <a:t>Binary Files</a:t>
            </a:r>
          </a:p>
          <a:p>
            <a:r>
              <a:rPr lang="en-US" dirty="0"/>
              <a:t>Data is stored in </a:t>
            </a:r>
            <a:r>
              <a:rPr lang="en-US" b="1" dirty="0"/>
              <a:t>raw binary form (0s and 1s)</a:t>
            </a:r>
            <a:endParaRPr lang="en-US" dirty="0"/>
          </a:p>
          <a:p>
            <a:r>
              <a:rPr lang="en-US" dirty="0"/>
              <a:t>Example (not readable):</a:t>
            </a:r>
          </a:p>
          <a:p>
            <a:r>
              <a:rPr lang="en-US" dirty="0"/>
              <a:t>0101010100110101...</a:t>
            </a:r>
          </a:p>
          <a:p>
            <a:r>
              <a:rPr lang="en-US" b="1" dirty="0"/>
              <a:t>Features of Binary Files</a:t>
            </a:r>
          </a:p>
          <a:p>
            <a:r>
              <a:rPr lang="en-US" dirty="0"/>
              <a:t>Not human readable </a:t>
            </a:r>
          </a:p>
          <a:p>
            <a:r>
              <a:rPr lang="en-US" dirty="0"/>
              <a:t>Faster (no conversion)</a:t>
            </a:r>
          </a:p>
          <a:p>
            <a:r>
              <a:rPr lang="en-US" dirty="0"/>
              <a:t>Compact storage</a:t>
            </a:r>
          </a:p>
          <a:p>
            <a:r>
              <a:rPr lang="en-US" dirty="0"/>
              <a:t>Used for structures, images, etc.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82763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3E900-10F6-91B3-1F34-86916651E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DE28E-8DE4-1D85-BA64-FB53EAB19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Example: Writing to Binary File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fstream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ofstream</a:t>
            </a:r>
            <a:r>
              <a:rPr lang="en-US" dirty="0"/>
              <a:t> </a:t>
            </a:r>
            <a:r>
              <a:rPr lang="en-US" dirty="0" err="1"/>
              <a:t>fout</a:t>
            </a:r>
            <a:r>
              <a:rPr lang="en-US" dirty="0"/>
              <a:t>("</a:t>
            </a:r>
            <a:r>
              <a:rPr lang="en-US" dirty="0" err="1"/>
              <a:t>data.bin</a:t>
            </a:r>
            <a:r>
              <a:rPr lang="en-US" dirty="0"/>
              <a:t>", </a:t>
            </a:r>
            <a:r>
              <a:rPr lang="en-US" dirty="0" err="1"/>
              <a:t>ios</a:t>
            </a:r>
            <a:r>
              <a:rPr lang="en-US" dirty="0"/>
              <a:t>::binary);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if (!</a:t>
            </a:r>
            <a:r>
              <a:rPr lang="en-US" dirty="0" err="1"/>
              <a:t>fout.is_open</a:t>
            </a:r>
            <a:r>
              <a:rPr lang="en-US" dirty="0"/>
              <a:t>())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"Error!";</a:t>
            </a:r>
          </a:p>
          <a:p>
            <a:pPr marL="0" indent="0">
              <a:buNone/>
            </a:pPr>
            <a:r>
              <a:rPr lang="en-US" dirty="0"/>
              <a:t>        return 0;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int num = 100;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fout.write</a:t>
            </a:r>
            <a:r>
              <a:rPr lang="en-US" dirty="0"/>
              <a:t>((char*)&amp;num, </a:t>
            </a:r>
            <a:r>
              <a:rPr lang="en-US" dirty="0" err="1"/>
              <a:t>sizeof</a:t>
            </a:r>
            <a:r>
              <a:rPr lang="en-US" dirty="0"/>
              <a:t>(num));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fout.close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885754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4D513-0E3B-97E5-8BD5-209060746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8E462-C898-D108-B5AE-B97FCB029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>
            <a:normAutofit fontScale="47500" lnSpcReduction="20000"/>
          </a:bodyPr>
          <a:lstStyle/>
          <a:p>
            <a:r>
              <a:rPr lang="en-IN" dirty="0"/>
              <a:t>Example Reading from binary file – 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fstream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ifstream</a:t>
            </a:r>
            <a:r>
              <a:rPr lang="en-IN" dirty="0"/>
              <a:t> fin("</a:t>
            </a:r>
            <a:r>
              <a:rPr lang="en-IN" dirty="0" err="1"/>
              <a:t>data.bin</a:t>
            </a:r>
            <a:r>
              <a:rPr lang="en-IN" dirty="0"/>
              <a:t>", </a:t>
            </a:r>
            <a:r>
              <a:rPr lang="en-IN" dirty="0" err="1"/>
              <a:t>ios</a:t>
            </a:r>
            <a:r>
              <a:rPr lang="en-IN" dirty="0"/>
              <a:t>::binary);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if (!</a:t>
            </a:r>
            <a:r>
              <a:rPr lang="en-IN" dirty="0" err="1"/>
              <a:t>fin.is_open</a:t>
            </a:r>
            <a:r>
              <a:rPr lang="en-IN" dirty="0"/>
              <a:t>())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"Error!";</a:t>
            </a:r>
          </a:p>
          <a:p>
            <a:pPr marL="0" indent="0">
              <a:buNone/>
            </a:pPr>
            <a:r>
              <a:rPr lang="en-IN" dirty="0"/>
              <a:t>        return 0;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int </a:t>
            </a:r>
            <a:r>
              <a:rPr lang="en-IN" dirty="0" err="1"/>
              <a:t>num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fin.read</a:t>
            </a:r>
            <a:r>
              <a:rPr lang="en-IN" dirty="0"/>
              <a:t>((char*)&amp;</a:t>
            </a:r>
            <a:r>
              <a:rPr lang="en-IN" dirty="0" err="1"/>
              <a:t>num</a:t>
            </a:r>
            <a:r>
              <a:rPr lang="en-IN" dirty="0"/>
              <a:t>, </a:t>
            </a:r>
            <a:r>
              <a:rPr lang="en-IN" dirty="0" err="1"/>
              <a:t>sizeof</a:t>
            </a:r>
            <a:r>
              <a:rPr lang="en-IN" dirty="0"/>
              <a:t>(</a:t>
            </a:r>
            <a:r>
              <a:rPr lang="en-IN" dirty="0" err="1"/>
              <a:t>num</a:t>
            </a:r>
            <a:r>
              <a:rPr lang="en-IN" dirty="0"/>
              <a:t>));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num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fin.close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700916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DFFA6-4FF3-0B95-B87C-42524A6BB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F3A2F-D98B-B7D4-E09F-CD1BEE3B8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Important Rules for Binary Files   - </a:t>
            </a:r>
          </a:p>
          <a:p>
            <a:r>
              <a:rPr lang="en-US" b="1" dirty="0"/>
              <a:t>1. Same Data Type Rule</a:t>
            </a:r>
          </a:p>
          <a:p>
            <a:r>
              <a:rPr lang="en-US" dirty="0"/>
              <a:t>If you write float → you must read float </a:t>
            </a:r>
          </a:p>
          <a:p>
            <a:r>
              <a:rPr lang="en-US" dirty="0"/>
              <a:t>If you write int → you must read int </a:t>
            </a:r>
          </a:p>
          <a:p>
            <a:r>
              <a:rPr lang="en-US" dirty="0"/>
              <a:t>Otherwise →  garbage value</a:t>
            </a:r>
          </a:p>
          <a:p>
            <a:r>
              <a:rPr lang="en-US" b="1" dirty="0"/>
              <a:t>2. Same Order Rule</a:t>
            </a:r>
          </a:p>
          <a:p>
            <a:r>
              <a:rPr lang="en-US" dirty="0"/>
              <a:t>Data must be read in the </a:t>
            </a:r>
            <a:r>
              <a:rPr lang="en-US" b="1" dirty="0"/>
              <a:t>same order</a:t>
            </a:r>
            <a:r>
              <a:rPr lang="en-US" dirty="0"/>
              <a:t> as written 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Write: int → float → char </a:t>
            </a:r>
          </a:p>
          <a:p>
            <a:r>
              <a:rPr lang="en-US" dirty="0"/>
              <a:t>Read: int → float → char </a:t>
            </a:r>
          </a:p>
          <a:p>
            <a:r>
              <a:rPr lang="en-US" dirty="0"/>
              <a:t>If order changes → wrong output</a:t>
            </a:r>
          </a:p>
          <a:p>
            <a:r>
              <a:rPr lang="en-US" b="1" dirty="0"/>
              <a:t>3. String Caution</a:t>
            </a:r>
          </a:p>
          <a:p>
            <a:r>
              <a:rPr lang="en-US" dirty="0"/>
              <a:t>Do NOT write string directly </a:t>
            </a:r>
          </a:p>
          <a:p>
            <a:r>
              <a:rPr lang="en-US" dirty="0"/>
              <a:t>Use char[] instead 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74420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2BB8D-5D1D-689F-811C-B68F936B7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DB2A9-3918-F658-4674-8CDFCEF92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>
            <a:normAutofit/>
          </a:bodyPr>
          <a:lstStyle/>
          <a:p>
            <a:r>
              <a:rPr lang="en-IN" sz="2000" b="1" dirty="0"/>
              <a:t>Sequential vs Random Access – </a:t>
            </a:r>
          </a:p>
          <a:p>
            <a:r>
              <a:rPr lang="en-US" sz="2000" b="1" dirty="0"/>
              <a:t>Sequential Access</a:t>
            </a:r>
          </a:p>
          <a:p>
            <a:r>
              <a:rPr lang="en-US" sz="2000" dirty="0"/>
              <a:t>Data is read/written </a:t>
            </a:r>
            <a:r>
              <a:rPr lang="en-US" sz="2000" b="1" dirty="0"/>
              <a:t>in order (one after another)</a:t>
            </a:r>
            <a:br>
              <a:rPr lang="en-US" sz="2000" dirty="0"/>
            </a:br>
            <a:r>
              <a:rPr lang="en-US" sz="2000" dirty="0"/>
              <a:t>You cannot skip directly</a:t>
            </a:r>
          </a:p>
          <a:p>
            <a:r>
              <a:rPr lang="en-US" sz="2000" dirty="0"/>
              <a:t> Like reading a book from page 1 → 2 → 3</a:t>
            </a:r>
          </a:p>
          <a:p>
            <a:endParaRPr lang="en-US" sz="2000" dirty="0"/>
          </a:p>
          <a:p>
            <a:r>
              <a:rPr lang="en-US" sz="2000" b="1" dirty="0"/>
              <a:t> Random Access</a:t>
            </a:r>
          </a:p>
          <a:p>
            <a:r>
              <a:rPr lang="en-US" sz="2000" dirty="0"/>
              <a:t> You can jump to </a:t>
            </a:r>
            <a:r>
              <a:rPr lang="en-US" sz="2000" b="1" dirty="0"/>
              <a:t>any position directly</a:t>
            </a:r>
            <a:endParaRPr lang="en-US" sz="2000" dirty="0"/>
          </a:p>
          <a:p>
            <a:r>
              <a:rPr lang="en-US" sz="2000" dirty="0"/>
              <a:t> Like opening page 50 directly</a:t>
            </a:r>
          </a:p>
          <a:p>
            <a:r>
              <a:rPr lang="en-US" sz="2000" b="1" dirty="0"/>
              <a:t>I/O Functions for Sequential Access - </a:t>
            </a:r>
          </a:p>
          <a:p>
            <a:r>
              <a:rPr lang="en-US" sz="2000" dirty="0"/>
              <a:t> Used for </a:t>
            </a:r>
            <a:r>
              <a:rPr lang="en-US" sz="2000" b="1" dirty="0"/>
              <a:t>normal reading/writing</a:t>
            </a:r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dirty="0"/>
          </a:p>
          <a:p>
            <a:endParaRPr lang="en-US" sz="2000" dirty="0"/>
          </a:p>
          <a:p>
            <a:endParaRPr lang="en-IN" sz="2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C857EF-46E2-B2F6-3F6F-85A98177F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743" y="4857169"/>
            <a:ext cx="4816257" cy="112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7150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4D72B-BEBC-84D9-EF46-30033CB46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4E130-FD21-BE73-978C-1C0F67416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/>
          <a:lstStyle/>
          <a:p>
            <a:r>
              <a:rPr lang="en-IN" dirty="0"/>
              <a:t>Reading Functions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US" b="1" dirty="0"/>
              <a:t>I/O Functions for Random Access - </a:t>
            </a:r>
          </a:p>
          <a:p>
            <a:r>
              <a:rPr lang="en-US" dirty="0"/>
              <a:t>Used with </a:t>
            </a:r>
            <a:r>
              <a:rPr lang="en-US" b="1" dirty="0"/>
              <a:t>file pointers</a:t>
            </a:r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3953EE-146D-5745-EDA4-D7CC66FDB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777" y="973416"/>
            <a:ext cx="4877223" cy="19127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C181C1-CC4C-8621-EEFB-1C162FB3F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991" y="4356218"/>
            <a:ext cx="4991533" cy="195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2714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3DD7A-BA5E-9D49-053A-B87C3C8CC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999D1-E147-4800-5817-08D565179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/>
          <a:lstStyle/>
          <a:p>
            <a:r>
              <a:rPr lang="en-IN" b="1" dirty="0"/>
              <a:t>Error Handling – </a:t>
            </a:r>
          </a:p>
          <a:p>
            <a:r>
              <a:rPr lang="en-US" dirty="0"/>
              <a:t>File Error handling means:  </a:t>
            </a:r>
            <a:r>
              <a:rPr lang="en-US" b="1" dirty="0"/>
              <a:t>detecting and handling problems while working with files.</a:t>
            </a:r>
          </a:p>
          <a:p>
            <a:r>
              <a:rPr lang="en-IN" dirty="0"/>
              <a:t>Common File Errors – </a:t>
            </a:r>
          </a:p>
          <a:p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EE00F2-72C7-2B69-524A-C7E021E0A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074" y="2350117"/>
            <a:ext cx="4922947" cy="195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4221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DC2B3-77A9-2EDA-CC14-0420FB869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B0FD4-1FFE-6135-00EB-5446171FC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>
            <a:normAutofit/>
          </a:bodyPr>
          <a:lstStyle/>
          <a:p>
            <a:r>
              <a:rPr lang="en-IN" sz="2000" b="1" dirty="0"/>
              <a:t>Basic Error Handling – </a:t>
            </a:r>
          </a:p>
          <a:p>
            <a:r>
              <a:rPr lang="en-US" sz="2000" b="1" dirty="0"/>
              <a:t>Using </a:t>
            </a:r>
            <a:r>
              <a:rPr lang="en-US" sz="2000" b="1" dirty="0" err="1"/>
              <a:t>is_open</a:t>
            </a:r>
            <a:r>
              <a:rPr lang="en-US" sz="2000" b="1" dirty="0"/>
              <a:t>()</a:t>
            </a:r>
          </a:p>
          <a:p>
            <a:r>
              <a:rPr lang="en-US" sz="2000" dirty="0" err="1"/>
              <a:t>ifstream</a:t>
            </a:r>
            <a:r>
              <a:rPr lang="en-US" sz="2000" dirty="0"/>
              <a:t> fin("data.txt");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if (!</a:t>
            </a:r>
            <a:r>
              <a:rPr lang="en-US" sz="2000" dirty="0" err="1"/>
              <a:t>fin.is_open</a:t>
            </a:r>
            <a:r>
              <a:rPr lang="en-US" sz="2000" dirty="0"/>
              <a:t>()) {</a:t>
            </a:r>
            <a:br>
              <a:rPr lang="en-US" sz="2000" dirty="0"/>
            </a:br>
            <a:r>
              <a:rPr lang="en-US" sz="2000" dirty="0"/>
              <a:t>    </a:t>
            </a:r>
            <a:r>
              <a:rPr lang="en-US" sz="2000" dirty="0" err="1"/>
              <a:t>cout</a:t>
            </a:r>
            <a:r>
              <a:rPr lang="en-US" sz="2000" dirty="0"/>
              <a:t> &lt;&lt; "File not opened!";</a:t>
            </a:r>
            <a:br>
              <a:rPr lang="en-US" sz="2000" dirty="0"/>
            </a:br>
            <a:r>
              <a:rPr lang="en-US" sz="2000" dirty="0"/>
              <a:t>    return 0;</a:t>
            </a:r>
            <a:br>
              <a:rPr lang="en-US" sz="2000" dirty="0"/>
            </a:br>
            <a:r>
              <a:rPr lang="en-US" sz="2000" dirty="0"/>
              <a:t>}</a:t>
            </a:r>
          </a:p>
          <a:p>
            <a:r>
              <a:rPr lang="en-US" sz="2000" dirty="0"/>
              <a:t>This is the </a:t>
            </a:r>
            <a:r>
              <a:rPr lang="en-US" sz="2000" b="1" dirty="0"/>
              <a:t>first and most important check</a:t>
            </a:r>
          </a:p>
          <a:p>
            <a:r>
              <a:rPr lang="en-US" sz="2000" b="1" dirty="0"/>
              <a:t>Stream State Functions</a:t>
            </a:r>
          </a:p>
          <a:p>
            <a:r>
              <a:rPr lang="en-US" sz="2000" dirty="0"/>
              <a:t>C++ provides functions to check file state:</a:t>
            </a:r>
          </a:p>
          <a:p>
            <a:endParaRPr lang="en-US" sz="2000" dirty="0"/>
          </a:p>
          <a:p>
            <a:endParaRPr lang="en-IN" sz="2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D7D9D4-C043-2BBA-861C-6982D1163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706" y="4324885"/>
            <a:ext cx="4968671" cy="195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4021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C7025-99F1-C49D-F28D-910AE5FB4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08DE1-11A2-DF06-57C0-B70A6C43A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Example: Using fail()</a:t>
            </a:r>
          </a:p>
          <a:p>
            <a:r>
              <a:rPr lang="en-IN" dirty="0"/>
              <a:t>#include &lt;iostream&gt;</a:t>
            </a:r>
            <a:br>
              <a:rPr lang="en-IN" dirty="0"/>
            </a:br>
            <a:r>
              <a:rPr lang="en-IN" dirty="0"/>
              <a:t>#include &lt;</a:t>
            </a:r>
            <a:r>
              <a:rPr lang="en-IN" dirty="0" err="1"/>
              <a:t>fstream</a:t>
            </a:r>
            <a:r>
              <a:rPr lang="en-IN" dirty="0"/>
              <a:t>&gt;</a:t>
            </a:r>
            <a:br>
              <a:rPr lang="en-IN" dirty="0"/>
            </a:br>
            <a:r>
              <a:rPr lang="en-IN" dirty="0"/>
              <a:t>using namespace std;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int main() {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ifstream</a:t>
            </a:r>
            <a:r>
              <a:rPr lang="en-IN" dirty="0"/>
              <a:t> fin("data.txt");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if (!</a:t>
            </a:r>
            <a:r>
              <a:rPr lang="en-IN" dirty="0" err="1"/>
              <a:t>fin.is_open</a:t>
            </a:r>
            <a:r>
              <a:rPr lang="en-IN" dirty="0"/>
              <a:t>()) {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"Error opening file!";</a:t>
            </a:r>
            <a:br>
              <a:rPr lang="en-IN" dirty="0"/>
            </a:br>
            <a:r>
              <a:rPr lang="en-IN" dirty="0"/>
              <a:t>        return 0;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int </a:t>
            </a:r>
            <a:r>
              <a:rPr lang="en-IN" dirty="0" err="1"/>
              <a:t>num</a:t>
            </a:r>
            <a:r>
              <a:rPr lang="en-IN" dirty="0"/>
              <a:t>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fin &gt;&gt; </a:t>
            </a:r>
            <a:r>
              <a:rPr lang="en-IN" dirty="0" err="1"/>
              <a:t>num</a:t>
            </a:r>
            <a:r>
              <a:rPr lang="en-IN" dirty="0"/>
              <a:t>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if (</a:t>
            </a:r>
            <a:r>
              <a:rPr lang="en-IN" dirty="0" err="1"/>
              <a:t>fin.fail</a:t>
            </a:r>
            <a:r>
              <a:rPr lang="en-IN" dirty="0"/>
              <a:t>()) {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"Error: Invalid data!";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fin.close</a:t>
            </a:r>
            <a:r>
              <a:rPr lang="en-IN" dirty="0"/>
              <a:t>();</a:t>
            </a:r>
            <a:br>
              <a:rPr lang="en-IN" dirty="0"/>
            </a:b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78932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7B4FD-0620-6234-994D-2C9A24EAF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0CEB5-2BFC-CCEE-72FC-96001557D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Example: Using </a:t>
            </a:r>
            <a:r>
              <a:rPr lang="en-IN" b="1" dirty="0" err="1"/>
              <a:t>eof</a:t>
            </a:r>
            <a:r>
              <a:rPr lang="en-IN" b="1" dirty="0"/>
              <a:t>()</a:t>
            </a:r>
          </a:p>
          <a:p>
            <a:r>
              <a:rPr lang="en-IN" dirty="0" err="1"/>
              <a:t>ifstream</a:t>
            </a:r>
            <a:r>
              <a:rPr lang="en-IN" dirty="0"/>
              <a:t> fin("data.txt");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if (</a:t>
            </a:r>
            <a:r>
              <a:rPr lang="en-IN" dirty="0" err="1"/>
              <a:t>fin.is_open</a:t>
            </a:r>
            <a:r>
              <a:rPr lang="en-IN" dirty="0"/>
              <a:t>()) {</a:t>
            </a:r>
            <a:br>
              <a:rPr lang="en-IN" dirty="0"/>
            </a:br>
            <a:r>
              <a:rPr lang="en-IN" dirty="0"/>
              <a:t>    int </a:t>
            </a:r>
            <a:r>
              <a:rPr lang="en-IN" dirty="0" err="1"/>
              <a:t>num</a:t>
            </a:r>
            <a:r>
              <a:rPr lang="en-IN" dirty="0"/>
              <a:t>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while (fin &gt;&gt; </a:t>
            </a:r>
            <a:r>
              <a:rPr lang="en-IN" dirty="0" err="1"/>
              <a:t>num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num</a:t>
            </a:r>
            <a:r>
              <a:rPr lang="en-IN" dirty="0"/>
              <a:t> &lt;&lt; </a:t>
            </a:r>
            <a:r>
              <a:rPr lang="en-IN" dirty="0" err="1"/>
              <a:t>endl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if (</a:t>
            </a:r>
            <a:r>
              <a:rPr lang="en-IN" dirty="0" err="1"/>
              <a:t>fin.eof</a:t>
            </a:r>
            <a:r>
              <a:rPr lang="en-IN" dirty="0"/>
              <a:t>()) {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"End of file reached";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fin.close</a:t>
            </a:r>
            <a:r>
              <a:rPr lang="en-IN" dirty="0"/>
              <a:t>();</a:t>
            </a:r>
            <a:br>
              <a:rPr lang="en-IN" dirty="0"/>
            </a:br>
            <a:r>
              <a:rPr lang="en-IN" dirty="0"/>
              <a:t>}</a:t>
            </a:r>
          </a:p>
          <a:p>
            <a:r>
              <a:rPr lang="en-IN" dirty="0"/>
              <a:t>Used </a:t>
            </a:r>
            <a:r>
              <a:rPr lang="en-IN" b="1" dirty="0"/>
              <a:t>after reading</a:t>
            </a:r>
            <a:r>
              <a:rPr lang="en-IN" dirty="0"/>
              <a:t>, not in loop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88691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BDA76-D4E0-6D8B-28C1-94D6979A6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9EACA-7D62-E592-A30E-65BF133DE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/>
          <a:lstStyle/>
          <a:p>
            <a:r>
              <a:rPr lang="en-US" b="1" dirty="0"/>
              <a:t>Example: Using bad()</a:t>
            </a:r>
          </a:p>
          <a:p>
            <a:r>
              <a:rPr lang="en-US" dirty="0" err="1"/>
              <a:t>ifstream</a:t>
            </a:r>
            <a:r>
              <a:rPr lang="en-US" dirty="0"/>
              <a:t> fin("data.txt");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if (</a:t>
            </a:r>
            <a:r>
              <a:rPr lang="en-US" dirty="0" err="1"/>
              <a:t>fin.bad</a:t>
            </a:r>
            <a:r>
              <a:rPr lang="en-US" dirty="0"/>
              <a:t>()) {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"Serious error occurred!";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dirty="0"/>
              <a:t>Rare, but used for </a:t>
            </a:r>
            <a:r>
              <a:rPr lang="en-US" b="1" dirty="0"/>
              <a:t>hardware/system failure</a:t>
            </a:r>
          </a:p>
          <a:p>
            <a:r>
              <a:rPr lang="en-US" b="1" dirty="0"/>
              <a:t>Example: Using good()</a:t>
            </a:r>
          </a:p>
          <a:p>
            <a:r>
              <a:rPr lang="en-US" dirty="0" err="1"/>
              <a:t>ifstream</a:t>
            </a:r>
            <a:r>
              <a:rPr lang="en-US" dirty="0"/>
              <a:t> fin("data.txt");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if (</a:t>
            </a:r>
            <a:r>
              <a:rPr lang="en-US" dirty="0" err="1"/>
              <a:t>fin.good</a:t>
            </a:r>
            <a:r>
              <a:rPr lang="en-US" dirty="0"/>
              <a:t>()) {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"File is ready to use";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64597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1F0AC-7FA8-473F-29D3-9191A3518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FE27B-C39F-5D18-6524-491506ED72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510363"/>
            <a:ext cx="5181600" cy="5666600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Combined Error Handling (Best Practice) – 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fstream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ifstream</a:t>
            </a:r>
            <a:r>
              <a:rPr lang="en-IN" dirty="0"/>
              <a:t> fin("data.txt");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if (!</a:t>
            </a:r>
            <a:r>
              <a:rPr lang="en-IN" dirty="0" err="1"/>
              <a:t>fin.is_open</a:t>
            </a:r>
            <a:r>
              <a:rPr lang="en-IN" dirty="0"/>
              <a:t>())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"File not opened!";</a:t>
            </a:r>
          </a:p>
          <a:p>
            <a:pPr marL="0" indent="0">
              <a:buNone/>
            </a:pPr>
            <a:r>
              <a:rPr lang="en-IN" dirty="0"/>
              <a:t>        return 0;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int </a:t>
            </a:r>
            <a:r>
              <a:rPr lang="en-IN" dirty="0" err="1"/>
              <a:t>num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A029AB-AAE4-1AA2-593A-7C1995E1F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510363"/>
            <a:ext cx="5181600" cy="56666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 while (fin &gt;&gt; </a:t>
            </a:r>
            <a:r>
              <a:rPr lang="en-IN" dirty="0" err="1"/>
              <a:t>num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num</a:t>
            </a:r>
            <a:r>
              <a:rPr lang="en-IN" dirty="0"/>
              <a:t>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if (</a:t>
            </a:r>
            <a:r>
              <a:rPr lang="en-IN" dirty="0" err="1"/>
              <a:t>fin.eof</a:t>
            </a:r>
            <a:r>
              <a:rPr lang="en-IN" dirty="0"/>
              <a:t>())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"Reached end of file";</a:t>
            </a:r>
          </a:p>
          <a:p>
            <a:pPr marL="0" indent="0">
              <a:buNone/>
            </a:pPr>
            <a:r>
              <a:rPr lang="en-IN" dirty="0"/>
              <a:t>    } else if (</a:t>
            </a:r>
            <a:r>
              <a:rPr lang="en-IN" dirty="0" err="1"/>
              <a:t>fin.fail</a:t>
            </a:r>
            <a:r>
              <a:rPr lang="en-IN" dirty="0"/>
              <a:t>())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"Data format error";</a:t>
            </a:r>
          </a:p>
          <a:p>
            <a:pPr marL="0" indent="0">
              <a:buNone/>
            </a:pPr>
            <a:r>
              <a:rPr lang="en-IN" dirty="0"/>
              <a:t>    } else if (</a:t>
            </a:r>
            <a:r>
              <a:rPr lang="en-IN" dirty="0" err="1"/>
              <a:t>fin.bad</a:t>
            </a:r>
            <a:r>
              <a:rPr lang="en-IN" dirty="0"/>
              <a:t>())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"Serious error";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fin.close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571294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C3231-A530-9926-3464-9F48E0270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F0B9A-CB0B-C11D-CAB1-AB3B4E73E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6652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1554</TotalTime>
  <Words>5003</Words>
  <Application>Microsoft Office PowerPoint</Application>
  <PresentationFormat>Widescreen</PresentationFormat>
  <Paragraphs>823</Paragraphs>
  <Slides>56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2" baseType="lpstr">
      <vt:lpstr>Aptos</vt:lpstr>
      <vt:lpstr>Aptos Display</vt:lpstr>
      <vt:lpstr>Arial</vt:lpstr>
      <vt:lpstr>Calibri</vt:lpstr>
      <vt:lpstr>Courier New</vt:lpstr>
      <vt:lpstr>Office Theme</vt:lpstr>
      <vt:lpstr>File Handling and Templates</vt:lpstr>
      <vt:lpstr>Streams</vt:lpstr>
      <vt:lpstr>PowerPoint Presentation</vt:lpstr>
      <vt:lpstr>PowerPoint Presentation</vt:lpstr>
      <vt:lpstr>File Streams</vt:lpstr>
      <vt:lpstr>File Stream Classes</vt:lpstr>
      <vt:lpstr>Opening a file</vt:lpstr>
      <vt:lpstr>PowerPoint Presentation</vt:lpstr>
      <vt:lpstr>PowerPoint Presentation</vt:lpstr>
      <vt:lpstr>PowerPoint Presentation</vt:lpstr>
      <vt:lpstr>PowerPoint Presentation</vt:lpstr>
      <vt:lpstr>File Reading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File Writing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File Pointers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Files in C++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Kamboj</dc:creator>
  <cp:lastModifiedBy>Rohit Kamboj</cp:lastModifiedBy>
  <cp:revision>226</cp:revision>
  <dcterms:created xsi:type="dcterms:W3CDTF">2026-04-08T03:08:24Z</dcterms:created>
  <dcterms:modified xsi:type="dcterms:W3CDTF">2026-04-16T03:38:16Z</dcterms:modified>
</cp:coreProperties>
</file>