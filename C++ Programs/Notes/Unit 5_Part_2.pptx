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8" r:id="rId18"/>
    <p:sldId id="271" r:id="rId19"/>
    <p:sldId id="272" r:id="rId20"/>
    <p:sldId id="273" r:id="rId21"/>
    <p:sldId id="274" r:id="rId22"/>
    <p:sldId id="275" r:id="rId23"/>
    <p:sldId id="276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6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8693" autoAdjust="0"/>
  </p:normalViewPr>
  <p:slideViewPr>
    <p:cSldViewPr snapToGrid="0">
      <p:cViewPr varScale="1">
        <p:scale>
          <a:sx n="65" d="100"/>
          <a:sy n="65" d="100"/>
        </p:scale>
        <p:origin x="135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8AA74-E20A-4F60-A69F-FBFDD7725F69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0CC94-D8C0-4601-935B-AE18E09953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22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add&lt;int&gt;(5,10.5)</a:t>
            </a:r>
            <a:r>
              <a:rPr lang="en-US" dirty="0"/>
              <a:t> → you are </a:t>
            </a:r>
            <a:r>
              <a:rPr lang="en-US" b="1" dirty="0"/>
              <a:t>forcing type = int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add(5,10)</a:t>
            </a:r>
            <a:r>
              <a:rPr lang="en-US" dirty="0"/>
              <a:t> → compiler automatically decides type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61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Call 1: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print(10);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</a:t>
            </a:r>
            <a:r>
              <a:rPr lang="en-IN" dirty="0"/>
              <a:t> →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IN" dirty="0"/>
              <a:t> </a:t>
            </a:r>
          </a:p>
          <a:p>
            <a:r>
              <a:rPr lang="en-IN" dirty="0"/>
              <a:t>Compiler uses: 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print&lt;int&gt;(10);</a:t>
            </a:r>
          </a:p>
          <a:p>
            <a:r>
              <a:rPr lang="en-IN" dirty="0"/>
              <a:t>Output: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Generic: 10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Call 2: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print('A');</a:t>
            </a:r>
          </a:p>
          <a:p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en-IN" dirty="0"/>
              <a:t> →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en-IN" dirty="0"/>
              <a:t> </a:t>
            </a:r>
          </a:p>
          <a:p>
            <a:r>
              <a:rPr lang="en-IN" dirty="0"/>
              <a:t>Compiler checks: Is there a specialized version for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en-IN" dirty="0"/>
              <a:t>? → YES </a:t>
            </a:r>
          </a:p>
          <a:p>
            <a:r>
              <a:rPr lang="en-IN" dirty="0"/>
              <a:t>So it uses: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 print&lt;char&gt;(char a)</a:t>
            </a:r>
          </a:p>
          <a:p>
            <a:r>
              <a:rPr lang="en-IN" dirty="0"/>
              <a:t>Output: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Character: A</a:t>
            </a:r>
          </a:p>
          <a:p>
            <a:r>
              <a:rPr lang="en-IN" b="1" dirty="0"/>
              <a:t>Important Rule</a:t>
            </a:r>
          </a:p>
          <a:p>
            <a:r>
              <a:rPr lang="en-IN" dirty="0"/>
              <a:t>Compiler priority:</a:t>
            </a:r>
          </a:p>
          <a:p>
            <a:r>
              <a:rPr lang="en-IN" b="1" dirty="0"/>
              <a:t>Specialized template (if exists)</a:t>
            </a:r>
            <a:r>
              <a:rPr lang="en-IN" dirty="0"/>
              <a:t> </a:t>
            </a:r>
          </a:p>
          <a:p>
            <a:r>
              <a:rPr lang="en-IN" dirty="0"/>
              <a:t>Otherwise → </a:t>
            </a:r>
            <a:r>
              <a:rPr lang="en-IN" b="1" dirty="0"/>
              <a:t>Generic template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13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Output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Generic class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Generic class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Specialized for char</a:t>
            </a:r>
          </a:p>
          <a:p>
            <a:endParaRPr lang="en-IN" dirty="0"/>
          </a:p>
          <a:p>
            <a:r>
              <a:rPr lang="en-IN" b="1" dirty="0"/>
              <a:t>How it Works</a:t>
            </a:r>
          </a:p>
          <a:p>
            <a:r>
              <a:rPr lang="en-IN" b="1" dirty="0"/>
              <a:t> 1. Generic Template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template &lt;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typename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T&gt;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Demo</a:t>
            </a:r>
          </a:p>
          <a:p>
            <a:r>
              <a:rPr lang="en-IN" dirty="0"/>
              <a:t>Works for </a:t>
            </a:r>
            <a:r>
              <a:rPr lang="en-IN" b="1" dirty="0"/>
              <a:t>all data types</a:t>
            </a:r>
            <a:r>
              <a:rPr lang="en-IN" dirty="0"/>
              <a:t> </a:t>
            </a:r>
          </a:p>
          <a:p>
            <a:r>
              <a:rPr lang="en-IN" dirty="0"/>
              <a:t>Example: </a:t>
            </a:r>
          </a:p>
          <a:p>
            <a:pPr lvl="1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Demo&lt;int&gt;</a:t>
            </a:r>
            <a:r>
              <a:rPr lang="en-IN" dirty="0"/>
              <a:t> </a:t>
            </a:r>
          </a:p>
          <a:p>
            <a:pPr lvl="1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Demo&lt;float&gt;</a:t>
            </a:r>
            <a:r>
              <a:rPr lang="en-IN" dirty="0"/>
              <a:t> </a:t>
            </a:r>
          </a:p>
          <a:p>
            <a:r>
              <a:rPr lang="en-IN" dirty="0"/>
              <a:t> Both use: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"Generic class";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b="1" dirty="0"/>
              <a:t>2. Specialized Template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template &lt;&gt;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 Demo&lt;char&gt;</a:t>
            </a:r>
          </a:p>
          <a:p>
            <a:r>
              <a:rPr lang="en-IN" dirty="0"/>
              <a:t>This is </a:t>
            </a:r>
            <a:r>
              <a:rPr lang="en-IN" b="1" dirty="0"/>
              <a:t>full specialization</a:t>
            </a:r>
            <a:r>
              <a:rPr lang="en-IN" dirty="0"/>
              <a:t> </a:t>
            </a:r>
          </a:p>
          <a:p>
            <a:r>
              <a:rPr lang="en-IN" dirty="0"/>
              <a:t>Only used when type =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</a:t>
            </a:r>
            <a:r>
              <a:rPr lang="en-IN" dirty="0"/>
              <a:t> </a:t>
            </a:r>
          </a:p>
          <a:p>
            <a:r>
              <a:rPr lang="en-IN" dirty="0"/>
              <a:t>So: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Demo&lt;char&gt; d3;</a:t>
            </a:r>
          </a:p>
          <a:p>
            <a:r>
              <a:rPr lang="en-IN" dirty="0"/>
              <a:t>uses:</a:t>
            </a:r>
          </a:p>
          <a:p>
            <a:pPr rtl="0"/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"Specialized for char";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28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2105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Output: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Error: Division by zero error</a:t>
            </a:r>
          </a:p>
          <a:p>
            <a:r>
              <a:rPr lang="en-IN" b="1" dirty="0"/>
              <a:t>How it works (easy understanding)</a:t>
            </a:r>
          </a:p>
          <a:p>
            <a:r>
              <a:rPr lang="en-IN" dirty="0"/>
              <a:t>Code inside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try</a:t>
            </a:r>
            <a:r>
              <a:rPr lang="en-IN" dirty="0"/>
              <a:t> runs normally </a:t>
            </a:r>
          </a:p>
          <a:p>
            <a:r>
              <a:rPr lang="en-IN" dirty="0"/>
              <a:t>If error occurs →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</a:t>
            </a:r>
            <a:r>
              <a:rPr lang="en-IN" dirty="0"/>
              <a:t> is executed </a:t>
            </a:r>
          </a:p>
          <a:p>
            <a:r>
              <a:rPr lang="en-IN" dirty="0"/>
              <a:t>Program jumps to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en-IN" dirty="0"/>
              <a:t> block </a:t>
            </a:r>
          </a:p>
          <a:p>
            <a:r>
              <a:rPr lang="en-IN" dirty="0"/>
              <a:t>Error is handled → program continues</a:t>
            </a:r>
          </a:p>
          <a:p>
            <a:pPr rtl="0"/>
            <a:r>
              <a:rPr lang="en-US" dirty="0"/>
              <a:t>Why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char* msg</a:t>
            </a:r>
            <a:r>
              <a:rPr lang="en-US" dirty="0"/>
              <a:t> is used to catch -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 "Division by zero error";</a:t>
            </a:r>
          </a:p>
          <a:p>
            <a:r>
              <a:rPr lang="en-US" dirty="0"/>
              <a:t>This is a </a:t>
            </a:r>
            <a:r>
              <a:rPr lang="en-US" b="1" dirty="0"/>
              <a:t>string literal</a:t>
            </a:r>
            <a:r>
              <a:rPr lang="en-US" dirty="0"/>
              <a:t>, and in C++ a string literal has type: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const char*</a:t>
            </a:r>
            <a:r>
              <a:rPr lang="en-US" dirty="0"/>
              <a:t> (pointer to constant characters)</a:t>
            </a:r>
          </a:p>
          <a:p>
            <a:r>
              <a:rPr lang="en-US" dirty="0"/>
              <a:t>So your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en-US" dirty="0"/>
              <a:t> must match the same type</a:t>
            </a:r>
          </a:p>
          <a:p>
            <a:endParaRPr lang="en-IN" dirty="0"/>
          </a:p>
          <a:p>
            <a:r>
              <a:rPr lang="en-IN" dirty="0"/>
              <a:t>If you want to use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en-IN" dirty="0"/>
              <a:t>, then you must throw a 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en-IN" dirty="0"/>
              <a:t>:</a:t>
            </a:r>
          </a:p>
          <a:p>
            <a:pPr rtl="0"/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&lt;iostream&gt;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#include &lt;string&gt;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using namespace std;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 main() {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int a = 10, b = 0;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try {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if(b == 0) {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  throw string("Division by zero error");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}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a / b;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catch(string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msg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cout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&lt;&lt; "Error: " &lt;&lt; </a:t>
            </a:r>
            <a:r>
              <a:rPr lang="en-IN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msg</a:t>
            </a: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}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return 0;</a:t>
            </a:r>
            <a:b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I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1777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 0</a:t>
            </a:r>
            <a:r>
              <a:rPr lang="en-US" dirty="0"/>
              <a:t> → handled by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catch(int)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 'A'</a:t>
            </a:r>
            <a:r>
              <a:rPr lang="en-US" dirty="0"/>
              <a:t> → handled by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catch(char)</a:t>
            </a:r>
            <a:r>
              <a:rPr lang="en-US" dirty="0"/>
              <a:t> 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throw 1.5</a:t>
            </a:r>
            <a:r>
              <a:rPr lang="en-US" dirty="0"/>
              <a:t> → handled by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catch(double)</a:t>
            </a:r>
            <a:r>
              <a:rPr lang="en-US" dirty="0"/>
              <a:t> </a:t>
            </a:r>
          </a:p>
          <a:p>
            <a:r>
              <a:rPr lang="en-US" dirty="0"/>
              <a:t>Only </a:t>
            </a:r>
            <a:r>
              <a:rPr lang="en-US" b="1" dirty="0"/>
              <a:t>one matching catch block executes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5457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will happen?</a:t>
            </a:r>
          </a:p>
          <a:p>
            <a:r>
              <a:rPr lang="en-US" dirty="0"/>
              <a:t>No matter what input you give:</a:t>
            </a:r>
          </a:p>
          <a:p>
            <a:r>
              <a:rPr lang="en-US" dirty="0"/>
              <a:t>Output will ALWAYS be: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General Error: Something went wrong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054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934F9-B98B-77C6-7629-CC1D7E5C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CD8E1-F527-CA33-63D3-4ABE49D8A7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B5FC9A-6A60-B6B9-BE5E-9AD63CFC8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F9C41-5153-05FE-B29F-6525F70BE6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155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6D74E-6433-3A1C-7052-9BF3AA39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10D342-A77F-EC5F-D756-4B9153B050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6D8F82-B105-2B3B-4FFB-4301E5558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06FAE-D323-7BA8-E564-3CCC2AA340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7564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E898-C16C-B472-396D-0146B3921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FDCAB1-AD6D-9F63-D01C-FAB2D0D4A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7BA97C-6D3E-A4E1-9C32-613BFB704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6CDDD-C85F-85DE-90C6-B8CFCD100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383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B8797-8505-2392-17B9-5DF5106E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CEBE9-F227-E27D-2D67-E896C5E4F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4214FF-DE75-33C9-79FC-6F96E3567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6889E-E134-8A83-24EC-E3A60380F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925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0B2D2-46D2-EE82-1C1F-6EA1D8D0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F058A-099C-60D2-AAB0-E5C89E3E5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999C25-D8CA-9F8E-7B25-058DD5565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calls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divide(10, 0)</a:t>
            </a:r>
            <a:r>
              <a:rPr lang="en-US" dirty="0"/>
              <a:t> Inside function →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 == 0</a:t>
            </a:r>
            <a:r>
              <a:rPr lang="en-US" dirty="0"/>
              <a:t> → exception thrown Control goes back to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main()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catch</a:t>
            </a:r>
            <a:r>
              <a:rPr lang="en-US" dirty="0"/>
              <a:t> handles the error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331567-1937-189C-D9DF-6DF67BFE64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3490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250D-5496-C2A7-7BB1-2F7EB73F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4CDC0-AF5E-DE23-AF8B-6BD625027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A78440-5229-59F4-A4D2-9A0AE14DFA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98727-04B0-CAA9-8452-F184593840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569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C464-C823-A5B7-A71D-B8852924A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85E603-FCA7-7535-2F50-E8A99D103C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EABDA8-CF06-3BD8-8073-C47E93E47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FCFC5-DABD-C40C-E616-BD09F108E5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041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46B29-7A8C-2AE9-0B3C-5F2A684E2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AEB4A-B7A3-9780-CA3E-6D43CB079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A4BBA-22F7-5AB8-C51C-AB07C1D20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en-US" dirty="0"/>
              <a:t> is the exception object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e.what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gives the </a:t>
            </a:r>
            <a:r>
              <a:rPr lang="en-US" b="1" dirty="0"/>
              <a:t>message stored inside exception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25BED-F816-CF66-B504-194A65F1CB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99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3C9F5-E864-FE31-F50C-CD94C593D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AC1402-8694-631D-55C5-AA59F6C41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1A3C2F-630D-6789-52ED-CB28EED41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Output</a:t>
            </a:r>
          </a:p>
          <a:p>
            <a:pPr rtl="0"/>
            <a:r>
              <a:rPr lang="en-US" dirty="0"/>
              <a:t>Division by zero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</a:t>
            </a:r>
            <a:r>
              <a:rPr lang="en-US" dirty="0"/>
              <a:t> is the exception object </a:t>
            </a:r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e.what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 gives the </a:t>
            </a:r>
            <a:r>
              <a:rPr lang="en-US" b="1" dirty="0"/>
              <a:t>message stored inside exception</a:t>
            </a:r>
            <a:r>
              <a:rPr lang="en-US" dirty="0"/>
              <a:t> 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89508-8DA8-F6FA-CB40-69C134C3B0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7089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1242F-7A25-5B7F-7630-9C03CB3C2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2B7D4-46AB-34E7-BAD7-BCD52E0D58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51C88D-FBF0-E3B2-0F80-75B559436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AD656-DD6A-347A-AFA9-46B5698F5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454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FB09-80A5-019B-71F1-A6BA67CF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FF855F-1792-97C1-3A19-7E88CE8A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EE78D-9A91-DEA5-AAE1-CCFA77F4D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A3B25-0E52-547A-BDE3-84B31575C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0CC94-D8C0-4601-935B-AE18E09953D8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434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8A400-7B1F-B777-1C9E-326291594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F24AD-AEEB-080C-9124-3056DEA2F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29987-5B2C-362E-C05B-B6A260A4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B9634-ABD1-7C3C-37B5-926A39FD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E277E-FFA4-DAC2-5D53-23BBDB6FC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78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9A89-D5A8-4D28-7699-A964E4197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4A134-4290-0CB3-DDB2-6FC083D53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2BDD0-F2B5-3F32-088A-2CDCCD0F9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C1D1FF-32B8-01BF-F3BD-575106335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1337BD-75C0-960D-4C14-F07FC722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560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9E55-7E27-5522-6960-1A78DB1B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95865-1FF4-9337-2837-E3418B99C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8B9DC-C077-A762-4775-EC9346D9F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401AD-3BB5-F860-9805-2FCBAB2BA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B2AEB-5CC4-D9D4-9CA7-5B1C11E7F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758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AEE13-84C9-3DBB-D3D9-204821EB7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4349C-F133-7D42-FC40-BF66AA7B5C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7738DE-F971-9A00-AA61-483ADF304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676898-0374-62DC-36F4-041C9A0F2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FB07E-6FA7-82DD-A172-1A9AFE133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F221B-B392-97F3-DC1C-70A4BA752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268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1DA54-93F7-9731-B230-12F50001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A6E72-55FD-AB62-0FD9-A2DC9D4BB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12F4D-8B61-97CA-D0D9-A1F2CF8AF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21282A-4677-39DB-F388-5F0AA190E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E6E7E-ECEB-D5CF-5509-18BEA920AD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CA6285-761E-A70C-E478-1DA70780B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B43366-4583-D0A5-6F5F-4869E80C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16F482-46A3-F66D-D2A3-9E08D1D58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272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7967-DA88-EB8E-DE55-4AE9BDB55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BDD69-8EF1-27F4-A4AF-7FA1CD42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35D886-AC21-7C84-DD36-216F6D6C8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1E659-9351-1589-D5F2-E16DF868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733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6D569-E927-34B3-DAFB-41F77366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7D0484-A67B-C62C-340D-251E2DFA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530F6-ED73-959D-0EBF-732A5AC4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83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275E-27DD-4BB9-B97D-4D9B6CDA4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3D05B-B054-805B-A92C-2770182F5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F60EF-979E-D0A0-3055-638FE0A67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CA2A9-7FC9-DB41-1E8F-CBA18C5DF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863A6-1853-5807-EDC1-F7B26316B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CB3CF-6998-7809-D69D-DF266B4C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073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4083B-9907-D59A-3D0D-F5E0A680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220EA-CFAC-FFE8-ED69-C661ECA354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FDF89-810D-D9DF-6DE5-C1E9D93F08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67714-DFBF-4140-2C45-2B0D2C84C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A572AE-FE94-F6DA-D35B-AF7F58EE4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11713-BBCB-C17C-7E08-6935C6FE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016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4659-6B9D-C34D-70CB-5DCE2BF44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39F426-9D2C-1EA9-1EDD-6FA7D603E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1620E-6E6F-3DC6-CE7B-9DF7A3797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15E87-48CF-4D09-EEA3-A03D8182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59358-6BED-1AA3-6161-F9937D286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9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EEFDA3-3B2F-9C3E-1F6A-87ABDC383B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125E5B-00DE-7613-85D6-4827518F5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ACE2F-CEDA-5E87-004D-10639C85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AEBC1-0E40-3211-8ACD-002A9CE29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A88D7-1B1E-671D-E212-38D24EDD6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50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873069-6AA3-3AD9-8D6C-F6275F41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12A97-A02D-BE23-44BE-F12EFB03F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C9B5D-CCEE-FAE2-7F1B-12E57D7034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C1B9F-DB97-4061-8DEE-2835827C1BBB}" type="datetimeFigureOut">
              <a:rPr lang="en-IN" smtClean="0"/>
              <a:t>22-04-2026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CA356-9A1E-CE10-7D79-E9B6CB238B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4AB4E-C648-90E5-3A0D-0423084679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1159-2B6F-4166-BFC2-C564C8CF0F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97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43D46-BBE7-38C9-A722-2C9B565B87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Templates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78B82-59E8-5C70-2649-530ED81D9E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566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8F52-5426-D97B-E57A-57627DA89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C97FE-EB81-898B-DD77-16D8B6254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function template</a:t>
            </a:r>
            <a:r>
              <a:rPr lang="en-US" dirty="0"/>
              <a:t> allows you to write one function that works with different data types.</a:t>
            </a:r>
          </a:p>
          <a:p>
            <a:r>
              <a:rPr lang="en-US" dirty="0"/>
              <a:t>Instead of writing:</a:t>
            </a:r>
          </a:p>
          <a:p>
            <a:r>
              <a:rPr lang="en-US" dirty="0"/>
              <a:t>int add(int a, int b) { return a + b; }</a:t>
            </a:r>
            <a:br>
              <a:rPr lang="en-US" dirty="0"/>
            </a:br>
            <a:r>
              <a:rPr lang="en-US" dirty="0"/>
              <a:t>float add(float a, float b) { return a + b; }</a:t>
            </a:r>
          </a:p>
          <a:p>
            <a:r>
              <a:rPr lang="en-US" dirty="0"/>
              <a:t>You write ONE template.</a:t>
            </a:r>
          </a:p>
          <a:p>
            <a:r>
              <a:rPr lang="fr-FR" b="1" dirty="0" err="1"/>
              <a:t>Syntax</a:t>
            </a:r>
            <a:endParaRPr lang="fr-FR" b="1" dirty="0"/>
          </a:p>
          <a:p>
            <a:r>
              <a:rPr lang="fr-FR" dirty="0" err="1"/>
              <a:t>template</a:t>
            </a:r>
            <a:r>
              <a:rPr lang="fr-FR" dirty="0"/>
              <a:t> &lt;</a:t>
            </a:r>
            <a:r>
              <a:rPr lang="fr-FR" dirty="0" err="1"/>
              <a:t>typename</a:t>
            </a:r>
            <a:r>
              <a:rPr lang="fr-FR" dirty="0"/>
              <a:t> T&gt;</a:t>
            </a:r>
            <a:br>
              <a:rPr lang="fr-FR" dirty="0"/>
            </a:br>
            <a:r>
              <a:rPr lang="fr-FR" dirty="0"/>
              <a:t>T </a:t>
            </a:r>
            <a:r>
              <a:rPr lang="fr-FR" dirty="0" err="1"/>
              <a:t>functionName</a:t>
            </a:r>
            <a:r>
              <a:rPr lang="fr-FR" dirty="0"/>
              <a:t>(T a, T b) {</a:t>
            </a:r>
            <a:br>
              <a:rPr lang="fr-FR" dirty="0"/>
            </a:br>
            <a:r>
              <a:rPr lang="fr-FR" dirty="0"/>
              <a:t>    // </a:t>
            </a:r>
            <a:r>
              <a:rPr lang="fr-FR" dirty="0" err="1"/>
              <a:t>logic</a:t>
            </a:r>
            <a:br>
              <a:rPr lang="fr-FR" dirty="0"/>
            </a:br>
            <a:r>
              <a:rPr lang="fr-FR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3203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409F3D-9929-9D65-99B9-A01A52FFF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r>
              <a:rPr lang="en-IN" b="1" dirty="0"/>
              <a:t>Example 1: </a:t>
            </a:r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  <a:br>
              <a:rPr lang="en-IN" dirty="0"/>
            </a:br>
            <a:r>
              <a:rPr lang="en-IN" dirty="0"/>
              <a:t>T add(T a, T b) {</a:t>
            </a:r>
            <a:br>
              <a:rPr lang="en-IN" dirty="0"/>
            </a:br>
            <a:r>
              <a:rPr lang="en-IN" dirty="0"/>
              <a:t>    return a + b;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add(2, 3) &lt;&lt; </a:t>
            </a:r>
            <a:r>
              <a:rPr lang="en-IN" dirty="0" err="1"/>
              <a:t>endl</a:t>
            </a:r>
            <a:r>
              <a:rPr lang="en-IN" dirty="0"/>
              <a:t>;        // int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add(2.5, 3.1) &lt;&lt; </a:t>
            </a:r>
            <a:r>
              <a:rPr lang="en-IN" dirty="0" err="1"/>
              <a:t>endl</a:t>
            </a:r>
            <a:r>
              <a:rPr lang="en-IN" dirty="0"/>
              <a:t>;    // double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2378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6B44D-FF93-FCC6-2BE6-929D6CD6A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26E46-3EDA-DABC-151A-5AE7A34BE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r>
              <a:rPr lang="en-IN" b="1" dirty="0"/>
              <a:t>Example 2: Different Data Types (Multiple Parameters)</a:t>
            </a:r>
          </a:p>
          <a:p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T1, </a:t>
            </a:r>
            <a:r>
              <a:rPr lang="en-IN" dirty="0" err="1"/>
              <a:t>typename</a:t>
            </a:r>
            <a:r>
              <a:rPr lang="en-IN" dirty="0"/>
              <a:t> T2&gt;</a:t>
            </a:r>
            <a:br>
              <a:rPr lang="en-IN" dirty="0"/>
            </a:br>
            <a:r>
              <a:rPr lang="en-IN" dirty="0"/>
              <a:t>void display(T1 a, T2 b)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 &lt;&lt; " " &lt;&lt; b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display(10, 20.5);</a:t>
            </a:r>
            <a:br>
              <a:rPr lang="en-IN" dirty="0"/>
            </a:br>
            <a:r>
              <a:rPr lang="en-IN" dirty="0"/>
              <a:t>    display("Hello", 100);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5596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9E39-6B0E-BE06-2C74-08F57078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C0D6B-6D80-857B-3039-65BD2AF5E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47500" lnSpcReduction="20000"/>
          </a:bodyPr>
          <a:lstStyle/>
          <a:p>
            <a:r>
              <a:rPr lang="en-IN" dirty="0"/>
              <a:t>Example 3: Explicit Type Calling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Function Template</a:t>
            </a:r>
          </a:p>
          <a:p>
            <a:pPr marL="0" indent="0">
              <a:buNone/>
            </a:pPr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</a:p>
          <a:p>
            <a:pPr marL="0" indent="0">
              <a:buNone/>
            </a:pPr>
            <a:r>
              <a:rPr lang="en-IN" dirty="0"/>
              <a:t>T add(T a, T b) {</a:t>
            </a:r>
          </a:p>
          <a:p>
            <a:pPr marL="0" indent="0">
              <a:buNone/>
            </a:pPr>
            <a:r>
              <a:rPr lang="en-IN" dirty="0"/>
              <a:t>    return a + b;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// Explicit type calling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add&lt;int&gt;(5, 10.5) &lt;&lt; </a:t>
            </a:r>
            <a:r>
              <a:rPr lang="en-IN" dirty="0" err="1"/>
              <a:t>endl</a:t>
            </a:r>
            <a:r>
              <a:rPr lang="en-IN" dirty="0"/>
              <a:t>;        // int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add&lt;float&gt;(2.5, 3.5) &lt;&lt; </a:t>
            </a:r>
            <a:r>
              <a:rPr lang="en-IN" dirty="0" err="1"/>
              <a:t>endl</a:t>
            </a:r>
            <a:r>
              <a:rPr lang="en-IN" dirty="0"/>
              <a:t>;   // float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Automatic type deduction (compiler decides)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add(7, 8) &lt;&lt; </a:t>
            </a:r>
            <a:r>
              <a:rPr lang="en-IN" dirty="0" err="1"/>
              <a:t>endl</a:t>
            </a:r>
            <a:r>
              <a:rPr lang="en-IN" dirty="0"/>
              <a:t>;              // int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add(1.2, 3.4) &lt;&lt; </a:t>
            </a:r>
            <a:r>
              <a:rPr lang="en-IN" dirty="0" err="1"/>
              <a:t>endl</a:t>
            </a:r>
            <a:r>
              <a:rPr lang="en-IN" dirty="0"/>
              <a:t>;          // double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16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6265-5338-DBC8-94EA-F1B1D074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F565-56EF-3E47-790A-3111963D6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Example 4: Template with Comparison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Function Template</a:t>
            </a:r>
          </a:p>
          <a:p>
            <a:pPr marL="0" indent="0">
              <a:buNone/>
            </a:pPr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</a:p>
          <a:p>
            <a:pPr marL="0" indent="0">
              <a:buNone/>
            </a:pPr>
            <a:r>
              <a:rPr lang="en-IN" dirty="0"/>
              <a:t>T maximum(T a, T b) {</a:t>
            </a:r>
          </a:p>
          <a:p>
            <a:pPr marL="0" indent="0">
              <a:buNone/>
            </a:pPr>
            <a:r>
              <a:rPr lang="en-IN" dirty="0"/>
              <a:t>    return (a &gt; b) ? a : b;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// Integer comparison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"Max (int): " &lt;&lt; maximum(10, 20)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Floating-point comparison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"Max (float): " &lt;&lt; maximum(5.5, 2.1)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// Character comparison (ASCII based)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"Max (char): " &lt;&lt; maximum('A', 'Z')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924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E51A3-3976-413B-A0CC-FBF07DE92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8CC8-E136-11AE-6AF9-67AC90E3A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Function Overloading vs Templates</a:t>
            </a:r>
          </a:p>
          <a:p>
            <a:r>
              <a:rPr lang="en-IN" dirty="0"/>
              <a:t>int add(int a, int b);</a:t>
            </a:r>
            <a:br>
              <a:rPr lang="en-IN" dirty="0"/>
            </a:br>
            <a:r>
              <a:rPr lang="en-IN" dirty="0"/>
              <a:t>float add(float a, float b);</a:t>
            </a:r>
          </a:p>
          <a:p>
            <a:r>
              <a:rPr lang="en-IN" dirty="0"/>
              <a:t>Redundant code</a:t>
            </a:r>
          </a:p>
          <a:p>
            <a:r>
              <a:rPr lang="en-IN" dirty="0"/>
              <a:t>Template avoids duplication – </a:t>
            </a:r>
          </a:p>
          <a:p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  <a:br>
              <a:rPr lang="en-IN" dirty="0"/>
            </a:br>
            <a:r>
              <a:rPr lang="en-IN" dirty="0"/>
              <a:t>T add(T a, T b) {</a:t>
            </a:r>
            <a:br>
              <a:rPr lang="en-IN" dirty="0"/>
            </a:br>
            <a:r>
              <a:rPr lang="en-IN" dirty="0"/>
              <a:t>    return a + b;</a:t>
            </a:r>
            <a:br>
              <a:rPr lang="en-IN" dirty="0"/>
            </a:br>
            <a:r>
              <a:rPr lang="en-IN" dirty="0"/>
              <a:t>}</a:t>
            </a:r>
          </a:p>
          <a:p>
            <a:r>
              <a:rPr lang="en-IN" dirty="0"/>
              <a:t>Usage:</a:t>
            </a:r>
          </a:p>
          <a:p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add(5, 10) &lt;&lt; </a:t>
            </a:r>
            <a:r>
              <a:rPr lang="en-IN" dirty="0" err="1"/>
              <a:t>endl</a:t>
            </a:r>
            <a:r>
              <a:rPr lang="en-IN" dirty="0"/>
              <a:t>;        // int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add(5.5, 2.3) &lt;&lt; </a:t>
            </a:r>
            <a:r>
              <a:rPr lang="en-IN" dirty="0" err="1"/>
              <a:t>endl</a:t>
            </a:r>
            <a:r>
              <a:rPr lang="en-IN" dirty="0"/>
              <a:t>;     // float/double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317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7C43B-A230-B2C8-03B0-1F8B5B168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D4D89-2297-CA1A-81CB-25CEEE10C4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Template Specialization</a:t>
            </a:r>
          </a:p>
          <a:p>
            <a:r>
              <a:rPr lang="en-US" dirty="0"/>
              <a:t>For one specific data type, change the behavior of a template.</a:t>
            </a:r>
          </a:p>
          <a:p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  <a:br>
              <a:rPr lang="en-IN" dirty="0"/>
            </a:br>
            <a:r>
              <a:rPr lang="en-IN" dirty="0"/>
              <a:t>void print(T a) {</a:t>
            </a:r>
            <a:br>
              <a:rPr lang="en-IN" dirty="0"/>
            </a:br>
            <a:r>
              <a:rPr lang="en-IN" dirty="0" err="1"/>
              <a:t>cout</a:t>
            </a:r>
            <a:r>
              <a:rPr lang="en-IN" dirty="0"/>
              <a:t> &lt;&lt; "Generic: " &lt;&lt; a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// specialization</a:t>
            </a:r>
            <a:br>
              <a:rPr lang="en-IN" dirty="0"/>
            </a:br>
            <a:r>
              <a:rPr lang="en-IN" dirty="0"/>
              <a:t>template &lt;&gt;</a:t>
            </a:r>
            <a:br>
              <a:rPr lang="en-IN" dirty="0"/>
            </a:br>
            <a:r>
              <a:rPr lang="en-IN" dirty="0"/>
              <a:t>void print&lt;char&gt;(char a) {</a:t>
            </a:r>
            <a:br>
              <a:rPr lang="en-IN" dirty="0"/>
            </a:br>
            <a:r>
              <a:rPr lang="en-IN" dirty="0" err="1"/>
              <a:t>cout</a:t>
            </a:r>
            <a:r>
              <a:rPr lang="en-IN" dirty="0"/>
              <a:t> &lt;&lt; "Character: " &lt;&lt; a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print(10);</a:t>
            </a:r>
            <a:br>
              <a:rPr lang="en-IN" dirty="0"/>
            </a:br>
            <a:r>
              <a:rPr lang="en-IN" dirty="0"/>
              <a:t>print('A');</a:t>
            </a:r>
            <a:br>
              <a:rPr lang="en-IN" dirty="0"/>
            </a:b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06211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CC31A-1DD2-82F8-BC71-F900E5F82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Templates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91062-5727-80C1-B039-088EB6E839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class template</a:t>
            </a:r>
            <a:r>
              <a:rPr lang="en-US" dirty="0"/>
              <a:t> allows creating a class that works with any data type.</a:t>
            </a:r>
          </a:p>
          <a:p>
            <a:r>
              <a:rPr lang="en-IN" b="1" dirty="0"/>
              <a:t>Syntax</a:t>
            </a:r>
          </a:p>
          <a:p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  <a:br>
              <a:rPr lang="en-IN" dirty="0"/>
            </a:br>
            <a:r>
              <a:rPr lang="en-IN" dirty="0"/>
              <a:t>class </a:t>
            </a:r>
            <a:r>
              <a:rPr lang="en-IN" dirty="0" err="1"/>
              <a:t>ClassName</a:t>
            </a:r>
            <a:r>
              <a:rPr lang="en-IN" dirty="0"/>
              <a:t> {</a:t>
            </a:r>
            <a:br>
              <a:rPr lang="en-IN" dirty="0"/>
            </a:br>
            <a:r>
              <a:rPr lang="en-IN" dirty="0"/>
              <a:t>    T data;</a:t>
            </a:r>
            <a:br>
              <a:rPr lang="en-IN" dirty="0"/>
            </a:br>
            <a:r>
              <a:rPr lang="en-IN" dirty="0"/>
              <a:t>};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313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7B28-AE91-FCA5-9605-CC827E58D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D4A5-5340-50AA-639C-3C3FEBB18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Example 1: Basic Class Template</a:t>
            </a:r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  <a:br>
              <a:rPr lang="en-IN" dirty="0"/>
            </a:br>
            <a:r>
              <a:rPr lang="en-IN" dirty="0"/>
              <a:t>class Box {</a:t>
            </a:r>
            <a:br>
              <a:rPr lang="en-IN" dirty="0"/>
            </a:br>
            <a:r>
              <a:rPr lang="en-IN" dirty="0"/>
              <a:t>    T value;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Box(T v) {</a:t>
            </a:r>
            <a:br>
              <a:rPr lang="en-IN" dirty="0"/>
            </a:br>
            <a:r>
              <a:rPr lang="en-IN" dirty="0"/>
              <a:t>        value = v;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void show()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value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Box&lt;int&gt; b1(10);</a:t>
            </a:r>
            <a:br>
              <a:rPr lang="en-IN" dirty="0"/>
            </a:br>
            <a:r>
              <a:rPr lang="en-IN" dirty="0"/>
              <a:t>    Box&lt;float&gt; b2(5.5);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b1.show();</a:t>
            </a:r>
            <a:br>
              <a:rPr lang="en-IN" dirty="0"/>
            </a:br>
            <a:r>
              <a:rPr lang="en-IN" dirty="0"/>
              <a:t>    b2.show();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70044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8B05A-0445-D623-A68A-58B5E2A08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C403F-A386-B85A-3985-7DA5FAD37C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Example 2: Multiple Template Parameters</a:t>
            </a:r>
          </a:p>
          <a:p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T1, </a:t>
            </a:r>
            <a:r>
              <a:rPr lang="en-IN" dirty="0" err="1"/>
              <a:t>typename</a:t>
            </a:r>
            <a:r>
              <a:rPr lang="en-IN" dirty="0"/>
              <a:t> T2&gt;</a:t>
            </a:r>
            <a:br>
              <a:rPr lang="en-IN" dirty="0"/>
            </a:br>
            <a:r>
              <a:rPr lang="en-IN" dirty="0"/>
              <a:t>class Pair {</a:t>
            </a:r>
            <a:br>
              <a:rPr lang="en-IN" dirty="0"/>
            </a:br>
            <a:r>
              <a:rPr lang="en-IN" dirty="0"/>
              <a:t>    T1 a;</a:t>
            </a:r>
            <a:br>
              <a:rPr lang="en-IN" dirty="0"/>
            </a:br>
            <a:r>
              <a:rPr lang="en-IN" dirty="0"/>
              <a:t>    T2 b;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Pair(T1 x, T2 y) {</a:t>
            </a:r>
            <a:br>
              <a:rPr lang="en-IN" dirty="0"/>
            </a:br>
            <a:r>
              <a:rPr lang="en-IN" dirty="0"/>
              <a:t>        a = x;</a:t>
            </a:r>
            <a:br>
              <a:rPr lang="en-IN" dirty="0"/>
            </a:br>
            <a:r>
              <a:rPr lang="en-IN" dirty="0"/>
              <a:t>        b = y;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void display()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a &lt;&lt; " " &lt;&lt; b &lt;&lt; </a:t>
            </a:r>
            <a:r>
              <a:rPr lang="en-IN" dirty="0" err="1"/>
              <a:t>endl</a:t>
            </a:r>
            <a:r>
              <a:rPr lang="en-IN" dirty="0"/>
              <a:t>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Pair&lt;int, float&gt; p(10, 2.5);</a:t>
            </a:r>
            <a:br>
              <a:rPr lang="en-IN" dirty="0"/>
            </a:br>
            <a:r>
              <a:rPr lang="en-IN" dirty="0"/>
              <a:t>    </a:t>
            </a:r>
            <a:r>
              <a:rPr lang="en-IN" dirty="0" err="1"/>
              <a:t>p.display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470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69739-C7FE-49B4-9B18-BEBF68EF9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15CE1-B880-047A-5971-E7D2CBADE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r>
              <a:rPr lang="en-US" b="1" dirty="0"/>
              <a:t>Example 3: Class Template with Function</a:t>
            </a:r>
          </a:p>
          <a:p>
            <a:r>
              <a:rPr lang="en-US" dirty="0"/>
              <a:t>template &lt;</a:t>
            </a:r>
            <a:r>
              <a:rPr lang="en-US" dirty="0" err="1"/>
              <a:t>typename</a:t>
            </a:r>
            <a:r>
              <a:rPr lang="en-US" dirty="0"/>
              <a:t> T&gt;</a:t>
            </a:r>
            <a:br>
              <a:rPr lang="en-US" dirty="0"/>
            </a:br>
            <a:r>
              <a:rPr lang="en-US" dirty="0"/>
              <a:t>class Calculator {</a:t>
            </a:r>
            <a:br>
              <a:rPr lang="en-US" dirty="0"/>
            </a:br>
            <a:r>
              <a:rPr lang="en-US" dirty="0"/>
              <a:t>public:</a:t>
            </a:r>
            <a:br>
              <a:rPr lang="en-US" dirty="0"/>
            </a:br>
            <a:r>
              <a:rPr lang="en-US" dirty="0"/>
              <a:t>    T add(T a, T b) {</a:t>
            </a:r>
            <a:br>
              <a:rPr lang="en-US" dirty="0"/>
            </a:br>
            <a:r>
              <a:rPr lang="en-US" dirty="0"/>
              <a:t>        return a + b;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r>
              <a:rPr lang="en-US" dirty="0"/>
              <a:t>};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main() {</a:t>
            </a:r>
            <a:br>
              <a:rPr lang="en-US" dirty="0"/>
            </a:br>
            <a:r>
              <a:rPr lang="en-US" dirty="0"/>
              <a:t>    Calculator&lt;int&gt; c1;</a:t>
            </a:r>
            <a:br>
              <a:rPr lang="en-US" dirty="0"/>
            </a:b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c1.add(2, 3);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1207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1984E-8D14-5C2F-7961-4120F6C5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902FF-72C0-57DD-1417-E714E1911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r>
              <a:rPr lang="en-IN" b="1" dirty="0"/>
              <a:t>Example 4: Default Template Argument</a:t>
            </a:r>
          </a:p>
          <a:p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 = int&gt;</a:t>
            </a:r>
            <a:br>
              <a:rPr lang="en-IN" dirty="0"/>
            </a:br>
            <a:r>
              <a:rPr lang="en-IN" dirty="0"/>
              <a:t>class Test {</a:t>
            </a:r>
            <a:br>
              <a:rPr lang="en-IN" dirty="0"/>
            </a:br>
            <a:r>
              <a:rPr lang="en-IN" dirty="0"/>
              <a:t>    T data;</a:t>
            </a:r>
            <a:br>
              <a:rPr lang="en-IN" dirty="0"/>
            </a:br>
            <a:r>
              <a:rPr lang="en-IN" dirty="0"/>
              <a:t>public:</a:t>
            </a:r>
            <a:br>
              <a:rPr lang="en-IN" dirty="0"/>
            </a:br>
            <a:r>
              <a:rPr lang="en-IN" dirty="0"/>
              <a:t>    Test(T d) { data = d; }</a:t>
            </a:r>
            <a:br>
              <a:rPr lang="en-IN" dirty="0"/>
            </a:br>
            <a:r>
              <a:rPr lang="en-IN" dirty="0"/>
              <a:t>    void show() { </a:t>
            </a:r>
            <a:r>
              <a:rPr lang="en-IN" dirty="0" err="1"/>
              <a:t>cout</a:t>
            </a:r>
            <a:r>
              <a:rPr lang="en-IN" dirty="0"/>
              <a:t> &lt;&lt; data; }</a:t>
            </a:r>
            <a:br>
              <a:rPr lang="en-IN" dirty="0"/>
            </a:br>
            <a:r>
              <a:rPr lang="en-IN" dirty="0"/>
              <a:t>};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Test&lt;&gt; t1(10);      // int by default</a:t>
            </a:r>
            <a:br>
              <a:rPr lang="en-IN" dirty="0"/>
            </a:br>
            <a:r>
              <a:rPr lang="en-IN" dirty="0"/>
              <a:t>    Test&lt;float&gt; t2(5.5);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2367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BE0E9-C146-E94D-9117-A40E4F11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C68F75-74F5-2649-854F-F2E8182155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75138"/>
            <a:ext cx="5181600" cy="5801825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Template Specialization (Class)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Generic Template</a:t>
            </a:r>
          </a:p>
          <a:p>
            <a:pPr marL="0" indent="0">
              <a:buNone/>
            </a:pPr>
            <a:r>
              <a:rPr lang="en-IN" dirty="0"/>
              <a:t>template &lt;</a:t>
            </a:r>
            <a:r>
              <a:rPr lang="en-IN" dirty="0" err="1"/>
              <a:t>typename</a:t>
            </a:r>
            <a:r>
              <a:rPr lang="en-IN" dirty="0"/>
              <a:t> T&gt;</a:t>
            </a:r>
          </a:p>
          <a:p>
            <a:pPr marL="0" indent="0">
              <a:buNone/>
            </a:pPr>
            <a:r>
              <a:rPr lang="en-IN" dirty="0"/>
              <a:t>class Demo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"Generic class"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908ABC-02A1-996D-F526-848DB0709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75138"/>
            <a:ext cx="5181600" cy="580182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// Specialized Template for char</a:t>
            </a:r>
          </a:p>
          <a:p>
            <a:pPr marL="0" indent="0">
              <a:buNone/>
            </a:pPr>
            <a:r>
              <a:rPr lang="en-IN" dirty="0"/>
              <a:t>template &lt;&gt;</a:t>
            </a:r>
          </a:p>
          <a:p>
            <a:pPr marL="0" indent="0">
              <a:buNone/>
            </a:pPr>
            <a:r>
              <a:rPr lang="en-IN" dirty="0"/>
              <a:t>class Demo&lt;char&gt; {</a:t>
            </a:r>
          </a:p>
          <a:p>
            <a:pPr marL="0" indent="0">
              <a:buNone/>
            </a:pPr>
            <a:r>
              <a:rPr lang="en-IN" dirty="0"/>
              <a:t>public:</a:t>
            </a:r>
          </a:p>
          <a:p>
            <a:pPr marL="0" indent="0">
              <a:buNone/>
            </a:pPr>
            <a:r>
              <a:rPr lang="en-IN" dirty="0"/>
              <a:t>    void show()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"Specialized for char"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Demo&lt;int&gt; d1;</a:t>
            </a:r>
          </a:p>
          <a:p>
            <a:pPr marL="0" indent="0">
              <a:buNone/>
            </a:pPr>
            <a:r>
              <a:rPr lang="en-IN" dirty="0"/>
              <a:t>    Demo&lt;float&gt; d2;</a:t>
            </a:r>
          </a:p>
          <a:p>
            <a:pPr marL="0" indent="0">
              <a:buNone/>
            </a:pPr>
            <a:r>
              <a:rPr lang="en-IN" dirty="0"/>
              <a:t>    Demo&lt;char&gt; d3;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d1.show();</a:t>
            </a:r>
          </a:p>
          <a:p>
            <a:pPr marL="0" indent="0">
              <a:buNone/>
            </a:pPr>
            <a:r>
              <a:rPr lang="en-IN" dirty="0"/>
              <a:t>    d2.show();</a:t>
            </a:r>
          </a:p>
          <a:p>
            <a:pPr marL="0" indent="0">
              <a:buNone/>
            </a:pPr>
            <a:r>
              <a:rPr lang="en-IN" dirty="0"/>
              <a:t>    d3.show();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8782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9BBCC-D2C2-FC79-D6DF-47C692C77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8ACB7-11E2-087C-C599-C3F48B157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r>
              <a:rPr lang="en-IN" b="1" dirty="0"/>
              <a:t>Advantages of Templates</a:t>
            </a:r>
          </a:p>
          <a:p>
            <a:r>
              <a:rPr lang="en-IN" b="1" dirty="0"/>
              <a:t>1. Code Reusability</a:t>
            </a:r>
          </a:p>
          <a:p>
            <a:r>
              <a:rPr lang="en-IN" dirty="0"/>
              <a:t>Write once, use for any data type.</a:t>
            </a:r>
          </a:p>
          <a:p>
            <a:r>
              <a:rPr lang="en-IN" b="1" dirty="0"/>
              <a:t>2. Type Safety</a:t>
            </a:r>
          </a:p>
          <a:p>
            <a:r>
              <a:rPr lang="en-IN" dirty="0"/>
              <a:t>Compiler checks type at compile time.</a:t>
            </a:r>
          </a:p>
          <a:p>
            <a:r>
              <a:rPr lang="en-IN" b="1" dirty="0"/>
              <a:t>3. No Code Duplication</a:t>
            </a:r>
          </a:p>
          <a:p>
            <a:r>
              <a:rPr lang="en-IN" dirty="0"/>
              <a:t>Reduces multiple overloaded functions.</a:t>
            </a:r>
          </a:p>
          <a:p>
            <a:r>
              <a:rPr lang="en-IN" b="1" dirty="0"/>
              <a:t>4. Performance Efficient</a:t>
            </a:r>
          </a:p>
          <a:p>
            <a:r>
              <a:rPr lang="en-IN" dirty="0"/>
              <a:t>No runtime overhead (resolved at compile time).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8492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8319-CDA5-C9FB-6919-78ED9F9F6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4FE3C-9D04-D552-706E-EAF16889F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r>
              <a:rPr lang="en-IN" b="1" dirty="0"/>
              <a:t>4. Disadvantages of Templates</a:t>
            </a:r>
          </a:p>
          <a:p>
            <a:r>
              <a:rPr lang="en-IN" b="1" dirty="0"/>
              <a:t>1. Compilation Time Increases</a:t>
            </a:r>
          </a:p>
          <a:p>
            <a:r>
              <a:rPr lang="en-IN" dirty="0"/>
              <a:t>More templates → longer compile time.</a:t>
            </a:r>
          </a:p>
          <a:p>
            <a:r>
              <a:rPr lang="en-IN" b="1" dirty="0"/>
              <a:t>2. Complex Error Messages</a:t>
            </a:r>
          </a:p>
          <a:p>
            <a:r>
              <a:rPr lang="en-IN" dirty="0"/>
              <a:t>Template errors are hard to understand.</a:t>
            </a:r>
          </a:p>
          <a:p>
            <a:r>
              <a:rPr lang="en-IN" b="1" dirty="0"/>
              <a:t>3. Code Bloat</a:t>
            </a:r>
          </a:p>
          <a:p>
            <a:r>
              <a:rPr lang="en-IN" dirty="0"/>
              <a:t>Compiler generates separate code for each type.</a:t>
            </a:r>
          </a:p>
          <a:p>
            <a:r>
              <a:rPr lang="en-IN" b="1"/>
              <a:t>4</a:t>
            </a:r>
            <a:r>
              <a:rPr lang="en-IN" b="1" dirty="0"/>
              <a:t>. Debugging Difficulty</a:t>
            </a:r>
          </a:p>
          <a:p>
            <a:r>
              <a:rPr lang="en-IN" dirty="0"/>
              <a:t>Harder than normal functions/classes.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752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3DD03-3BE5-2E42-CB39-EA7118EA6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323B8-66A5-6881-46B6-AC32948DD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Exception handling in C++ is used to </a:t>
            </a:r>
            <a:r>
              <a:rPr lang="en-US" b="1" dirty="0"/>
              <a:t>handle runtime errors</a:t>
            </a:r>
            <a:r>
              <a:rPr lang="en-US" dirty="0"/>
              <a:t> (errors that occur during program execution) so that the program does not crash suddenly.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What is Exception Handling?</a:t>
            </a:r>
          </a:p>
          <a:p>
            <a:r>
              <a:rPr lang="en-US" dirty="0"/>
              <a:t>It is a mechanism to detect and handle errors using </a:t>
            </a:r>
            <a:r>
              <a:rPr lang="en-US" b="1" dirty="0"/>
              <a:t>3 keywords</a:t>
            </a:r>
            <a:r>
              <a:rPr lang="en-US" dirty="0"/>
              <a:t>:</a:t>
            </a:r>
          </a:p>
          <a:p>
            <a:r>
              <a:rPr lang="en-US" dirty="0"/>
              <a:t>try → block where code may cause error </a:t>
            </a:r>
          </a:p>
          <a:p>
            <a:r>
              <a:rPr lang="en-US" dirty="0"/>
              <a:t>throw → used to throw an error </a:t>
            </a:r>
          </a:p>
          <a:p>
            <a:r>
              <a:rPr lang="en-US" dirty="0"/>
              <a:t>catch → handles the error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0072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076D2-F647-A3B0-7CE1-2D7501879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DCD5D-5F5A-6426-94DE-2825EC53D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/>
          <a:lstStyle/>
          <a:p>
            <a:r>
              <a:rPr lang="en-IN" b="1" dirty="0"/>
              <a:t>Basic Syntax</a:t>
            </a:r>
          </a:p>
          <a:p>
            <a:r>
              <a:rPr lang="en-IN" dirty="0"/>
              <a:t>try {</a:t>
            </a:r>
            <a:br>
              <a:rPr lang="en-IN" dirty="0"/>
            </a:br>
            <a:r>
              <a:rPr lang="en-IN" dirty="0"/>
              <a:t>    // code that may cause error</a:t>
            </a:r>
            <a:br>
              <a:rPr lang="en-IN" dirty="0"/>
            </a:br>
            <a:r>
              <a:rPr lang="en-IN" dirty="0"/>
              <a:t>}</a:t>
            </a:r>
            <a:br>
              <a:rPr lang="en-IN" dirty="0"/>
            </a:br>
            <a:r>
              <a:rPr lang="en-IN" dirty="0"/>
              <a:t>catch(type variable) {</a:t>
            </a:r>
            <a:br>
              <a:rPr lang="en-IN" dirty="0"/>
            </a:br>
            <a:r>
              <a:rPr lang="en-IN" dirty="0"/>
              <a:t>    // code to handle error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490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1B49C-B97B-C6B7-4F06-B9F37CA7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E003A-04B2-7E3C-4AF2-C8156BCAF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Example 1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a = 10, b = 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r>
              <a:rPr lang="en-IN" dirty="0"/>
              <a:t>        if(b == 0) {</a:t>
            </a:r>
          </a:p>
          <a:p>
            <a:pPr marL="0" indent="0">
              <a:buNone/>
            </a:pPr>
            <a:r>
              <a:rPr lang="en-IN" dirty="0"/>
              <a:t>            throw "Division by zero error";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a / b;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catch(</a:t>
            </a:r>
            <a:r>
              <a:rPr lang="en-IN" dirty="0" err="1"/>
              <a:t>const</a:t>
            </a:r>
            <a:r>
              <a:rPr lang="en-IN" dirty="0"/>
              <a:t> char* </a:t>
            </a:r>
            <a:r>
              <a:rPr lang="en-IN" dirty="0" err="1"/>
              <a:t>msg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"Error: " &lt;&lt; </a:t>
            </a:r>
            <a:r>
              <a:rPr lang="en-IN" dirty="0" err="1"/>
              <a:t>msg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9120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7680B-B92C-EAE0-8808-05A368931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1266-9442-8B87-66C6-B6847F37A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45477"/>
            <a:ext cx="5181600" cy="573148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Example 2 - Multiple Catch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x;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"Enter a number: ";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cin</a:t>
            </a:r>
            <a:r>
              <a:rPr lang="en-IN" dirty="0"/>
              <a:t> &gt;&gt; x;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r>
              <a:rPr lang="en-IN" dirty="0"/>
              <a:t>        if (x == 0)</a:t>
            </a:r>
          </a:p>
          <a:p>
            <a:pPr marL="0" indent="0">
              <a:buNone/>
            </a:pPr>
            <a:r>
              <a:rPr lang="en-IN" dirty="0"/>
              <a:t>            throw 0;                 // int type</a:t>
            </a:r>
          </a:p>
          <a:p>
            <a:pPr marL="0" indent="0">
              <a:buNone/>
            </a:pPr>
            <a:r>
              <a:rPr lang="en-IN" dirty="0"/>
              <a:t>        else if (x == 1)</a:t>
            </a:r>
          </a:p>
          <a:p>
            <a:pPr marL="0" indent="0">
              <a:buNone/>
            </a:pPr>
            <a:r>
              <a:rPr lang="en-IN" dirty="0"/>
              <a:t>            throw 'A';               // char type</a:t>
            </a:r>
          </a:p>
          <a:p>
            <a:pPr marL="0" indent="0">
              <a:buNone/>
            </a:pPr>
            <a:r>
              <a:rPr lang="en-IN" dirty="0"/>
              <a:t>        else</a:t>
            </a:r>
          </a:p>
          <a:p>
            <a:pPr marL="0" indent="0">
              <a:buNone/>
            </a:pPr>
            <a:r>
              <a:rPr lang="en-IN" dirty="0"/>
              <a:t>      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A6B59E-6864-3687-52BC-CEAB25BCDD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45477"/>
            <a:ext cx="5181600" cy="57314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 throw 1.5;               // double type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(int </a:t>
            </a:r>
            <a:r>
              <a:rPr lang="en-IN" dirty="0" err="1"/>
              <a:t>i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"Caught integer exception: " &lt;&lt;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catch (char c)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"Caught char exception: " &lt;&lt; c;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  catch (double d)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"Caught double exception: " &lt;&lt; d;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0070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72EFB-61BF-E861-1409-E1117CBC6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36EE2-56D3-35B6-D522-35BE31E8F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56492"/>
            <a:ext cx="5181600" cy="5520471"/>
          </a:xfrm>
        </p:spPr>
        <p:txBody>
          <a:bodyPr>
            <a:normAutofit fontScale="40000" lnSpcReduction="20000"/>
          </a:bodyPr>
          <a:lstStyle/>
          <a:p>
            <a:r>
              <a:rPr lang="en-IN" dirty="0"/>
              <a:t>Example 3 - </a:t>
            </a:r>
            <a:r>
              <a:rPr lang="en-US" dirty="0"/>
              <a:t>catch(...) is called a </a:t>
            </a:r>
            <a:r>
              <a:rPr lang="en-US" b="1" dirty="0"/>
              <a:t>catch-all handler</a:t>
            </a:r>
            <a:endParaRPr lang="en-US" dirty="0"/>
          </a:p>
          <a:p>
            <a:r>
              <a:rPr lang="en-US" dirty="0"/>
              <a:t>It catches </a:t>
            </a:r>
            <a:r>
              <a:rPr lang="en-US" b="1" dirty="0"/>
              <a:t>any type of exception</a:t>
            </a:r>
            <a:br>
              <a:rPr lang="en-US" dirty="0"/>
            </a:br>
            <a:r>
              <a:rPr lang="en-US" dirty="0"/>
              <a:t>Used when you don’t know the exact type</a:t>
            </a:r>
            <a:br>
              <a:rPr lang="en-US" dirty="0"/>
            </a:br>
            <a:r>
              <a:rPr lang="en-US" dirty="0"/>
              <a:t>Acts as a </a:t>
            </a:r>
            <a:r>
              <a:rPr lang="en-US" b="1" dirty="0"/>
              <a:t>default handler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int balance = 5000;</a:t>
            </a:r>
          </a:p>
          <a:p>
            <a:pPr marL="0" indent="0">
              <a:buNone/>
            </a:pPr>
            <a:r>
              <a:rPr lang="en-US" dirty="0"/>
              <a:t>    int withdraw;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cout</a:t>
            </a:r>
            <a:r>
              <a:rPr lang="en-US" dirty="0"/>
              <a:t> &lt;&lt; "Enter amount to withdraw: ";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cin</a:t>
            </a:r>
            <a:r>
              <a:rPr lang="en-US" dirty="0"/>
              <a:t> &gt;&gt; withdraw;</a:t>
            </a:r>
            <a:endParaRPr lang="en-IN" dirty="0"/>
          </a:p>
          <a:p>
            <a:pPr marL="0" indent="0">
              <a:buNone/>
            </a:pPr>
            <a:r>
              <a:rPr lang="en-US" dirty="0"/>
              <a:t> try {</a:t>
            </a:r>
          </a:p>
          <a:p>
            <a:pPr marL="0" indent="0">
              <a:buNone/>
            </a:pPr>
            <a:r>
              <a:rPr lang="en-US" dirty="0"/>
              <a:t>        if (withdraw &lt;= 0)</a:t>
            </a:r>
          </a:p>
          <a:p>
            <a:pPr marL="0" indent="0">
              <a:buNone/>
            </a:pPr>
            <a:r>
              <a:rPr lang="en-US" dirty="0"/>
              <a:t>            throw 'A';   // invalid input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(withdraw &gt; balance)</a:t>
            </a:r>
          </a:p>
          <a:p>
            <a:pPr marL="0" indent="0">
              <a:buNone/>
            </a:pPr>
            <a:r>
              <a:rPr lang="en-US" dirty="0"/>
              <a:t>            throw 1;     // insufficient balance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F6B01-A5FA-0C7E-65AB-2495BF4445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656492"/>
            <a:ext cx="5181600" cy="5520471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(withdraw % 100 != 0)</a:t>
            </a:r>
          </a:p>
          <a:p>
            <a:pPr marL="0" indent="0">
              <a:buNone/>
            </a:pPr>
            <a:r>
              <a:rPr lang="en-US" dirty="0"/>
              <a:t>            throw 3.14;  // invalid denomination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"Withdrawal successful!";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catch (int x)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"Error: Insufficient balance";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catch (char c)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"Error: Invalid amount entered";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catch (...)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"Error: Something unexpected happened (invalid denomination etc.)";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903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1D84C-16E8-C2A4-2660-6751C21E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777C09-008C-675E-43F3-5E373B64A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catch(...) should be at the end because it matches </a:t>
            </a:r>
            <a:r>
              <a:rPr lang="en-US" b="1" dirty="0"/>
              <a:t>all exception types</a:t>
            </a:r>
            <a:r>
              <a:rPr lang="en-US" dirty="0"/>
              <a:t>, so if placed first it will catch everything immediately.</a:t>
            </a:r>
            <a:br>
              <a:rPr lang="en-US" dirty="0"/>
            </a:br>
            <a:r>
              <a:rPr lang="en-US" dirty="0"/>
              <a:t>This prevents later specific catch blocks (like int, char) from ever executing.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balance = 5000;</a:t>
            </a:r>
          </a:p>
          <a:p>
            <a:pPr marL="0" indent="0">
              <a:buNone/>
            </a:pPr>
            <a:r>
              <a:rPr lang="en-IN" dirty="0"/>
              <a:t>    int withdraw;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"Enter amount to withdraw: ";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cin</a:t>
            </a:r>
            <a:r>
              <a:rPr lang="en-IN" dirty="0"/>
              <a:t> &gt;&gt; withdraw;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r>
              <a:rPr lang="en-IN" dirty="0"/>
              <a:t>        if (withdraw &lt;= 0)</a:t>
            </a:r>
          </a:p>
          <a:p>
            <a:pPr marL="0" indent="0">
              <a:buNone/>
            </a:pPr>
            <a:r>
              <a:rPr lang="en-IN" dirty="0"/>
              <a:t>            throw 'A';        // invalid amount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30878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17D27-F2B0-E8F8-1EB3-E1818CAE2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3A926-8ECB-6ED1-C2E9-2D6B7894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 if (withdraw &gt; balance)</a:t>
            </a:r>
          </a:p>
          <a:p>
            <a:pPr marL="0" indent="0">
              <a:buNone/>
            </a:pPr>
            <a:r>
              <a:rPr lang="en-IN" dirty="0"/>
              <a:t>            throw 1;          // insufficient balance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if (withdraw % 100 != 0)</a:t>
            </a:r>
          </a:p>
          <a:p>
            <a:pPr marL="0" indent="0">
              <a:buNone/>
            </a:pPr>
            <a:r>
              <a:rPr lang="en-IN" dirty="0"/>
              <a:t>            throw 3.14;       // invalid denomination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"Withdrawal successful!";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(...)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"General Error: Something went wrong";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(int x)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"Error: Insufficient balance";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(char c)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"Error: Invalid amount";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60684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F4A5F-4EFC-277D-DD08-521915EB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E5371-F6B7-1E11-5FC2-9B86989C08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/>
          </a:bodyPr>
          <a:lstStyle/>
          <a:p>
            <a:r>
              <a:rPr lang="en-IN" b="1" dirty="0"/>
              <a:t>Nested Try-Catch – </a:t>
            </a:r>
          </a:p>
          <a:p>
            <a:r>
              <a:rPr lang="en-US" dirty="0"/>
              <a:t>Nested try-catch means: A try-catch block inside another try or catch block</a:t>
            </a:r>
          </a:p>
          <a:p>
            <a:r>
              <a:rPr lang="en-US" dirty="0"/>
              <a:t> Used when you want separate handling at different levels</a:t>
            </a:r>
          </a:p>
          <a:p>
            <a:r>
              <a:rPr lang="en-US" dirty="0"/>
              <a:t> Inner block handles specific errors, outer handles remaining</a:t>
            </a:r>
          </a:p>
        </p:txBody>
      </p:sp>
    </p:spTree>
    <p:extLst>
      <p:ext uri="{BB962C8B-B14F-4D97-AF65-F5344CB8AC3E}">
        <p14:creationId xmlns:p14="http://schemas.microsoft.com/office/powerpoint/2010/main" val="246544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A169E-8BB4-83E9-591A-754DDF76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0F1C1-9CF1-0098-3EB5-A0AD3A4D7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"Outer try block\n";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try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"Inner try block\n";</a:t>
            </a:r>
          </a:p>
          <a:p>
            <a:pPr marL="0" indent="0">
              <a:buNone/>
            </a:pPr>
            <a:r>
              <a:rPr lang="en-IN" dirty="0"/>
              <a:t>            throw 10;   // exception occurs here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catch (int x)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"Inner catch: " &lt;&lt; x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        throw;  // rethrow to outer block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(int x)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"Outer catch: " &lt;&lt; x &lt;&lt; </a:t>
            </a:r>
            <a:r>
              <a:rPr lang="en-IN" dirty="0" err="1"/>
              <a:t>endl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88342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81A79-1198-92D5-37C9-90ED168B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47351-9204-1246-229C-0ED5C9ACB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492369"/>
            <a:ext cx="5181600" cy="568459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Example 2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int </a:t>
            </a:r>
            <a:r>
              <a:rPr lang="en-IN" dirty="0" err="1"/>
              <a:t>correctPin</a:t>
            </a:r>
            <a:r>
              <a:rPr lang="en-IN" dirty="0"/>
              <a:t> = 1234;</a:t>
            </a:r>
          </a:p>
          <a:p>
            <a:pPr marL="0" indent="0">
              <a:buNone/>
            </a:pPr>
            <a:r>
              <a:rPr lang="en-IN" dirty="0"/>
              <a:t>    int pin, withdraw;</a:t>
            </a:r>
          </a:p>
          <a:p>
            <a:pPr marL="0" indent="0">
              <a:buNone/>
            </a:pPr>
            <a:r>
              <a:rPr lang="en-IN" dirty="0"/>
              <a:t>    int balance = 5000;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"Enter PIN: 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cin</a:t>
            </a:r>
            <a:r>
              <a:rPr lang="en-IN" dirty="0"/>
              <a:t> &gt;&gt; pin;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 Outer try → handles login</a:t>
            </a:r>
          </a:p>
          <a:p>
            <a:pPr marL="0" indent="0">
              <a:buNone/>
            </a:pPr>
            <a:r>
              <a:rPr lang="en-IN" dirty="0"/>
              <a:t>        if (pin != </a:t>
            </a:r>
            <a:r>
              <a:rPr lang="en-IN" dirty="0" err="1"/>
              <a:t>correctPin</a:t>
            </a:r>
            <a:r>
              <a:rPr lang="en-IN" dirty="0"/>
              <a:t>)</a:t>
            </a:r>
          </a:p>
          <a:p>
            <a:pPr marL="0" indent="0">
              <a:buNone/>
            </a:pPr>
            <a:r>
              <a:rPr lang="en-IN" dirty="0"/>
              <a:t>            throw "Invalid PIN";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"Login successful\n";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try {</a:t>
            </a:r>
          </a:p>
          <a:p>
            <a:pPr marL="0" indent="0">
              <a:buNone/>
            </a:pPr>
            <a:r>
              <a:rPr lang="en-IN" dirty="0"/>
              <a:t>            //  Inner try → handles withdrawal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"Enter amount to withdraw: ";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cin</a:t>
            </a:r>
            <a:r>
              <a:rPr lang="en-IN" dirty="0"/>
              <a:t> &gt;&gt; withdraw;</a:t>
            </a:r>
          </a:p>
          <a:p>
            <a:pPr marL="0" indent="0">
              <a:buNone/>
            </a:pPr>
            <a:r>
              <a:rPr lang="en-IN" dirty="0"/>
              <a:t> if (withdraw &lt;= 0)</a:t>
            </a:r>
          </a:p>
          <a:p>
            <a:pPr marL="0" indent="0">
              <a:buNone/>
            </a:pPr>
            <a:r>
              <a:rPr lang="en-IN" dirty="0"/>
              <a:t>                throw 'A';        // invalid amount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34B65-BA83-7201-926F-61A5CFB12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492369"/>
            <a:ext cx="5181600" cy="5684594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if (withdraw &gt; balance)</a:t>
            </a:r>
          </a:p>
          <a:p>
            <a:pPr marL="0" indent="0">
              <a:buNone/>
            </a:pPr>
            <a:r>
              <a:rPr lang="en-IN" dirty="0"/>
              <a:t>                throw 1;          // insufficient balance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"Withdrawal successful!";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catch (int x)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"Error: Insufficient balance";</a:t>
            </a:r>
          </a:p>
          <a:p>
            <a:pPr marL="0" indent="0">
              <a:buNone/>
            </a:pPr>
            <a:r>
              <a:rPr lang="en-IN" dirty="0"/>
              <a:t>            throw;   // rethrow to outer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catch (char c) {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cout</a:t>
            </a:r>
            <a:r>
              <a:rPr lang="en-IN" dirty="0"/>
              <a:t> &lt;&lt; "Error: Invalid amount";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</a:t>
            </a:r>
            <a:r>
              <a:rPr lang="en-IN" dirty="0" err="1"/>
              <a:t>const</a:t>
            </a:r>
            <a:r>
              <a:rPr lang="en-IN" dirty="0"/>
              <a:t> char* </a:t>
            </a:r>
            <a:r>
              <a:rPr lang="en-IN" dirty="0" err="1"/>
              <a:t>msg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"Login Error: " &lt;&lt; </a:t>
            </a:r>
            <a:r>
              <a:rPr lang="en-IN" dirty="0" err="1"/>
              <a:t>msg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(...)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"\</a:t>
            </a:r>
            <a:r>
              <a:rPr lang="en-IN" dirty="0" err="1"/>
              <a:t>nOuter</a:t>
            </a:r>
            <a:r>
              <a:rPr lang="en-IN" dirty="0"/>
              <a:t> catch: Transaction failed";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92537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CA256-D05A-377F-CBF3-D968B3456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E8252-52EC-61EF-0605-D03081A82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/>
          </a:bodyPr>
          <a:lstStyle/>
          <a:p>
            <a:r>
              <a:rPr lang="en-IN" b="1" dirty="0"/>
              <a:t>Exception Handling with Functions – </a:t>
            </a:r>
          </a:p>
          <a:p>
            <a:r>
              <a:rPr lang="en-US" dirty="0"/>
              <a:t>Exceptions can be:</a:t>
            </a:r>
          </a:p>
          <a:p>
            <a:r>
              <a:rPr lang="en-US" b="1" dirty="0"/>
              <a:t>thrown inside a function</a:t>
            </a:r>
            <a:r>
              <a:rPr lang="en-US" dirty="0"/>
              <a:t> </a:t>
            </a:r>
          </a:p>
          <a:p>
            <a:r>
              <a:rPr lang="en-US" b="1" dirty="0"/>
              <a:t>caught in main (or another function)</a:t>
            </a:r>
            <a:r>
              <a:rPr lang="en-US" dirty="0"/>
              <a:t> </a:t>
            </a:r>
          </a:p>
          <a:p>
            <a:r>
              <a:rPr lang="en-US" dirty="0"/>
              <a:t>This helps in </a:t>
            </a:r>
            <a:r>
              <a:rPr lang="en-US" b="1" dirty="0"/>
              <a:t>separating logic and error handling</a:t>
            </a:r>
            <a:endParaRPr lang="en-US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61299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41B64-C387-2ED9-4BDA-D8455E81C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21DA3-3FFA-2F5C-18F6-885A9DA79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40000" lnSpcReduction="20000"/>
          </a:bodyPr>
          <a:lstStyle/>
          <a:p>
            <a:r>
              <a:rPr lang="en-IN" dirty="0"/>
              <a:t>Example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// Function</a:t>
            </a:r>
          </a:p>
          <a:p>
            <a:pPr marL="0" indent="0">
              <a:buNone/>
            </a:pPr>
            <a:r>
              <a:rPr lang="en-IN" dirty="0"/>
              <a:t>int divide(int a, int b) {</a:t>
            </a:r>
          </a:p>
          <a:p>
            <a:pPr marL="0" indent="0">
              <a:buNone/>
            </a:pPr>
            <a:r>
              <a:rPr lang="en-IN" dirty="0"/>
              <a:t>    if (b == 0)</a:t>
            </a:r>
          </a:p>
          <a:p>
            <a:pPr marL="0" indent="0">
              <a:buNone/>
            </a:pPr>
            <a:r>
              <a:rPr lang="en-IN" dirty="0"/>
              <a:t>        throw "Division by zero";   // exception thrown</a:t>
            </a:r>
          </a:p>
          <a:p>
            <a:pPr marL="0" indent="0">
              <a:buNone/>
            </a:pPr>
            <a:r>
              <a:rPr lang="en-IN" dirty="0"/>
              <a:t>    return a / b;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r>
              <a:rPr lang="en-IN" dirty="0"/>
              <a:t>        int result = divide(10, 0);   // function call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"Result: " &lt;&lt; result;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</a:t>
            </a:r>
            <a:r>
              <a:rPr lang="en-IN" dirty="0" err="1"/>
              <a:t>const</a:t>
            </a:r>
            <a:r>
              <a:rPr lang="en-IN" dirty="0"/>
              <a:t> char* </a:t>
            </a:r>
            <a:r>
              <a:rPr lang="en-IN" dirty="0" err="1"/>
              <a:t>msg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"Error: " &lt;&lt; </a:t>
            </a:r>
            <a:r>
              <a:rPr lang="en-IN" dirty="0" err="1"/>
              <a:t>msg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0731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45E5E-298C-6C49-9ACC-5D4C23A7A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FD593-CB8F-5F57-B62B-4A735BB21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dirty="0"/>
              <a:t>Example 2 – </a:t>
            </a:r>
          </a:p>
          <a:p>
            <a:pPr marL="0" indent="0">
              <a:buNone/>
            </a:pPr>
            <a:r>
              <a:rPr lang="en-IN" dirty="0"/>
              <a:t>#include &lt;iostream&gt;</a:t>
            </a:r>
          </a:p>
          <a:p>
            <a:pPr marL="0" indent="0">
              <a:buNone/>
            </a:pPr>
            <a:r>
              <a:rPr lang="en-IN" dirty="0"/>
              <a:t>using namespace std;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void check(int age) {</a:t>
            </a:r>
          </a:p>
          <a:p>
            <a:pPr marL="0" indent="0">
              <a:buNone/>
            </a:pPr>
            <a:r>
              <a:rPr lang="en-IN" dirty="0"/>
              <a:t>    if (age &lt; 0)</a:t>
            </a:r>
          </a:p>
          <a:p>
            <a:pPr marL="0" indent="0">
              <a:buNone/>
            </a:pPr>
            <a:r>
              <a:rPr lang="en-IN" dirty="0"/>
              <a:t>        throw 'A';        // invalid age</a:t>
            </a:r>
          </a:p>
          <a:p>
            <a:pPr marL="0" indent="0">
              <a:buNone/>
            </a:pPr>
            <a:r>
              <a:rPr lang="en-IN" dirty="0"/>
              <a:t>    if (age &lt; 18)</a:t>
            </a:r>
          </a:p>
          <a:p>
            <a:pPr marL="0" indent="0">
              <a:buNone/>
            </a:pPr>
            <a:r>
              <a:rPr lang="en-IN" dirty="0"/>
              <a:t>        throw 1;          // underage</a:t>
            </a:r>
          </a:p>
          <a:p>
            <a:pPr marL="0" indent="0">
              <a:buNone/>
            </a:pPr>
            <a:r>
              <a:rPr lang="en-IN" dirty="0"/>
              <a:t>    </a:t>
            </a:r>
            <a:r>
              <a:rPr lang="en-IN" dirty="0" err="1"/>
              <a:t>cout</a:t>
            </a:r>
            <a:r>
              <a:rPr lang="en-IN" dirty="0"/>
              <a:t> &lt;&lt; "Access granted\n";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int main() {</a:t>
            </a:r>
          </a:p>
          <a:p>
            <a:pPr marL="0" indent="0">
              <a:buNone/>
            </a:pPr>
            <a:r>
              <a:rPr lang="en-IN" dirty="0"/>
              <a:t>    try {</a:t>
            </a:r>
          </a:p>
          <a:p>
            <a:pPr marL="0" indent="0">
              <a:buNone/>
            </a:pPr>
            <a:r>
              <a:rPr lang="en-IN" dirty="0"/>
              <a:t>        check(15);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(char c)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"Error: Invalid age";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catch (int x)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"Error: Underage";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return 0;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00555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86011-8617-A13A-44DA-5406E944F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EEFE8-5388-676E-F767-7B9BDC60F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/>
          </a:bodyPr>
          <a:lstStyle/>
          <a:p>
            <a:r>
              <a:rPr lang="en-IN" b="1" dirty="0"/>
              <a:t>Standard Exceptions – </a:t>
            </a:r>
          </a:p>
          <a:p>
            <a:r>
              <a:rPr lang="en-US" b="1" dirty="0"/>
              <a:t>Standard exceptions</a:t>
            </a:r>
            <a:r>
              <a:rPr lang="en-US" dirty="0"/>
              <a:t> are </a:t>
            </a:r>
            <a:r>
              <a:rPr lang="en-US" b="1" dirty="0"/>
              <a:t>predefined classes</a:t>
            </a:r>
            <a:r>
              <a:rPr lang="en-US" dirty="0"/>
              <a:t> provided by C++ in the header:</a:t>
            </a:r>
          </a:p>
          <a:p>
            <a:r>
              <a:rPr lang="en-US" dirty="0"/>
              <a:t>#include &lt;exception&gt;</a:t>
            </a:r>
            <a:br>
              <a:rPr lang="en-US" dirty="0"/>
            </a:br>
            <a:r>
              <a:rPr lang="en-US" dirty="0"/>
              <a:t>#include &lt;</a:t>
            </a:r>
            <a:r>
              <a:rPr lang="en-US" dirty="0" err="1"/>
              <a:t>stdexcept</a:t>
            </a:r>
            <a:r>
              <a:rPr lang="en-US" dirty="0"/>
              <a:t>&gt;</a:t>
            </a:r>
          </a:p>
          <a:p>
            <a:r>
              <a:rPr lang="en-US" dirty="0"/>
              <a:t> Used to handle common errors</a:t>
            </a:r>
            <a:br>
              <a:rPr lang="en-US" dirty="0"/>
            </a:br>
            <a:r>
              <a:rPr lang="en-US" dirty="0"/>
              <a:t> Better than using int, char, etc.</a:t>
            </a:r>
            <a:br>
              <a:rPr lang="en-US" dirty="0"/>
            </a:br>
            <a:r>
              <a:rPr lang="en-US" dirty="0"/>
              <a:t> Provide built-in function  -  what() - It returns the </a:t>
            </a:r>
            <a:r>
              <a:rPr lang="en-US" b="1" dirty="0"/>
              <a:t>error message and </a:t>
            </a:r>
            <a:r>
              <a:rPr lang="en-US" dirty="0"/>
              <a:t>Return type: const char*</a:t>
            </a:r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908869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46B53-3619-D1C9-FD11-DAC73EB06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CF606-8BCB-C92F-828D-23B76144A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Base Class: exception</a:t>
            </a:r>
          </a:p>
          <a:p>
            <a:r>
              <a:rPr lang="en-US" dirty="0"/>
              <a:t>All standard exceptions come from this base class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&lt;exception&gt;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try {</a:t>
            </a:r>
          </a:p>
          <a:p>
            <a:pPr marL="0" indent="0">
              <a:buNone/>
            </a:pPr>
            <a:r>
              <a:rPr lang="en-US" dirty="0"/>
              <a:t>        throw exception();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catch (const exception&amp; 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"Caught exception: " &lt;&lt; </a:t>
            </a:r>
            <a:r>
              <a:rPr lang="en-US" dirty="0" err="1"/>
              <a:t>e.what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9755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DDBA-6B87-9470-89D6-429E882D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85875-3AE9-490E-93D5-676A68E24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 err="1"/>
              <a:t>runtime_error</a:t>
            </a:r>
            <a:r>
              <a:rPr lang="en-US" b="1" dirty="0"/>
              <a:t> - </a:t>
            </a:r>
            <a:r>
              <a:rPr lang="en-US" dirty="0"/>
              <a:t>Errors that occur during execution</a:t>
            </a:r>
          </a:p>
          <a:p>
            <a:pPr marL="0" indent="0">
              <a:buNone/>
            </a:pPr>
            <a:r>
              <a:rPr lang="en-US" dirty="0"/>
              <a:t>#include &lt;iostream&gt;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stdexcept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/>
              <a:t>using namespace std;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int main() {</a:t>
            </a:r>
          </a:p>
          <a:p>
            <a:pPr marL="0" indent="0">
              <a:buNone/>
            </a:pPr>
            <a:r>
              <a:rPr lang="en-US" dirty="0"/>
              <a:t>    try {</a:t>
            </a:r>
          </a:p>
          <a:p>
            <a:pPr marL="0" indent="0">
              <a:buNone/>
            </a:pPr>
            <a:r>
              <a:rPr lang="en-US" dirty="0"/>
              <a:t>        int a = 10, b = 0;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if (b == 0)</a:t>
            </a:r>
          </a:p>
          <a:p>
            <a:pPr marL="0" indent="0">
              <a:buNone/>
            </a:pPr>
            <a:r>
              <a:rPr lang="en-US" dirty="0"/>
              <a:t>            throw </a:t>
            </a:r>
            <a:r>
              <a:rPr lang="en-US" dirty="0" err="1"/>
              <a:t>runtime_error</a:t>
            </a:r>
            <a:r>
              <a:rPr lang="en-US" dirty="0"/>
              <a:t>("Division by zero");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a / b;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catch (const </a:t>
            </a:r>
            <a:r>
              <a:rPr lang="en-US" dirty="0" err="1"/>
              <a:t>runtime_error</a:t>
            </a:r>
            <a:r>
              <a:rPr lang="en-US" dirty="0"/>
              <a:t>&amp; e)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"Runtime Error: " &lt;&lt; </a:t>
            </a:r>
            <a:r>
              <a:rPr lang="en-US" dirty="0" err="1"/>
              <a:t>e.what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38899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EEC5-BE79-D47C-D54B-D9E8EF380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41B21-247A-2A80-A8FB-C7FE8ABF9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err="1"/>
              <a:t>out_of_range</a:t>
            </a:r>
            <a:r>
              <a:rPr lang="en-US" b="1" dirty="0"/>
              <a:t> - </a:t>
            </a:r>
            <a:r>
              <a:rPr lang="en-US" dirty="0"/>
              <a:t>Used for invalid index access</a:t>
            </a:r>
          </a:p>
          <a:p>
            <a:r>
              <a:rPr lang="en-US" dirty="0"/>
              <a:t>#include &lt;iostream&gt;</a:t>
            </a:r>
            <a:br>
              <a:rPr lang="en-US" dirty="0"/>
            </a:br>
            <a:r>
              <a:rPr lang="en-US" dirty="0"/>
              <a:t>#include &lt;vector&gt;</a:t>
            </a:r>
            <a:br>
              <a:rPr lang="en-US" dirty="0"/>
            </a:br>
            <a:r>
              <a:rPr lang="en-US" dirty="0"/>
              <a:t>using namespace std;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 main() {</a:t>
            </a:r>
            <a:br>
              <a:rPr lang="en-US" dirty="0"/>
            </a:br>
            <a:r>
              <a:rPr lang="en-US" dirty="0"/>
              <a:t>    try {</a:t>
            </a:r>
            <a:br>
              <a:rPr lang="en-US" dirty="0"/>
            </a:br>
            <a:r>
              <a:rPr lang="en-US" dirty="0"/>
              <a:t>        vector&lt;int&gt; v = {1, 2, 3};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v.at(5);   // out of range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catch (const </a:t>
            </a:r>
            <a:r>
              <a:rPr lang="en-US" dirty="0" err="1"/>
              <a:t>out_of_range</a:t>
            </a:r>
            <a:r>
              <a:rPr lang="en-US" dirty="0"/>
              <a:t>&amp; e) {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dirty="0" err="1"/>
              <a:t>cout</a:t>
            </a:r>
            <a:r>
              <a:rPr lang="en-US" dirty="0"/>
              <a:t> &lt;&lt; "Out of Range Error: " &lt;&lt; </a:t>
            </a:r>
            <a:r>
              <a:rPr lang="en-US" dirty="0" err="1"/>
              <a:t>e.what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    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   return 0;</a:t>
            </a:r>
            <a:br>
              <a:rPr lang="en-US" dirty="0"/>
            </a:br>
            <a:r>
              <a:rPr lang="en-US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39502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F62CF-CE05-8CCB-EE46-0DEDB2CF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726F2-64DB-1C3A-2ED2-E10162B4F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1445"/>
            <a:ext cx="10515600" cy="5675518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 err="1"/>
              <a:t>invalid_argument</a:t>
            </a:r>
            <a:r>
              <a:rPr lang="en-IN" b="1" dirty="0"/>
              <a:t> - </a:t>
            </a:r>
            <a:r>
              <a:rPr lang="en-IN" dirty="0"/>
              <a:t>Used when wrong input </a:t>
            </a:r>
            <a:r>
              <a:rPr lang="en-IN"/>
              <a:t>is passed</a:t>
            </a:r>
            <a:endParaRPr lang="en-IN" b="1" dirty="0"/>
          </a:p>
          <a:p>
            <a:r>
              <a:rPr lang="en-IN" dirty="0"/>
              <a:t>#include &lt;iostream&gt;</a:t>
            </a:r>
            <a:br>
              <a:rPr lang="en-IN" dirty="0"/>
            </a:br>
            <a:r>
              <a:rPr lang="en-IN" dirty="0"/>
              <a:t>#include &lt;</a:t>
            </a:r>
            <a:r>
              <a:rPr lang="en-IN" dirty="0" err="1"/>
              <a:t>stdexcept</a:t>
            </a:r>
            <a:r>
              <a:rPr lang="en-IN" dirty="0"/>
              <a:t>&gt;</a:t>
            </a:r>
            <a:br>
              <a:rPr lang="en-IN" dirty="0"/>
            </a:br>
            <a:r>
              <a:rPr lang="en-IN" dirty="0"/>
              <a:t>using namespace std;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int main() {</a:t>
            </a:r>
            <a:br>
              <a:rPr lang="en-IN" dirty="0"/>
            </a:br>
            <a:r>
              <a:rPr lang="en-IN" dirty="0"/>
              <a:t>    try {</a:t>
            </a:r>
            <a:br>
              <a:rPr lang="en-IN" dirty="0"/>
            </a:br>
            <a:r>
              <a:rPr lang="en-IN" dirty="0"/>
              <a:t>        int age = -5;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    if (age &lt; 0)</a:t>
            </a:r>
            <a:br>
              <a:rPr lang="en-IN" dirty="0"/>
            </a:br>
            <a:r>
              <a:rPr lang="en-IN" dirty="0"/>
              <a:t>            throw </a:t>
            </a:r>
            <a:r>
              <a:rPr lang="en-IN" dirty="0" err="1"/>
              <a:t>invalid_argument</a:t>
            </a:r>
            <a:r>
              <a:rPr lang="en-IN" dirty="0"/>
              <a:t>("Age cannot be negative");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catch (</a:t>
            </a:r>
            <a:r>
              <a:rPr lang="en-IN" dirty="0" err="1"/>
              <a:t>const</a:t>
            </a:r>
            <a:r>
              <a:rPr lang="en-IN" dirty="0"/>
              <a:t> </a:t>
            </a:r>
            <a:r>
              <a:rPr lang="en-IN" dirty="0" err="1"/>
              <a:t>invalid_argument</a:t>
            </a:r>
            <a:r>
              <a:rPr lang="en-IN" dirty="0"/>
              <a:t>&amp; e) {</a:t>
            </a:r>
            <a:br>
              <a:rPr lang="en-IN" dirty="0"/>
            </a:br>
            <a:r>
              <a:rPr lang="en-IN" dirty="0"/>
              <a:t>        </a:t>
            </a:r>
            <a:r>
              <a:rPr lang="en-IN" dirty="0" err="1"/>
              <a:t>cout</a:t>
            </a:r>
            <a:r>
              <a:rPr lang="en-IN" dirty="0"/>
              <a:t> &lt;&lt; "Invalid Argument: " &lt;&lt; </a:t>
            </a:r>
            <a:r>
              <a:rPr lang="en-IN" dirty="0" err="1"/>
              <a:t>e.what</a:t>
            </a:r>
            <a:r>
              <a:rPr lang="en-IN" dirty="0"/>
              <a:t>();</a:t>
            </a:r>
            <a:br>
              <a:rPr lang="en-IN" dirty="0"/>
            </a:br>
            <a:r>
              <a:rPr lang="en-IN" dirty="0"/>
              <a:t>    }</a:t>
            </a:r>
            <a:br>
              <a:rPr lang="en-IN" dirty="0"/>
            </a:br>
            <a:br>
              <a:rPr lang="en-IN" dirty="0"/>
            </a:br>
            <a:r>
              <a:rPr lang="en-IN" dirty="0"/>
              <a:t>    return 0;</a:t>
            </a:r>
            <a:br>
              <a:rPr lang="en-IN" dirty="0"/>
            </a:br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149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3603</Words>
  <Application>Microsoft Office PowerPoint</Application>
  <PresentationFormat>Widescreen</PresentationFormat>
  <Paragraphs>538</Paragraphs>
  <Slides>34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Templates</vt:lpstr>
      <vt:lpstr>Function Templates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Class Templates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Exception Handling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Rohit Kamboj</dc:creator>
  <cp:lastModifiedBy>Rohit Kamboj</cp:lastModifiedBy>
  <cp:revision>84</cp:revision>
  <dcterms:created xsi:type="dcterms:W3CDTF">2026-04-16T10:31:22Z</dcterms:created>
  <dcterms:modified xsi:type="dcterms:W3CDTF">2026-04-22T05:33:35Z</dcterms:modified>
</cp:coreProperties>
</file>