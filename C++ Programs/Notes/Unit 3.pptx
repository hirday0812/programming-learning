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64" r:id="rId11"/>
    <p:sldId id="265" r:id="rId12"/>
    <p:sldId id="279" r:id="rId13"/>
    <p:sldId id="266" r:id="rId14"/>
    <p:sldId id="267" r:id="rId15"/>
    <p:sldId id="268" r:id="rId16"/>
    <p:sldId id="269" r:id="rId17"/>
    <p:sldId id="280" r:id="rId18"/>
    <p:sldId id="270" r:id="rId19"/>
    <p:sldId id="271" r:id="rId20"/>
    <p:sldId id="281" r:id="rId21"/>
    <p:sldId id="272" r:id="rId22"/>
    <p:sldId id="273" r:id="rId23"/>
    <p:sldId id="274" r:id="rId24"/>
    <p:sldId id="275" r:id="rId25"/>
    <p:sldId id="282" r:id="rId26"/>
    <p:sldId id="276" r:id="rId27"/>
    <p:sldId id="277" r:id="rId28"/>
    <p:sldId id="283" r:id="rId29"/>
    <p:sldId id="284" r:id="rId30"/>
    <p:sldId id="291" r:id="rId31"/>
    <p:sldId id="285" r:id="rId32"/>
    <p:sldId id="292" r:id="rId33"/>
    <p:sldId id="286" r:id="rId34"/>
    <p:sldId id="287" r:id="rId35"/>
    <p:sldId id="288" r:id="rId36"/>
    <p:sldId id="293" r:id="rId37"/>
    <p:sldId id="289" r:id="rId38"/>
    <p:sldId id="290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6" r:id="rId49"/>
    <p:sldId id="303" r:id="rId50"/>
    <p:sldId id="304" r:id="rId51"/>
    <p:sldId id="305" r:id="rId52"/>
    <p:sldId id="307" r:id="rId53"/>
    <p:sldId id="316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281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89ED9-EBB2-48B8-B2BB-5E92E8CDE7C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719A6-18BB-4CEC-946C-0C650E515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21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variable belongs to </a:t>
            </a:r>
            <a:r>
              <a:rPr lang="en-US" b="1" dirty="0"/>
              <a:t>class</a:t>
            </a:r>
            <a:r>
              <a:rPr lang="en-US" dirty="0"/>
              <a:t>, not to objects.</a:t>
            </a:r>
            <a:br>
              <a:rPr lang="en-US" dirty="0"/>
            </a:br>
            <a:r>
              <a:rPr lang="en-US" dirty="0"/>
              <a:t>So memory must be defined separately.</a:t>
            </a:r>
          </a:p>
          <a:p>
            <a:r>
              <a:rPr lang="en-US" dirty="0"/>
              <a:t>That is why we write: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Student::count = 0;</a:t>
            </a:r>
          </a:p>
          <a:p>
            <a:r>
              <a:rPr lang="en-US" dirty="0"/>
              <a:t>Now memory is created and initialized to 0.</a:t>
            </a:r>
          </a:p>
          <a:p>
            <a:r>
              <a:rPr lang="en-US" dirty="0"/>
              <a:t>Normally, static data members are declared inside the class but defined and initialized outside the class.</a:t>
            </a:r>
          </a:p>
          <a:p>
            <a:r>
              <a:rPr lang="en-US" dirty="0"/>
              <a:t>But in modern C++ (C++17),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 static</a:t>
            </a:r>
            <a:r>
              <a:rPr lang="en-US" dirty="0"/>
              <a:t> members can be initialized inside the class.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0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 does NOT support static class like Java or C#.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885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of x: 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of x: 2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of x: 3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67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Benefits of Static Object (Outside Function)</a:t>
            </a:r>
          </a:p>
          <a:p>
            <a:r>
              <a:rPr lang="en-US" b="1" dirty="0"/>
              <a:t> Exists for Entire Program</a:t>
            </a:r>
          </a:p>
          <a:p>
            <a:r>
              <a:rPr lang="en-US" dirty="0"/>
              <a:t>Created before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endParaRPr lang="en-US" dirty="0"/>
          </a:p>
          <a:p>
            <a:r>
              <a:rPr lang="en-US" dirty="0"/>
              <a:t>Destroyed after program ends</a:t>
            </a:r>
          </a:p>
          <a:p>
            <a:r>
              <a:rPr lang="en-US" dirty="0"/>
              <a:t>No need to recreate again and again</a:t>
            </a:r>
          </a:p>
          <a:p>
            <a:r>
              <a:rPr lang="en-US" b="1" dirty="0"/>
              <a:t> Memory Efficiency</a:t>
            </a:r>
          </a:p>
          <a:p>
            <a:r>
              <a:rPr lang="en-US" dirty="0"/>
              <a:t>Only </a:t>
            </a:r>
            <a:r>
              <a:rPr lang="en-US" b="1" dirty="0"/>
              <a:t>one object</a:t>
            </a:r>
            <a:r>
              <a:rPr lang="en-US" dirty="0"/>
              <a:t> is created.</a:t>
            </a:r>
          </a:p>
          <a:p>
            <a:r>
              <a:rPr lang="en-US" dirty="0"/>
              <a:t>Useful when many parts of program need same object.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987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s[3];</a:t>
            </a:r>
            <a:r>
              <a:rPr lang="en-US" dirty="0"/>
              <a:t> → Creates </a:t>
            </a:r>
            <a:r>
              <a:rPr lang="en-US" b="1" dirty="0"/>
              <a:t>3 objects</a:t>
            </a:r>
            <a:r>
              <a:rPr lang="en-US" dirty="0"/>
              <a:t> of class Student.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s[0]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s[1]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s[2]</a:t>
            </a:r>
            <a:r>
              <a:rPr lang="en-US" dirty="0"/>
              <a:t> → Individual objects.</a:t>
            </a:r>
          </a:p>
          <a:p>
            <a:r>
              <a:rPr lang="en-US" dirty="0"/>
              <a:t>We 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dirty="0"/>
              <a:t> (dot operator) to access data and functions.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42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a friend function is </a:t>
            </a:r>
            <a:r>
              <a:rPr lang="en-US" b="1" dirty="0"/>
              <a:t>not a member of the class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it does not have direct access to class data.</a:t>
            </a:r>
          </a:p>
          <a:p>
            <a:r>
              <a:rPr lang="en-US" dirty="0"/>
              <a:t>So usually:</a:t>
            </a:r>
          </a:p>
          <a:p>
            <a:r>
              <a:rPr lang="en-US" dirty="0"/>
              <a:t>We pass </a:t>
            </a:r>
            <a:r>
              <a:rPr lang="en-US" b="1" dirty="0"/>
              <a:t>object(s)</a:t>
            </a:r>
            <a:r>
              <a:rPr lang="en-US" dirty="0"/>
              <a:t> so the function can access private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517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dirty="0"/>
              <a:t> is private.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show()</a:t>
            </a:r>
            <a:r>
              <a:rPr lang="en-US" dirty="0"/>
              <a:t> is NOT member of class.</a:t>
            </a:r>
          </a:p>
          <a:p>
            <a:r>
              <a:rPr lang="en-US" dirty="0"/>
              <a:t>But because it is declared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en-US" dirty="0"/>
              <a:t>, it can access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31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Friend Needed?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add()</a:t>
            </a:r>
            <a:r>
              <a:rPr lang="en-US" dirty="0"/>
              <a:t> needs to access private data of </a:t>
            </a:r>
            <a:r>
              <a:rPr lang="en-US" b="1" dirty="0"/>
              <a:t>both classes</a:t>
            </a:r>
            <a:endParaRPr lang="en-US" dirty="0"/>
          </a:p>
          <a:p>
            <a:r>
              <a:rPr lang="en-US" dirty="0"/>
              <a:t>So both classes declare it as friend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65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Student::*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en-US" dirty="0"/>
              <a:t> → Pointer to int member of Student class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&amp;Student::marks</a:t>
            </a:r>
            <a:r>
              <a:rPr lang="en-US" dirty="0"/>
              <a:t> → Address of member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s.*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en-US" dirty="0"/>
              <a:t> → Access member using object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665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(Demo::*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)();</a:t>
            </a:r>
            <a:r>
              <a:rPr lang="en-US" dirty="0"/>
              <a:t> → Pointer to member function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&amp;Demo::show</a:t>
            </a:r>
            <a:r>
              <a:rPr lang="en-US" dirty="0"/>
              <a:t> → Address of function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(d.*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)();</a:t>
            </a:r>
            <a:r>
              <a:rPr lang="en-US" dirty="0"/>
              <a:t> → Call using object</a:t>
            </a:r>
          </a:p>
          <a:p>
            <a:r>
              <a:rPr lang="en-US" b="1" dirty="0"/>
              <a:t>Using Pointer with Object Pointer</a:t>
            </a:r>
          </a:p>
          <a:p>
            <a:r>
              <a:rPr lang="en-US" dirty="0"/>
              <a:t>If object is pointer: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 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ptrObj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&amp;d;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ptrObj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)();</a:t>
            </a:r>
          </a:p>
          <a:p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-&gt;*</a:t>
            </a:r>
            <a:r>
              <a:rPr lang="en-US" dirty="0"/>
              <a:t> is used when object is pointer</a:t>
            </a:r>
            <a:br>
              <a:rPr lang="en-US" dirty="0"/>
            </a:b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.*</a:t>
            </a:r>
            <a:r>
              <a:rPr lang="en-US" dirty="0"/>
              <a:t> is used when object is normal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01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 (reference) is used so that the object is </a:t>
            </a:r>
            <a:r>
              <a:rPr lang="en-US" b="1" dirty="0"/>
              <a:t>not passed by value</a:t>
            </a:r>
            <a:r>
              <a:rPr lang="en-US" dirty="0"/>
              <a:t>, because passing by value would call the copy constructor again and cause infinite recursion.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en-US" dirty="0"/>
              <a:t> is used to ensure the original object is </a:t>
            </a:r>
            <a:r>
              <a:rPr lang="en-US" b="1" dirty="0"/>
              <a:t>not modified</a:t>
            </a:r>
            <a:r>
              <a:rPr lang="en-US" dirty="0"/>
              <a:t> inside the copy constructor and to allow copying of const objects safely.</a:t>
            </a:r>
            <a:endParaRPr lang="en-IN" dirty="0"/>
          </a:p>
          <a:p>
            <a:r>
              <a:rPr lang="en-US" dirty="0"/>
              <a:t>Student s2 = s1;   // Copy initialization</a:t>
            </a:r>
          </a:p>
          <a:p>
            <a:r>
              <a:rPr lang="en-US" dirty="0"/>
              <a:t>Student s2(s1);    // Direct initialization</a:t>
            </a:r>
          </a:p>
          <a:p>
            <a:r>
              <a:rPr lang="en-US" dirty="0"/>
              <a:t>Both are correct</a:t>
            </a:r>
          </a:p>
          <a:p>
            <a:r>
              <a:rPr lang="en-US" dirty="0"/>
              <a:t>Both call the copy constructor</a:t>
            </a:r>
          </a:p>
          <a:p>
            <a:r>
              <a:rPr lang="en-US" dirty="0"/>
              <a:t>Both create a copy of s1</a:t>
            </a:r>
          </a:p>
          <a:p>
            <a:r>
              <a:rPr lang="en-US" dirty="0"/>
              <a:t>So C++ automatically understands that s1 must be copied.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21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class has </a:t>
            </a:r>
            <a:r>
              <a:rPr lang="en-US" b="1" dirty="0"/>
              <a:t>multiple constructors with different parameter lists</a:t>
            </a:r>
            <a:r>
              <a:rPr lang="en-US" dirty="0"/>
              <a:t>, it is called </a:t>
            </a:r>
            <a:r>
              <a:rPr lang="en-US" b="1" dirty="0"/>
              <a:t>constructor overloading</a:t>
            </a:r>
            <a:r>
              <a:rPr lang="en-US" dirty="0"/>
              <a:t>.</a:t>
            </a:r>
          </a:p>
          <a:p>
            <a:r>
              <a:rPr lang="en-US" dirty="0"/>
              <a:t>Here:</a:t>
            </a:r>
          </a:p>
          <a:p>
            <a:r>
              <a:rPr lang="en-US" dirty="0"/>
              <a:t>Same name →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</a:t>
            </a:r>
            <a:endParaRPr lang="en-US" dirty="0"/>
          </a:p>
          <a:p>
            <a:r>
              <a:rPr lang="en-US" dirty="0"/>
              <a:t>Different parameters → 0, 1, 2, 3 parameters</a:t>
            </a:r>
          </a:p>
          <a:p>
            <a:r>
              <a:rPr lang="en-US" dirty="0"/>
              <a:t>C++ decides which constructor to call based on arguments passed.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22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Constructor Called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Destructor Called</a:t>
            </a:r>
          </a:p>
          <a:p>
            <a:r>
              <a:rPr lang="en-US" dirty="0"/>
              <a:t>Destructor runs automatically when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ends.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14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- </a:t>
            </a:r>
          </a:p>
          <a:p>
            <a:r>
              <a:rPr lang="en-US" dirty="0"/>
              <a:t>Inside main()</a:t>
            </a:r>
          </a:p>
          <a:p>
            <a:r>
              <a:rPr lang="en-US" dirty="0"/>
              <a:t>Constructor Called for Object d1</a:t>
            </a:r>
          </a:p>
          <a:p>
            <a:r>
              <a:rPr lang="en-US" dirty="0"/>
              <a:t>Constructor Called for Object d2</a:t>
            </a:r>
          </a:p>
          <a:p>
            <a:r>
              <a:rPr lang="en-US" dirty="0"/>
              <a:t>Constructor Called for Object d3</a:t>
            </a:r>
          </a:p>
          <a:p>
            <a:r>
              <a:rPr lang="en-US" dirty="0"/>
              <a:t>End of main()</a:t>
            </a:r>
          </a:p>
          <a:p>
            <a:r>
              <a:rPr lang="en-US" dirty="0"/>
              <a:t>Destructor Called for Object d3</a:t>
            </a:r>
          </a:p>
          <a:p>
            <a:r>
              <a:rPr lang="en-US" dirty="0"/>
              <a:t>Destructor Called for Object d2</a:t>
            </a:r>
          </a:p>
          <a:p>
            <a:r>
              <a:rPr lang="en-US" dirty="0"/>
              <a:t>Destructor Called for Object d1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719A6-18BB-4CEC-946C-0C650E5153D2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3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2822-5E0E-CDB3-39EB-0C3506B00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D5C8E-B71D-D8DE-4E86-730B8321D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C59B6-C62A-9FEB-8062-E1FED584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5555-8DFC-99A0-6D6D-9C1B7C41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8ECA-5B69-11CB-7D15-F7BC0FC6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8F7A-0D90-66B4-4D7B-139483FA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9E170-E9C3-F176-CD3A-87D615600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9A951-6C12-B9B4-4B3E-9686F688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A6A2-5BBE-E1C1-9B19-349C5FCB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E434-9EA9-8128-5460-56268316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6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AD01-2129-2022-411B-73D53770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61E5D-F259-36EB-55C0-FA6DE2AA1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1E565-76C3-B633-F2E9-7AAABB30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AB1FD-6945-3670-125C-2B3C4D8E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AD119-2804-FD99-5BD7-9CA01989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46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2AF0-84D4-5D22-7D9A-1A2E141A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ADD1-8FCB-09B8-3A48-67E9305FA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4EF25-B352-6D67-875B-D73FE2130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264DD-262A-99B3-E580-BB1C4885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A8173-C0CA-243C-CDD7-255014E0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6F363-EFC7-7BE1-C43A-A79F1B44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95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58F0-760A-6BBC-E098-66C059AD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D8A5D-288A-AFFD-9835-AAF03655D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06B8D-4D82-432F-FE68-EDE008660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5722C-56F3-E902-CAFD-E1734A041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E8FED-409B-EBB7-6633-11B6CC059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1A4AA-7931-7A62-1E19-36B2B19C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87F86-FFF2-CBE4-7602-C26DB122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3636F-69EC-913B-3408-B383C153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2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4D30-03EA-5AA4-AB79-6611FA5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EE317-35F2-9F64-39F8-70884961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14E3B-2FD8-1C10-DD3F-519F7112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EA13-1E8C-3E1E-4443-2F80E1FD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35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EF46A-95D9-D61A-3212-DFE262E8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C23D1-78C8-A7F3-1CCB-4185FE1F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B5033-5F2C-B466-FB53-37EFC70F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34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B58C-04E6-059F-A0EA-ECC576DD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14EB3-C0B5-3CC8-D7E6-7EEB5CE8C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C3318-9DA3-2C19-F120-6D34124E6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9F99B-5CD3-D495-1DDD-49A44A30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A78E4-FD16-1280-0FB8-79C94EA9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03424-9D3C-A37F-FA3C-26C95E9B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26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0887-B4A2-E901-F92F-3B784B03E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56C16-758E-6EFD-5DE3-F23304583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2901-B210-A675-DB89-436FF15C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F1B08-B8BE-3698-7761-1F3F2C7C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9F7C1-321D-4B59-0BD5-CC174E0A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74871-6BD5-D68A-2D92-31156034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14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1734-A14D-E4C2-20FC-52DC7531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EE57B-0BFC-DC19-5256-F3EA615E0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F240-7681-A8DC-70AC-3A2133E3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0977-8F85-9EFF-E157-3179BBEF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B678-6AC9-BFC2-C1C7-4D2B33B3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09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A37AA-AF2D-669A-F554-7B12EE12DF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E6289-9EE1-A231-86AB-DF7F1808D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7F08-4ACA-8504-EF2F-2168F335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905AB-804A-854B-CDB6-1E177F6F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1EC5-E889-BDB4-780F-4B9F5243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26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9FFCA-21F5-9D71-2547-DFBEF2CA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068FA-FF08-476F-EE21-1547C04B3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095D1-82FC-46CD-1855-1F220D5DC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60045-D822-43D3-B3BF-1CA084F9D9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D9FDA-7BEB-ADD2-0D69-EF9CFB537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6FEE-B171-9A52-3693-54F9DA066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E5CB7-A96D-40E6-8D75-AD82FDF1C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21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7C98-1183-6E4A-FAEB-2D719F4F6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99340-0ACA-7854-F84C-C1675B30B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OOPS</a:t>
            </a:r>
          </a:p>
        </p:txBody>
      </p:sp>
    </p:spTree>
    <p:extLst>
      <p:ext uri="{BB962C8B-B14F-4D97-AF65-F5344CB8AC3E}">
        <p14:creationId xmlns:p14="http://schemas.microsoft.com/office/powerpoint/2010/main" val="262028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D19AF-6F59-7954-BADE-CD5CB574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Hiding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A4E2-35CB-58A6-ABE0-CD65AD54C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hiding means restricting direct access to data members of a class and allowing access only through member functions.</a:t>
            </a:r>
          </a:p>
          <a:p>
            <a:r>
              <a:rPr lang="en-US" dirty="0"/>
              <a:t>It protects data from unauthorized access.</a:t>
            </a:r>
          </a:p>
          <a:p>
            <a:r>
              <a:rPr lang="en-US" b="1" dirty="0"/>
              <a:t>Why Data Hiding is Needed?</a:t>
            </a:r>
          </a:p>
          <a:p>
            <a:r>
              <a:rPr lang="en-US" dirty="0"/>
              <a:t>Protect sensitive data</a:t>
            </a:r>
          </a:p>
          <a:p>
            <a:r>
              <a:rPr lang="en-US" dirty="0"/>
              <a:t>Prevent accidental modification</a:t>
            </a:r>
          </a:p>
          <a:p>
            <a:r>
              <a:rPr lang="en-US" dirty="0"/>
              <a:t>Improve security</a:t>
            </a:r>
          </a:p>
          <a:p>
            <a:r>
              <a:rPr lang="en-US" dirty="0"/>
              <a:t>Maintain control over how data is accessed</a:t>
            </a:r>
          </a:p>
          <a:p>
            <a:r>
              <a:rPr lang="en-US" dirty="0"/>
              <a:t>Foundation of </a:t>
            </a:r>
            <a:r>
              <a:rPr lang="en-US" b="1" dirty="0"/>
              <a:t>Encapsulation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56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8DD1-7073-5BFB-9DB8-5F373747D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Access Specifiers  - </a:t>
            </a:r>
          </a:p>
          <a:p>
            <a:r>
              <a:rPr lang="en-US" b="1" dirty="0"/>
              <a:t>public</a:t>
            </a:r>
          </a:p>
          <a:p>
            <a:r>
              <a:rPr lang="en-US" dirty="0"/>
              <a:t>Accessible </a:t>
            </a:r>
            <a:r>
              <a:rPr lang="en-US" b="1" dirty="0"/>
              <a:t>from anywhere</a:t>
            </a:r>
            <a:endParaRPr lang="en-US" dirty="0"/>
          </a:p>
          <a:p>
            <a:r>
              <a:rPr lang="en-US" dirty="0"/>
              <a:t>Can be accessed </a:t>
            </a:r>
            <a:r>
              <a:rPr lang="en-US" b="1" dirty="0"/>
              <a:t>inside class, outside class, and by derived </a:t>
            </a:r>
            <a:r>
              <a:rPr lang="en-US" b="1" dirty="0" err="1"/>
              <a:t>clas</a:t>
            </a:r>
            <a:endParaRPr lang="en-US" dirty="0"/>
          </a:p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int roll;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show()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"Roll: " &lt;&lt; roll;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Student s;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s.roll</a:t>
            </a:r>
            <a:r>
              <a:rPr lang="en-US" dirty="0"/>
              <a:t> = 10;   // allowed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s.show</a:t>
            </a:r>
            <a:r>
              <a:rPr lang="en-US" dirty="0"/>
              <a:t>();      // allowed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92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581AD-9C5D-811C-4502-919940F5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43F9-1303-ADE7-97F6-E903E215E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32500" lnSpcReduction="20000"/>
          </a:bodyPr>
          <a:lstStyle/>
          <a:p>
            <a:r>
              <a:rPr lang="en-US" b="1" dirty="0"/>
              <a:t>private</a:t>
            </a:r>
          </a:p>
          <a:p>
            <a:r>
              <a:rPr lang="en-US" dirty="0"/>
              <a:t>Accessible </a:t>
            </a:r>
            <a:r>
              <a:rPr lang="en-US" b="1" dirty="0"/>
              <a:t>only inside the same class</a:t>
            </a:r>
            <a:endParaRPr lang="en-US" dirty="0"/>
          </a:p>
          <a:p>
            <a:r>
              <a:rPr lang="en-US" dirty="0"/>
              <a:t>Not accessible outside</a:t>
            </a:r>
          </a:p>
          <a:p>
            <a:r>
              <a:rPr lang="en-US" dirty="0"/>
              <a:t>Not accessible directly in derived class</a:t>
            </a:r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int roll;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setRoll</a:t>
            </a:r>
            <a:r>
              <a:rPr lang="en-US" dirty="0"/>
              <a:t>(int r) {</a:t>
            </a:r>
          </a:p>
          <a:p>
            <a:pPr marL="0" indent="0">
              <a:buNone/>
            </a:pPr>
            <a:r>
              <a:rPr lang="en-US" dirty="0"/>
              <a:t>        roll = r;   // allowed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show()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roll;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Student s;</a:t>
            </a:r>
          </a:p>
          <a:p>
            <a:pPr marL="0" indent="0">
              <a:buNone/>
            </a:pPr>
            <a:r>
              <a:rPr lang="en-US" dirty="0"/>
              <a:t>    // </a:t>
            </a:r>
            <a:r>
              <a:rPr lang="en-US" dirty="0" err="1"/>
              <a:t>s.roll</a:t>
            </a:r>
            <a:r>
              <a:rPr lang="en-US" dirty="0"/>
              <a:t> = 10;  Error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s.setRoll</a:t>
            </a:r>
            <a:r>
              <a:rPr lang="en-US" dirty="0"/>
              <a:t>(10);   //  allowed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Used for </a:t>
            </a:r>
            <a:r>
              <a:rPr lang="en-US" b="1" dirty="0"/>
              <a:t>data hiding (Encapsulation)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02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FC16-CF5D-D480-2982-46ACF539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DA4A-9DE6-0225-2C62-62735F2DC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/>
          <a:lstStyle/>
          <a:p>
            <a:r>
              <a:rPr lang="en-US" b="1" dirty="0"/>
              <a:t>protected</a:t>
            </a:r>
          </a:p>
          <a:p>
            <a:r>
              <a:rPr lang="en-US" dirty="0"/>
              <a:t>Accessible inside class</a:t>
            </a:r>
          </a:p>
          <a:p>
            <a:r>
              <a:rPr lang="en-US" dirty="0"/>
              <a:t>Accessible in derived class</a:t>
            </a:r>
          </a:p>
          <a:p>
            <a:r>
              <a:rPr lang="en-US" dirty="0"/>
              <a:t>Not accessible outside</a:t>
            </a:r>
          </a:p>
          <a:p>
            <a:r>
              <a:rPr lang="en-US" dirty="0"/>
              <a:t>Example – will be covered in the next unit.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3FBAFF-6626-0150-3ED3-9CB254124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035838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619825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090117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4639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Access Specifier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Accessible Outside Class?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Accessible Inside Class?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90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7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 (except inheritance)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780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72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105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F37D-7422-2388-D2C6-BA9921EF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C5B01-32C9-1A3F-991C-FFD280B88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Data Hiding Example - </a:t>
            </a:r>
          </a:p>
          <a:p>
            <a:r>
              <a:rPr lang="en-IN" dirty="0"/>
              <a:t>Without Data Hiding – 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int marks;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Student s;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s.marks</a:t>
            </a:r>
            <a:r>
              <a:rPr lang="en-US" dirty="0"/>
              <a:t> = -100;  // Invalid data allowed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Problem: Anyone can assign wrong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109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7322-D7C1-401D-53CB-ED78EEB3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C1CB7-268E-B2CD-3995-C6E5CD42D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With Data Hiding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setMarks</a:t>
            </a:r>
            <a:r>
              <a:rPr lang="en-IN" dirty="0"/>
              <a:t>(int m) {</a:t>
            </a:r>
          </a:p>
          <a:p>
            <a:pPr marL="0" indent="0">
              <a:buNone/>
            </a:pPr>
            <a:r>
              <a:rPr lang="en-IN" dirty="0"/>
              <a:t>        if (m &gt;= 0 &amp;&amp; m &lt;= 100)</a:t>
            </a:r>
          </a:p>
          <a:p>
            <a:pPr marL="0" indent="0">
              <a:buNone/>
            </a:pPr>
            <a:r>
              <a:rPr lang="en-IN" dirty="0"/>
              <a:t>            marks = m;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getMarks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s.setMarks</a:t>
            </a:r>
            <a:r>
              <a:rPr lang="en-IN" dirty="0"/>
              <a:t>(85);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s.getMarks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b="1" dirty="0"/>
              <a:t>Now invalid data cannot be stored.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55524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2294-EE93-6354-B12E-61ACAAA1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BE678-201C-5872-7E37-E6CAB1092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/>
          <a:lstStyle/>
          <a:p>
            <a:r>
              <a:rPr lang="en-US" b="1" dirty="0"/>
              <a:t>Real Life Example </a:t>
            </a:r>
          </a:p>
          <a:p>
            <a:r>
              <a:rPr lang="en-US" dirty="0"/>
              <a:t>Example: </a:t>
            </a:r>
            <a:r>
              <a:rPr lang="en-US" b="1" dirty="0"/>
              <a:t>Bank Account</a:t>
            </a:r>
            <a:endParaRPr lang="en-US" dirty="0"/>
          </a:p>
          <a:p>
            <a:r>
              <a:rPr lang="en-US" dirty="0"/>
              <a:t>Balance should not be directly accessible.</a:t>
            </a:r>
          </a:p>
          <a:p>
            <a:r>
              <a:rPr lang="en-US" dirty="0"/>
              <a:t>Only deposit() and withdraw() should modify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356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20CC-8BA1-96E6-AECD-6C4BAC25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8F471-F971-BD14-62F7-E3C357F7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is derived from the word “capsule”, which means to enclose or wrap something inside a protective covering.</a:t>
            </a:r>
          </a:p>
          <a:p>
            <a:r>
              <a:rPr lang="en-US" dirty="0"/>
              <a:t>Encapsulation means wrapping data inside a class using the private access specifier to protect it from direct access. Just like medicine inside a capsule opens only when used properly, data inside a class can be accessed only through proper public methods.</a:t>
            </a:r>
          </a:p>
          <a:p>
            <a:r>
              <a:rPr lang="en-US" dirty="0"/>
              <a:t>Encapsulation = Data + Methods + Data Hiding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72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310E-1662-AD69-DFB5-C47096CA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7D19387-B6E2-EC02-0B83-C3796B0B3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83458"/>
            <a:ext cx="5181600" cy="5793505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// Setter for roll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setRoll</a:t>
            </a:r>
            <a:r>
              <a:rPr lang="en-IN" dirty="0"/>
              <a:t>(int r) {</a:t>
            </a:r>
          </a:p>
          <a:p>
            <a:pPr marL="0" indent="0">
              <a:buNone/>
            </a:pPr>
            <a:r>
              <a:rPr lang="en-IN" dirty="0"/>
              <a:t>        if (r &gt; 0)</a:t>
            </a:r>
          </a:p>
          <a:p>
            <a:pPr marL="0" indent="0">
              <a:buNone/>
            </a:pPr>
            <a:r>
              <a:rPr lang="en-IN" dirty="0"/>
              <a:t>            roll = r;</a:t>
            </a:r>
          </a:p>
          <a:p>
            <a:pPr marL="0" indent="0">
              <a:buNone/>
            </a:pPr>
            <a:r>
              <a:rPr lang="en-IN" dirty="0"/>
              <a:t>        else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"Invalid Roll Number!\n";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17D84-432D-7E24-FC9C-A4631E33A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83458"/>
            <a:ext cx="5181600" cy="579350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Getter for roll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getRoll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Setter for name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setName</a:t>
            </a:r>
            <a:r>
              <a:rPr lang="en-IN" dirty="0"/>
              <a:t>(string n) {</a:t>
            </a:r>
          </a:p>
          <a:p>
            <a:pPr marL="0" indent="0">
              <a:buNone/>
            </a:pPr>
            <a:r>
              <a:rPr lang="en-IN" dirty="0"/>
              <a:t>        if (!</a:t>
            </a:r>
            <a:r>
              <a:rPr lang="en-IN" dirty="0" err="1"/>
              <a:t>n.empty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          name = n;</a:t>
            </a:r>
          </a:p>
          <a:p>
            <a:pPr marL="0" indent="0">
              <a:buNone/>
            </a:pPr>
            <a:r>
              <a:rPr lang="en-IN" dirty="0"/>
              <a:t>        else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"Name cannot be empty!\n";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Getter for name</a:t>
            </a:r>
          </a:p>
          <a:p>
            <a:pPr marL="0" indent="0">
              <a:buNone/>
            </a:pPr>
            <a:r>
              <a:rPr lang="en-IN" dirty="0"/>
              <a:t>    string </a:t>
            </a:r>
            <a:r>
              <a:rPr lang="en-IN" dirty="0" err="1"/>
              <a:t>getName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name;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82914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93A8-9304-A500-F5D9-63C8253D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C2833-57BB-E387-9DAC-098F8D809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47252"/>
            <a:ext cx="5181600" cy="542971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Setter for marks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setMarks</a:t>
            </a:r>
            <a:r>
              <a:rPr lang="en-IN" dirty="0"/>
              <a:t>(int m) {</a:t>
            </a:r>
          </a:p>
          <a:p>
            <a:pPr marL="0" indent="0">
              <a:buNone/>
            </a:pPr>
            <a:r>
              <a:rPr lang="en-IN" dirty="0"/>
              <a:t>        if (m &gt;= 0 &amp;&amp; m &lt;= 100)</a:t>
            </a:r>
          </a:p>
          <a:p>
            <a:pPr marL="0" indent="0">
              <a:buNone/>
            </a:pPr>
            <a:r>
              <a:rPr lang="en-IN" dirty="0"/>
              <a:t>            marks = m;</a:t>
            </a:r>
          </a:p>
          <a:p>
            <a:pPr marL="0" indent="0">
              <a:buNone/>
            </a:pPr>
            <a:r>
              <a:rPr lang="en-IN" dirty="0"/>
              <a:t>        else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"Marks must be between 0 and 100!\n";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Getter for marks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getMarks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"Name: " &lt;&lt; name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C8D655-B51A-F52A-ACD5-528FD5A08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58761"/>
            <a:ext cx="5181600" cy="551820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s1.setRoll(101);</a:t>
            </a:r>
          </a:p>
          <a:p>
            <a:pPr marL="0" indent="0">
              <a:buNone/>
            </a:pPr>
            <a:r>
              <a:rPr lang="en-IN" dirty="0"/>
              <a:t>    s1.setName("Rohit");</a:t>
            </a:r>
          </a:p>
          <a:p>
            <a:pPr marL="0" indent="0">
              <a:buNone/>
            </a:pPr>
            <a:r>
              <a:rPr lang="en-IN" dirty="0"/>
              <a:t>    s1.setMarks(85);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s1.display();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34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2316C2-580C-6FB9-92EE-A5FD867B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Member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38756-A9BE-DC41-7DA7-42956D0B6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that is declared inside a class and works on the data members of that class is called a member function.</a:t>
            </a:r>
          </a:p>
          <a:p>
            <a:r>
              <a:rPr lang="en-US" dirty="0"/>
              <a:t>Variables inside class → Data Members</a:t>
            </a:r>
          </a:p>
          <a:p>
            <a:r>
              <a:rPr lang="en-US" dirty="0"/>
              <a:t>Functions inside class → Member Functions</a:t>
            </a:r>
          </a:p>
          <a:p>
            <a:r>
              <a:rPr lang="en-US" b="1" dirty="0"/>
              <a:t>Why Member Functions?</a:t>
            </a:r>
          </a:p>
          <a:p>
            <a:r>
              <a:rPr lang="en-US" dirty="0"/>
              <a:t>To operate on private data</a:t>
            </a:r>
          </a:p>
          <a:p>
            <a:r>
              <a:rPr lang="en-US" dirty="0"/>
              <a:t>To modify object data</a:t>
            </a:r>
          </a:p>
          <a:p>
            <a:r>
              <a:rPr lang="en-US" dirty="0"/>
              <a:t>To maintain encapsulation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67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2C09-2ACB-F50F-6FE7-CD7CEDEA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320D-7F4C-78A2-1E12-4CDFBDE6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setMarks</a:t>
            </a:r>
            <a:r>
              <a:rPr lang="en-IN" dirty="0"/>
              <a:t>(int m) {</a:t>
            </a:r>
          </a:p>
          <a:p>
            <a:pPr marL="0" indent="0">
              <a:buNone/>
            </a:pPr>
            <a:r>
              <a:rPr lang="en-IN" dirty="0"/>
              <a:t>        marks = m;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showMarks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r>
              <a:rPr lang="en-US" dirty="0" err="1"/>
              <a:t>setMarks</a:t>
            </a:r>
            <a:r>
              <a:rPr lang="en-US" dirty="0"/>
              <a:t>() and </a:t>
            </a:r>
            <a:r>
              <a:rPr lang="en-US" dirty="0" err="1"/>
              <a:t>showMarks</a:t>
            </a:r>
            <a:r>
              <a:rPr lang="en-US" dirty="0"/>
              <a:t>() are member functions.</a:t>
            </a:r>
          </a:p>
          <a:p>
            <a:r>
              <a:rPr lang="en-US" dirty="0"/>
              <a:t>They can access private data directly.</a:t>
            </a:r>
          </a:p>
          <a:p>
            <a:r>
              <a:rPr lang="en-US" dirty="0"/>
              <a:t>Outside functions cannot access private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98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EFC1-6907-8785-1343-A9FC1F13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2076B-8BD7-A604-5718-8B35AC56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/>
          <a:lstStyle/>
          <a:p>
            <a:r>
              <a:rPr lang="en-IN" b="1" dirty="0"/>
              <a:t>Types of Member Functions – </a:t>
            </a:r>
          </a:p>
          <a:p>
            <a:r>
              <a:rPr lang="en-US" b="1" dirty="0"/>
              <a:t>1 - Inside Class Definition</a:t>
            </a:r>
          </a:p>
          <a:p>
            <a:r>
              <a:rPr lang="en-US" dirty="0"/>
              <a:t>Defined directly inside class.</a:t>
            </a:r>
          </a:p>
          <a:p>
            <a:r>
              <a:rPr lang="en-US" dirty="0"/>
              <a:t>class Demo 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    void show()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"Hello";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Automatically treated as </a:t>
            </a:r>
            <a:r>
              <a:rPr lang="en-US" b="1" dirty="0"/>
              <a:t>inline</a:t>
            </a:r>
            <a:r>
              <a:rPr lang="en-US" dirty="0"/>
              <a:t>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1383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BA59-5F85-4EA4-ED22-834C4402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2CA2F-43FD-DE8E-C0E9-97571A719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/>
          <a:lstStyle/>
          <a:p>
            <a:r>
              <a:rPr lang="en-US" b="1" dirty="0"/>
              <a:t>2 - Outside Class Definition</a:t>
            </a:r>
          </a:p>
          <a:p>
            <a:r>
              <a:rPr lang="en-US" dirty="0"/>
              <a:t>Declared inside class, defined outside using :: (Scope Resolution Operator)</a:t>
            </a:r>
          </a:p>
          <a:p>
            <a:r>
              <a:rPr lang="en-US" dirty="0"/>
              <a:t>class Demo 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    void show();   // declaration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void Demo::show() {   // definition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"Hello";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194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BD63-A2A7-B705-2820-C1D0C9F7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03B23-48DC-F1C5-86E5-4DFAC2BA8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/>
          <a:lstStyle/>
          <a:p>
            <a:r>
              <a:rPr lang="en-US" b="1" dirty="0"/>
              <a:t>Why Define Outside the Class?</a:t>
            </a:r>
          </a:p>
          <a:p>
            <a:r>
              <a:rPr lang="en-US" dirty="0"/>
              <a:t>Better readability</a:t>
            </a:r>
          </a:p>
          <a:p>
            <a:r>
              <a:rPr lang="en-US" dirty="0"/>
              <a:t>Large programs</a:t>
            </a:r>
          </a:p>
          <a:p>
            <a:r>
              <a:rPr lang="en-US" dirty="0"/>
              <a:t>Industry standard</a:t>
            </a:r>
          </a:p>
          <a:p>
            <a:r>
              <a:rPr lang="en-US" dirty="0"/>
              <a:t>Separation of declaration &amp; definition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577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4074-1C3C-BD4E-EA71-00264962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3EFE1-4B49-4000-338E-44B0B2182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is allocated </a:t>
            </a:r>
            <a:r>
              <a:rPr lang="en-US" b="1" dirty="0"/>
              <a:t>only when object is created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NOT when class is defined.</a:t>
            </a:r>
          </a:p>
          <a:p>
            <a:r>
              <a:rPr lang="en-US" dirty="0"/>
              <a:t>class Student {</a:t>
            </a:r>
          </a:p>
          <a:p>
            <a:r>
              <a:rPr lang="en-US" dirty="0"/>
              <a:t>    int roll;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Here → No memory allocated yet.</a:t>
            </a:r>
          </a:p>
          <a:p>
            <a:r>
              <a:rPr lang="en-US" dirty="0"/>
              <a:t>But:</a:t>
            </a:r>
          </a:p>
          <a:p>
            <a:r>
              <a:rPr lang="en-US" dirty="0"/>
              <a:t>Student s1;</a:t>
            </a:r>
          </a:p>
          <a:p>
            <a:r>
              <a:rPr lang="en-US" dirty="0"/>
              <a:t>Now memory is allocated.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47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D6F2B-D64C-4CE5-2692-9F34578B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6D3B4-47A9-36E9-4DA0-67CF5983E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Where is Memory Allocated?</a:t>
            </a:r>
          </a:p>
          <a:p>
            <a:r>
              <a:rPr lang="en-US" b="1" dirty="0"/>
              <a:t>🔹 Objects → Stack (Normally)</a:t>
            </a:r>
          </a:p>
          <a:p>
            <a:r>
              <a:rPr lang="en-US" dirty="0"/>
              <a:t>Student s1;</a:t>
            </a:r>
          </a:p>
          <a:p>
            <a:r>
              <a:rPr lang="en-US" dirty="0"/>
              <a:t>Stored in stack memory.</a:t>
            </a:r>
          </a:p>
          <a:p>
            <a:r>
              <a:rPr lang="en-US" b="1" dirty="0"/>
              <a:t>🔹 Using new → Heap</a:t>
            </a:r>
          </a:p>
          <a:p>
            <a:r>
              <a:rPr lang="en-US" dirty="0"/>
              <a:t>Student* s2 = new Student;</a:t>
            </a:r>
          </a:p>
          <a:p>
            <a:r>
              <a:rPr lang="en-IN" dirty="0"/>
              <a:t>Stored in heap memory.</a:t>
            </a:r>
          </a:p>
          <a:p>
            <a:endParaRPr lang="en-IN" dirty="0"/>
          </a:p>
          <a:p>
            <a:r>
              <a:rPr lang="en-US" b="1" dirty="0"/>
              <a:t>What Gets Memory?</a:t>
            </a:r>
          </a:p>
          <a:p>
            <a:r>
              <a:rPr lang="en-US" b="1" dirty="0"/>
              <a:t>Data Members → YES</a:t>
            </a:r>
          </a:p>
          <a:p>
            <a:r>
              <a:rPr lang="en-US" dirty="0"/>
              <a:t>Each object gets separate copy.</a:t>
            </a:r>
          </a:p>
          <a:p>
            <a:r>
              <a:rPr lang="en-US" b="1" dirty="0"/>
              <a:t>Member Functions → NO</a:t>
            </a:r>
          </a:p>
          <a:p>
            <a:r>
              <a:rPr lang="en-US" dirty="0"/>
              <a:t>Only one copy shared by all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877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CD14-2DBE-8CE6-F48D-0EA065FC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F1709-ABD6-5DA1-70E6-6F58EC486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US" dirty="0"/>
              <a:t>class Demo {</a:t>
            </a:r>
          </a:p>
          <a:p>
            <a:pPr marL="0" indent="0">
              <a:buNone/>
            </a:pPr>
            <a:r>
              <a:rPr lang="en-US" dirty="0"/>
              <a:t>    int x;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If: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Demo d1, d2;</a:t>
            </a:r>
          </a:p>
          <a:p>
            <a:pPr marL="0" indent="0">
              <a:buNone/>
            </a:pPr>
            <a:r>
              <a:rPr lang="en-US" dirty="0"/>
              <a:t>Memory layout: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d1 → x (separate)</a:t>
            </a:r>
          </a:p>
          <a:p>
            <a:pPr marL="0" indent="0">
              <a:buNone/>
            </a:pPr>
            <a:r>
              <a:rPr lang="en-US" dirty="0"/>
              <a:t>d2 → x (separate)</a:t>
            </a:r>
          </a:p>
          <a:p>
            <a:pPr marL="0" indent="0">
              <a:buNone/>
            </a:pPr>
            <a:r>
              <a:rPr lang="en-US" dirty="0"/>
              <a:t>But member functions are common.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488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CAF1-934A-B777-9005-62C019F7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E372-3687-91C3-D6CD-93EE1DEF0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Static Data Member?</a:t>
            </a:r>
          </a:p>
          <a:p>
            <a:r>
              <a:rPr lang="en-US" dirty="0"/>
              <a:t>A static data member is shared by all objects of a class.</a:t>
            </a:r>
          </a:p>
          <a:p>
            <a:r>
              <a:rPr lang="en-US" dirty="0"/>
              <a:t>Normal data member → Separate copy for each object</a:t>
            </a:r>
            <a:br>
              <a:rPr lang="en-US" dirty="0"/>
            </a:br>
            <a:r>
              <a:rPr lang="en-US" dirty="0"/>
              <a:t>Static data member → Single copy shared by all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795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78F6-0AB7-D87A-1AB0-446BC798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DC6EF-6A9D-502F-D61B-8AA1035DB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29265"/>
            <a:ext cx="5181600" cy="5547698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Example –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    static int count;   // static data member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setRoll</a:t>
            </a:r>
            <a:r>
              <a:rPr lang="en-IN" dirty="0"/>
              <a:t>(int r) {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    count++;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12400-BEAA-237D-D8DC-8D0F31CFD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91613"/>
            <a:ext cx="5181600" cy="56853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 static void </a:t>
            </a:r>
            <a:r>
              <a:rPr lang="en-IN" dirty="0" err="1"/>
              <a:t>showCount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"Total Students: " &lt;&lt; count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Definition of static member (very important)</a:t>
            </a:r>
          </a:p>
          <a:p>
            <a:pPr marL="0" indent="0">
              <a:buNone/>
            </a:pPr>
            <a:r>
              <a:rPr lang="en-IN" dirty="0"/>
              <a:t>int Student::count = 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s1, s2, s3;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s1.setRoll(101);</a:t>
            </a:r>
          </a:p>
          <a:p>
            <a:pPr marL="0" indent="0">
              <a:buNone/>
            </a:pPr>
            <a:r>
              <a:rPr lang="en-IN" dirty="0"/>
              <a:t>    s2.setRoll(102);</a:t>
            </a:r>
          </a:p>
          <a:p>
            <a:pPr marL="0" indent="0">
              <a:buNone/>
            </a:pPr>
            <a:r>
              <a:rPr lang="en-IN" dirty="0"/>
              <a:t>    s3.setRoll(103);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Student::</a:t>
            </a:r>
            <a:r>
              <a:rPr lang="en-IN" dirty="0" err="1"/>
              <a:t>showCount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0341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7A80-FF15-356C-2FC1-0AFEA6DA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BAC5-E236-51A2-C569-914AA519C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Important Rules</a:t>
            </a:r>
          </a:p>
          <a:p>
            <a:r>
              <a:rPr lang="en-US" b="1" dirty="0"/>
              <a:t> Rule 1</a:t>
            </a:r>
          </a:p>
          <a:p>
            <a:r>
              <a:rPr lang="en-US" dirty="0"/>
              <a:t>Static data member must be defined outside class:</a:t>
            </a:r>
          </a:p>
          <a:p>
            <a:r>
              <a:rPr lang="en-US" dirty="0"/>
              <a:t>int Student::count = 0;</a:t>
            </a:r>
          </a:p>
          <a:p>
            <a:r>
              <a:rPr lang="en-US" dirty="0"/>
              <a:t>If not → linker error.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Rule 2</a:t>
            </a:r>
          </a:p>
          <a:p>
            <a:r>
              <a:rPr lang="en-US" dirty="0"/>
              <a:t>Static member is not part of object memory.</a:t>
            </a:r>
          </a:p>
          <a:p>
            <a:r>
              <a:rPr lang="en-US" dirty="0" err="1"/>
              <a:t>sizeof</a:t>
            </a:r>
            <a:r>
              <a:rPr lang="en-US" dirty="0"/>
              <a:t>(Student)</a:t>
            </a:r>
          </a:p>
          <a:p>
            <a:r>
              <a:rPr lang="en-US" dirty="0"/>
              <a:t>Does NOT include static member.</a:t>
            </a:r>
          </a:p>
          <a:p>
            <a:endParaRPr lang="en-US" dirty="0"/>
          </a:p>
          <a:p>
            <a:r>
              <a:rPr lang="en-US" b="1" dirty="0"/>
              <a:t>Rule 3</a:t>
            </a:r>
          </a:p>
          <a:p>
            <a:r>
              <a:rPr lang="en-US" dirty="0"/>
              <a:t>Access using:</a:t>
            </a:r>
          </a:p>
          <a:p>
            <a:r>
              <a:rPr lang="en-US" dirty="0" err="1"/>
              <a:t>ClassName</a:t>
            </a:r>
            <a:r>
              <a:rPr lang="en-US" dirty="0"/>
              <a:t>::</a:t>
            </a:r>
            <a:r>
              <a:rPr lang="en-US" dirty="0" err="1"/>
              <a:t>staticMember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Student::count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381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A1A9-A0ED-69FB-C91C-10ED25A6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6E09-B77C-1DEE-8821-24F8E2BB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Static Member Function</a:t>
            </a:r>
          </a:p>
          <a:p>
            <a:r>
              <a:rPr lang="en-US" dirty="0"/>
              <a:t>Definition:</a:t>
            </a:r>
          </a:p>
          <a:p>
            <a:r>
              <a:rPr lang="en-US" dirty="0"/>
              <a:t>A static member function can access only static data members.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Because static function does not belong to any object.</a:t>
            </a:r>
          </a:p>
          <a:p>
            <a:r>
              <a:rPr lang="en-US" dirty="0"/>
              <a:t>Inside static function:</a:t>
            </a:r>
          </a:p>
          <a:p>
            <a:r>
              <a:rPr lang="en-US" dirty="0"/>
              <a:t>Cannot access non-static variables</a:t>
            </a:r>
          </a:p>
          <a:p>
            <a:r>
              <a:rPr lang="en-US" dirty="0"/>
              <a:t>Cannot use this pointer</a:t>
            </a:r>
          </a:p>
          <a:p>
            <a:r>
              <a:rPr lang="en-US" dirty="0"/>
              <a:t>Can access static members</a:t>
            </a:r>
          </a:p>
          <a:p>
            <a:endParaRPr lang="en-US" dirty="0"/>
          </a:p>
          <a:p>
            <a:r>
              <a:rPr lang="en-US" dirty="0"/>
              <a:t>Normal member:</a:t>
            </a:r>
          </a:p>
          <a:p>
            <a:r>
              <a:rPr lang="en-US" dirty="0"/>
              <a:t>Each object → separate copy</a:t>
            </a:r>
          </a:p>
          <a:p>
            <a:r>
              <a:rPr lang="en-US" dirty="0"/>
              <a:t>Static member:</a:t>
            </a:r>
          </a:p>
          <a:p>
            <a:r>
              <a:rPr lang="en-US" dirty="0"/>
              <a:t>Single memory location shared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198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09AF9-D188-EE3C-A493-C63AD7DF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AF1C-F708-97A6-6268-6ED573218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3626"/>
            <a:ext cx="5181600" cy="5803337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Real Life Example</a:t>
            </a:r>
          </a:p>
          <a:p>
            <a:r>
              <a:rPr lang="en-US" dirty="0"/>
              <a:t>Count total students admitted  - 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int roll;</a:t>
            </a:r>
          </a:p>
          <a:p>
            <a:pPr marL="0" indent="0">
              <a:buNone/>
            </a:pPr>
            <a:r>
              <a:rPr lang="en-US" dirty="0"/>
              <a:t>    string name;</a:t>
            </a:r>
          </a:p>
          <a:p>
            <a:pPr marL="0" indent="0">
              <a:buNone/>
            </a:pPr>
            <a:r>
              <a:rPr lang="en-US" dirty="0"/>
              <a:t>    static int </a:t>
            </a:r>
            <a:r>
              <a:rPr lang="en-US" dirty="0" err="1"/>
              <a:t>totalStudents</a:t>
            </a:r>
            <a:r>
              <a:rPr lang="en-US" dirty="0"/>
              <a:t>;   // shared by all objects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setData</a:t>
            </a:r>
            <a:r>
              <a:rPr lang="en-US" dirty="0"/>
              <a:t>(int r, string n) {</a:t>
            </a:r>
          </a:p>
          <a:p>
            <a:pPr marL="0" indent="0">
              <a:buNone/>
            </a:pPr>
            <a:r>
              <a:rPr lang="en-US" dirty="0"/>
              <a:t>        roll = r;</a:t>
            </a:r>
          </a:p>
          <a:p>
            <a:pPr marL="0" indent="0">
              <a:buNone/>
            </a:pPr>
            <a:r>
              <a:rPr lang="en-US" dirty="0"/>
              <a:t>        name = n;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totalStudents</a:t>
            </a:r>
            <a:r>
              <a:rPr lang="en-US" dirty="0"/>
              <a:t>++;   // increase count whenever student data is set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void </a:t>
            </a:r>
            <a:r>
              <a:rPr lang="en-US" dirty="0" err="1"/>
              <a:t>showData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"Roll: " &lt;&lt; roll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"Name: " &lt;&lt; name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"-------------------"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DB40D-F0D4-651C-506D-1728F866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3626"/>
            <a:ext cx="5181600" cy="580333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static void </a:t>
            </a:r>
            <a:r>
              <a:rPr lang="en-US" dirty="0" err="1"/>
              <a:t>showTotalStudents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"Total Students Admitted: " &lt;&lt; </a:t>
            </a:r>
            <a:r>
              <a:rPr lang="en-US" dirty="0" err="1"/>
              <a:t>totalStudents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Definition of static member (mandatory)</a:t>
            </a:r>
          </a:p>
          <a:p>
            <a:pPr marL="0" indent="0">
              <a:buNone/>
            </a:pPr>
            <a:r>
              <a:rPr lang="en-US" dirty="0"/>
              <a:t>int Student::</a:t>
            </a:r>
            <a:r>
              <a:rPr lang="en-US" dirty="0" err="1"/>
              <a:t>totalStudents</a:t>
            </a:r>
            <a:r>
              <a:rPr lang="en-US" dirty="0"/>
              <a:t> = 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Student s1, s2, s3;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s1.setData(101, "Rohit");</a:t>
            </a:r>
          </a:p>
          <a:p>
            <a:pPr marL="0" indent="0">
              <a:buNone/>
            </a:pPr>
            <a:r>
              <a:rPr lang="en-US" dirty="0"/>
              <a:t>    s2.setData(102, "Amit");</a:t>
            </a:r>
          </a:p>
          <a:p>
            <a:pPr marL="0" indent="0">
              <a:buNone/>
            </a:pPr>
            <a:r>
              <a:rPr lang="en-US" dirty="0"/>
              <a:t>    s3.setData(103, "Neha");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s1.showData();</a:t>
            </a:r>
          </a:p>
          <a:p>
            <a:pPr marL="0" indent="0">
              <a:buNone/>
            </a:pPr>
            <a:r>
              <a:rPr lang="en-US" dirty="0"/>
              <a:t>    s2.showData();</a:t>
            </a:r>
          </a:p>
          <a:p>
            <a:pPr marL="0" indent="0">
              <a:buNone/>
            </a:pPr>
            <a:r>
              <a:rPr lang="en-US" dirty="0"/>
              <a:t>    s3.showData();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Student::</a:t>
            </a:r>
            <a:r>
              <a:rPr lang="en-US" dirty="0" err="1"/>
              <a:t>showTotalStudents</a:t>
            </a:r>
            <a:r>
              <a:rPr lang="en-US" dirty="0"/>
              <a:t>();   // called using class name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978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8C1C5B-0C48-73ED-0A7C-950304BC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static object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69CB9-7D8F-B0BE-05FC-7469E350B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static object</a:t>
            </a:r>
            <a:r>
              <a:rPr lang="en-US" dirty="0"/>
              <a:t> is an object that is declared using the static keyword.</a:t>
            </a:r>
          </a:p>
          <a:p>
            <a:r>
              <a:rPr lang="en-US" dirty="0"/>
              <a:t>It has:</a:t>
            </a:r>
          </a:p>
          <a:p>
            <a:r>
              <a:rPr lang="en-US" dirty="0"/>
              <a:t>Lifetime → Exists for the </a:t>
            </a:r>
            <a:r>
              <a:rPr lang="en-US" b="1" dirty="0"/>
              <a:t>entire program execution</a:t>
            </a:r>
            <a:endParaRPr lang="en-US" dirty="0"/>
          </a:p>
          <a:p>
            <a:r>
              <a:rPr lang="en-US" dirty="0"/>
              <a:t>Created only </a:t>
            </a:r>
            <a:r>
              <a:rPr lang="en-US" b="1" dirty="0"/>
              <a:t>once</a:t>
            </a:r>
            <a:endParaRPr lang="en-US" dirty="0"/>
          </a:p>
          <a:p>
            <a:r>
              <a:rPr lang="en-US" dirty="0"/>
              <a:t>Not destroyed when function ends (if declared inside function)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270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79B5-A154-6250-2162-7C65473E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9F13E-D628-16EA-F4BB-622FC1006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Static Object Inside Function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x;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"Value of x: " &lt;&lt; x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void test() {</a:t>
            </a:r>
          </a:p>
          <a:p>
            <a:pPr marL="0" indent="0">
              <a:buNone/>
            </a:pPr>
            <a:r>
              <a:rPr lang="en-IN" dirty="0"/>
              <a:t>    static Demo </a:t>
            </a:r>
            <a:r>
              <a:rPr lang="en-IN" dirty="0" err="1"/>
              <a:t>obj</a:t>
            </a:r>
            <a:r>
              <a:rPr lang="en-IN" dirty="0"/>
              <a:t>;   // static object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obj.x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obj.show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test();</a:t>
            </a:r>
          </a:p>
          <a:p>
            <a:pPr marL="0" indent="0">
              <a:buNone/>
            </a:pPr>
            <a:r>
              <a:rPr lang="en-IN" dirty="0"/>
              <a:t>    test();</a:t>
            </a:r>
          </a:p>
          <a:p>
            <a:pPr marL="0" indent="0">
              <a:buNone/>
            </a:pPr>
            <a:r>
              <a:rPr lang="en-IN" dirty="0"/>
              <a:t>    test();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169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1947-3E66-45A8-1F8A-4224F9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A772-9736-4CDB-4960-A474C37DB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Output – </a:t>
            </a:r>
          </a:p>
          <a:p>
            <a:r>
              <a:rPr lang="en-US" dirty="0"/>
              <a:t>Value of x: 1</a:t>
            </a:r>
          </a:p>
          <a:p>
            <a:r>
              <a:rPr lang="en-US" dirty="0"/>
              <a:t>Value of x: 2</a:t>
            </a:r>
          </a:p>
          <a:p>
            <a:r>
              <a:rPr lang="en-US" dirty="0"/>
              <a:t>Value of x: 3</a:t>
            </a:r>
          </a:p>
          <a:p>
            <a:endParaRPr lang="en-US" dirty="0"/>
          </a:p>
          <a:p>
            <a:r>
              <a:rPr lang="en-US" dirty="0"/>
              <a:t>obj is static.</a:t>
            </a:r>
          </a:p>
          <a:p>
            <a:r>
              <a:rPr lang="en-US" dirty="0"/>
              <a:t>It is created </a:t>
            </a:r>
            <a:r>
              <a:rPr lang="en-US" b="1" dirty="0"/>
              <a:t>only once</a:t>
            </a:r>
            <a:r>
              <a:rPr lang="en-US" dirty="0"/>
              <a:t>.</a:t>
            </a:r>
          </a:p>
          <a:p>
            <a:r>
              <a:rPr lang="en-US" dirty="0"/>
              <a:t>Its value is preserved between function calls.</a:t>
            </a:r>
          </a:p>
          <a:p>
            <a:r>
              <a:rPr lang="en-US" dirty="0"/>
              <a:t>That’s why x keeps increasing.</a:t>
            </a:r>
          </a:p>
          <a:p>
            <a:r>
              <a:rPr lang="en-US" dirty="0"/>
              <a:t>If it was normal object:</a:t>
            </a:r>
          </a:p>
          <a:p>
            <a:r>
              <a:rPr lang="en-US" dirty="0"/>
              <a:t>Demo obj;   // non-static</a:t>
            </a:r>
          </a:p>
          <a:p>
            <a:r>
              <a:rPr lang="en-US" dirty="0"/>
              <a:t>Then output would be: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Because object would be created again every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478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CA8D-0C02-7AAD-3D61-DEBBB5D3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3F829-AC8B-21CA-C580-C9525A71B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Static Object Outside Function (Global Static Object)</a:t>
            </a:r>
          </a:p>
          <a:p>
            <a:r>
              <a:rPr lang="en-US" dirty="0"/>
              <a:t>When an object is declared </a:t>
            </a:r>
            <a:r>
              <a:rPr lang="en-US" b="1" dirty="0"/>
              <a:t>outside all functions</a:t>
            </a:r>
            <a:r>
              <a:rPr lang="en-US" dirty="0"/>
              <a:t> using static, it is called a </a:t>
            </a:r>
            <a:r>
              <a:rPr lang="en-US" b="1" dirty="0"/>
              <a:t>global static object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Demo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int x;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show()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"Value of x: " &lt;&lt; x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static Demo obj;   // Static object outside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obj.x</a:t>
            </a:r>
            <a:r>
              <a:rPr lang="en-US" dirty="0"/>
              <a:t> = 10;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obj.show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7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D788-3244-B1D0-3939-5E6FA898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1F9D1-F385-9848-5A33-52B9B1538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/>
          </a:bodyPr>
          <a:lstStyle/>
          <a:p>
            <a:r>
              <a:rPr lang="en-US" dirty="0"/>
              <a:t>obj is created before main() starts.</a:t>
            </a:r>
          </a:p>
          <a:p>
            <a:r>
              <a:rPr lang="en-US" dirty="0"/>
              <a:t>It exists till the program ends.</a:t>
            </a:r>
          </a:p>
          <a:p>
            <a:r>
              <a:rPr lang="en-US" dirty="0"/>
              <a:t>Because of static, it is accessible only in this file (not other files).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944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58D8-9F11-EF58-3D37-2399777D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E7E66-B81B-5FB9-792E-2DFA5FC86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C++, we can create an </a:t>
            </a:r>
            <a:r>
              <a:rPr lang="en-US" b="1" dirty="0"/>
              <a:t>array of objects</a:t>
            </a:r>
            <a:r>
              <a:rPr lang="en-US" dirty="0"/>
              <a:t> just like we create an array of integers or floats.</a:t>
            </a:r>
            <a:br>
              <a:rPr lang="en-US" dirty="0"/>
            </a:br>
            <a:r>
              <a:rPr lang="en-US" dirty="0"/>
              <a:t>It means we store </a:t>
            </a:r>
            <a:r>
              <a:rPr lang="en-US" b="1" dirty="0"/>
              <a:t>multiple objects of the same class</a:t>
            </a:r>
            <a:r>
              <a:rPr lang="en-US" dirty="0"/>
              <a:t> in a single array.</a:t>
            </a:r>
          </a:p>
          <a:p>
            <a:r>
              <a:rPr lang="en-US" b="1" dirty="0"/>
              <a:t>Why we need Array of Objects?</a:t>
            </a:r>
          </a:p>
          <a:p>
            <a:r>
              <a:rPr lang="en-US" dirty="0"/>
              <a:t>Suppose you want to store data of 5 students.</a:t>
            </a:r>
          </a:p>
          <a:p>
            <a:r>
              <a:rPr lang="en-US" dirty="0"/>
              <a:t>Instead of writing:</a:t>
            </a:r>
          </a:p>
          <a:p>
            <a:r>
              <a:rPr lang="en-US" dirty="0"/>
              <a:t>Student s1, s2, s3, s4, s5;</a:t>
            </a:r>
          </a:p>
          <a:p>
            <a:r>
              <a:rPr lang="en-US" dirty="0"/>
              <a:t>We can write:</a:t>
            </a:r>
          </a:p>
          <a:p>
            <a:r>
              <a:rPr lang="en-US" dirty="0"/>
              <a:t>Student s[5];</a:t>
            </a:r>
          </a:p>
          <a:p>
            <a:r>
              <a:rPr lang="en-US" dirty="0"/>
              <a:t>Now s is an array containing </a:t>
            </a:r>
            <a:r>
              <a:rPr lang="en-US" b="1" dirty="0"/>
              <a:t>5 objects of Student class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178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3727-0A4B-0AE7-ED71-04EA84D3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311C4-4D56-3364-EC57-48D867EE3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88883"/>
            <a:ext cx="5181600" cy="578808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Example 1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getData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name: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name;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"Name: " &lt;&lt; name &lt;&lt; ", 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7A512-D745-44A1-8139-E34AC46B2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2248"/>
            <a:ext cx="5181600" cy="592471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Student s[3];   // Array of 3 objects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Input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3;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nStudent</a:t>
            </a:r>
            <a:r>
              <a:rPr lang="en-IN" dirty="0"/>
              <a:t> " &lt;&lt; i+1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s[</a:t>
            </a:r>
            <a:r>
              <a:rPr lang="en-IN" dirty="0" err="1"/>
              <a:t>i</a:t>
            </a:r>
            <a:r>
              <a:rPr lang="en-IN" dirty="0"/>
              <a:t>].</a:t>
            </a:r>
            <a:r>
              <a:rPr lang="en-IN" dirty="0" err="1"/>
              <a:t>getData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Output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nStudent</a:t>
            </a:r>
            <a:r>
              <a:rPr lang="en-IN" dirty="0"/>
              <a:t> Details:\n";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3;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s[</a:t>
            </a:r>
            <a:r>
              <a:rPr lang="en-IN" dirty="0" err="1"/>
              <a:t>i</a:t>
            </a:r>
            <a:r>
              <a:rPr lang="en-IN" dirty="0"/>
              <a:t>].display();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186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F0F0A5-84D0-41A5-E96D-33ACB7AC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Friend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D5668-DBEB-E263-7977-B1EF460E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C++, a </a:t>
            </a:r>
            <a:r>
              <a:rPr lang="en-US" b="1" dirty="0"/>
              <a:t>friend function</a:t>
            </a:r>
            <a:r>
              <a:rPr lang="en-US" dirty="0"/>
              <a:t> is a function that is </a:t>
            </a:r>
            <a:r>
              <a:rPr lang="en-US" b="1" dirty="0"/>
              <a:t>not a member of a class</a:t>
            </a:r>
            <a:r>
              <a:rPr lang="en-US" dirty="0"/>
              <a:t>, but it can access the </a:t>
            </a:r>
            <a:r>
              <a:rPr lang="en-US" b="1" dirty="0"/>
              <a:t>private and protected members</a:t>
            </a:r>
            <a:r>
              <a:rPr lang="en-US" dirty="0"/>
              <a:t> of that class.</a:t>
            </a:r>
          </a:p>
          <a:p>
            <a:r>
              <a:rPr lang="en-US" dirty="0"/>
              <a:t>Normally, private data cannot be accessed outside the class.</a:t>
            </a:r>
            <a:br>
              <a:rPr lang="en-US" dirty="0"/>
            </a:br>
            <a:r>
              <a:rPr lang="en-US" dirty="0"/>
              <a:t>But by using friend, we give special permission.</a:t>
            </a:r>
          </a:p>
          <a:p>
            <a:endParaRPr lang="en-US" dirty="0"/>
          </a:p>
          <a:p>
            <a:r>
              <a:rPr lang="en-US" b="1" dirty="0"/>
              <a:t>Why Do We Need Friend Function?</a:t>
            </a:r>
          </a:p>
          <a:p>
            <a:r>
              <a:rPr lang="en-US" dirty="0"/>
              <a:t>Sometimes we need:</a:t>
            </a:r>
          </a:p>
          <a:p>
            <a:r>
              <a:rPr lang="en-US" dirty="0"/>
              <a:t>To access private data of </a:t>
            </a:r>
            <a:r>
              <a:rPr lang="en-US" b="1" dirty="0"/>
              <a:t>two different classes</a:t>
            </a:r>
            <a:endParaRPr lang="en-US" dirty="0"/>
          </a:p>
          <a:p>
            <a:r>
              <a:rPr lang="en-US" dirty="0"/>
              <a:t>To perform </a:t>
            </a:r>
            <a:r>
              <a:rPr lang="en-US" b="1" dirty="0"/>
              <a:t>operator overloading</a:t>
            </a:r>
            <a:endParaRPr lang="en-US" dirty="0"/>
          </a:p>
          <a:p>
            <a:r>
              <a:rPr lang="en-US" dirty="0"/>
              <a:t>To allow an external function to access private members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108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DC24-5FB5-D488-2B85-7CBDA601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BEEB-3142-6DED-A3B6-8C7CC3453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/>
          </a:bodyPr>
          <a:lstStyle/>
          <a:p>
            <a:r>
              <a:rPr lang="en-US" b="1" dirty="0"/>
              <a:t>Basic Syntax</a:t>
            </a:r>
          </a:p>
          <a:p>
            <a:r>
              <a:rPr lang="en-US" dirty="0"/>
              <a:t>class </a:t>
            </a:r>
            <a:r>
              <a:rPr lang="en-US" dirty="0" err="1"/>
              <a:t>ClassName</a:t>
            </a:r>
            <a:r>
              <a:rPr lang="en-US" dirty="0"/>
              <a:t> {</a:t>
            </a:r>
          </a:p>
          <a:p>
            <a:r>
              <a:rPr lang="en-US" dirty="0"/>
              <a:t>    friend </a:t>
            </a:r>
            <a:r>
              <a:rPr lang="en-US" dirty="0" err="1"/>
              <a:t>returnType</a:t>
            </a:r>
            <a:r>
              <a:rPr lang="en-US" dirty="0"/>
              <a:t> </a:t>
            </a:r>
            <a:r>
              <a:rPr lang="en-US" dirty="0" err="1"/>
              <a:t>functionName</a:t>
            </a:r>
            <a:r>
              <a:rPr lang="en-US" dirty="0"/>
              <a:t>(arguments);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The function is declared inside class using friend keyword.</a:t>
            </a:r>
          </a:p>
          <a:p>
            <a:r>
              <a:rPr lang="en-US" dirty="0"/>
              <a:t>But it is defined outside the 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91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860E-7507-E220-B406-16BE3074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2DB8-99CF-7994-A8FB-0AC1CB134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72662"/>
            <a:ext cx="5181600" cy="55043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x;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setValue</a:t>
            </a:r>
            <a:r>
              <a:rPr lang="en-IN" dirty="0"/>
              <a:t>(int a) {</a:t>
            </a:r>
          </a:p>
          <a:p>
            <a:pPr marL="0" indent="0">
              <a:buNone/>
            </a:pPr>
            <a:r>
              <a:rPr lang="en-IN" dirty="0"/>
              <a:t>        x = a;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friend void show(Demo </a:t>
            </a:r>
            <a:r>
              <a:rPr lang="en-IN" dirty="0" err="1"/>
              <a:t>obj</a:t>
            </a:r>
            <a:r>
              <a:rPr lang="en-IN" dirty="0"/>
              <a:t>);   // Friend function declaration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9CFA3-32A3-6165-3830-92D9E1224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56745"/>
            <a:ext cx="5181600" cy="54202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void show(Demo </a:t>
            </a:r>
            <a:r>
              <a:rPr lang="en-IN" dirty="0" err="1"/>
              <a:t>obj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"Value of x: " &lt;&lt; </a:t>
            </a:r>
            <a:r>
              <a:rPr lang="en-IN" dirty="0" err="1"/>
              <a:t>obj.x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   // Access private data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Demo d;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d.setValue</a:t>
            </a:r>
            <a:r>
              <a:rPr lang="en-IN" dirty="0"/>
              <a:t>(10);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show(d);   // Normal function call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988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CDF08-E61D-9111-2D16-F6113B67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5233B-A17B-647A-4FD4-1E27E6F88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41434"/>
            <a:ext cx="5181600" cy="5735529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Example 2 –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B;   // Forward declaration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A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numA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setA</a:t>
            </a:r>
            <a:r>
              <a:rPr lang="en-IN" dirty="0"/>
              <a:t>(int x)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numA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friend void add(A, B);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numB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7C181-5AC9-0800-A401-35FC96D98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72662"/>
            <a:ext cx="5181600" cy="573552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setB</a:t>
            </a:r>
            <a:r>
              <a:rPr lang="en-IN" dirty="0"/>
              <a:t>(int y)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numB</a:t>
            </a:r>
            <a:r>
              <a:rPr lang="en-IN" dirty="0"/>
              <a:t> = y;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friend void add(A, B);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void add(A obj1, B obj2)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"Sum: " &lt;&lt; obj1.numA + obj2.numB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 </a:t>
            </a:r>
            <a:r>
              <a:rPr lang="en-IN" dirty="0" err="1"/>
              <a:t>a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B </a:t>
            </a:r>
            <a:r>
              <a:rPr lang="en-IN" dirty="0" err="1"/>
              <a:t>b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a.setA</a:t>
            </a:r>
            <a:r>
              <a:rPr lang="en-IN" dirty="0"/>
              <a:t>(5);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b.setB</a:t>
            </a:r>
            <a:r>
              <a:rPr lang="en-IN" dirty="0"/>
              <a:t>(10);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add(a, b);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3580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DC21A0-1587-F38C-C48D-4A5FFF89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Pointers to Members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51401-386B-4D60-B261-CB3A0BAAC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C++, we can create </a:t>
            </a:r>
            <a:r>
              <a:rPr lang="en-US" b="1" dirty="0"/>
              <a:t>pointers that point to members of a class</a:t>
            </a:r>
            <a:r>
              <a:rPr lang="en-US" dirty="0"/>
              <a:t>.</a:t>
            </a:r>
          </a:p>
          <a:p>
            <a:r>
              <a:rPr lang="en-US" dirty="0"/>
              <a:t>There are two types:</a:t>
            </a:r>
          </a:p>
          <a:p>
            <a:r>
              <a:rPr lang="en-US" dirty="0"/>
              <a:t>Pointer to </a:t>
            </a:r>
            <a:r>
              <a:rPr lang="en-US" b="1" dirty="0"/>
              <a:t>data member</a:t>
            </a:r>
            <a:endParaRPr lang="en-US" dirty="0"/>
          </a:p>
          <a:p>
            <a:r>
              <a:rPr lang="en-US" dirty="0"/>
              <a:t>Pointer to </a:t>
            </a:r>
            <a:r>
              <a:rPr lang="en-US" b="1" dirty="0"/>
              <a:t>member function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889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45A1-38E9-F413-CEBE-9713F534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5034-5DA1-58D0-006C-B7E4A9A7C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Pointer to Data Member</a:t>
            </a:r>
          </a:p>
          <a:p>
            <a:r>
              <a:rPr lang="en-US" b="1" dirty="0"/>
              <a:t>Syntax</a:t>
            </a:r>
          </a:p>
          <a:p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::*</a:t>
            </a:r>
            <a:r>
              <a:rPr lang="en-US" dirty="0" err="1"/>
              <a:t>pointerName</a:t>
            </a:r>
            <a:r>
              <a:rPr lang="en-US" dirty="0"/>
              <a:t>;</a:t>
            </a:r>
          </a:p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Student s;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s.marks</a:t>
            </a:r>
            <a:r>
              <a:rPr lang="en-IN" dirty="0"/>
              <a:t> = 95;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Student::*</a:t>
            </a:r>
            <a:r>
              <a:rPr lang="en-IN" dirty="0" err="1"/>
              <a:t>ptr</a:t>
            </a:r>
            <a:r>
              <a:rPr lang="en-IN" dirty="0"/>
              <a:t> = &amp;Student::marks;   // Pointer to data member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"Marks: " &lt;&lt; s.*</a:t>
            </a:r>
            <a:r>
              <a:rPr lang="en-IN" dirty="0" err="1"/>
              <a:t>ptr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975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481C5-A565-3190-3A8E-CB04761E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20C72-5C2D-4A80-BFCD-9A922A841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8"/>
            <a:ext cx="10515600" cy="5781367"/>
          </a:xfrm>
        </p:spPr>
        <p:txBody>
          <a:bodyPr>
            <a:normAutofit fontScale="32500" lnSpcReduction="20000"/>
          </a:bodyPr>
          <a:lstStyle/>
          <a:p>
            <a:r>
              <a:rPr lang="en-US" b="1" dirty="0"/>
              <a:t>Pointer to Member Function</a:t>
            </a:r>
          </a:p>
          <a:p>
            <a:r>
              <a:rPr lang="en-US" b="1" dirty="0"/>
              <a:t>Syntax</a:t>
            </a:r>
          </a:p>
          <a:p>
            <a:r>
              <a:rPr lang="en-US" dirty="0" err="1"/>
              <a:t>returnType</a:t>
            </a:r>
            <a:r>
              <a:rPr lang="en-US" dirty="0"/>
              <a:t> (</a:t>
            </a:r>
            <a:r>
              <a:rPr lang="en-US" dirty="0" err="1"/>
              <a:t>ClassName</a:t>
            </a:r>
            <a:r>
              <a:rPr lang="en-US" dirty="0"/>
              <a:t>::*</a:t>
            </a:r>
            <a:r>
              <a:rPr lang="en-US" dirty="0" err="1"/>
              <a:t>pointerName</a:t>
            </a:r>
            <a:r>
              <a:rPr lang="en-US" dirty="0"/>
              <a:t>)(</a:t>
            </a:r>
            <a:r>
              <a:rPr lang="en-US" dirty="0" err="1"/>
              <a:t>parameters_data_type</a:t>
            </a:r>
            <a:r>
              <a:rPr lang="en-US" dirty="0"/>
              <a:t>);</a:t>
            </a:r>
          </a:p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"Hello from member function"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Demo 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(Demo::*</a:t>
            </a:r>
            <a:r>
              <a:rPr lang="en-IN" dirty="0" err="1"/>
              <a:t>funcPtr</a:t>
            </a:r>
            <a:r>
              <a:rPr lang="en-IN" dirty="0"/>
              <a:t>)() = &amp;Demo::show;   // Pointer to member function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(d.*</a:t>
            </a:r>
            <a:r>
              <a:rPr lang="en-IN" dirty="0" err="1"/>
              <a:t>funcPtr</a:t>
            </a:r>
            <a:r>
              <a:rPr lang="en-IN" dirty="0"/>
              <a:t>)();   // Calling using object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161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0696-8765-5905-7EDF-5826F849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BC33-BC1E-0732-D8F3-6E30B1991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constructor</a:t>
            </a:r>
            <a:r>
              <a:rPr lang="en-US" dirty="0"/>
              <a:t> is a special member function of a class that:</a:t>
            </a:r>
          </a:p>
          <a:p>
            <a:r>
              <a:rPr lang="en-US" dirty="0"/>
              <a:t>Has the </a:t>
            </a:r>
            <a:r>
              <a:rPr lang="en-US" b="1" dirty="0"/>
              <a:t>same name as the class</a:t>
            </a:r>
            <a:endParaRPr lang="en-US" dirty="0"/>
          </a:p>
          <a:p>
            <a:r>
              <a:rPr lang="en-US" dirty="0"/>
              <a:t>Is </a:t>
            </a:r>
            <a:r>
              <a:rPr lang="en-US" b="1" dirty="0"/>
              <a:t>automatically called</a:t>
            </a:r>
            <a:r>
              <a:rPr lang="en-US" dirty="0"/>
              <a:t> when an object is created</a:t>
            </a:r>
          </a:p>
          <a:p>
            <a:r>
              <a:rPr lang="en-US" dirty="0"/>
              <a:t>Is used to </a:t>
            </a:r>
            <a:r>
              <a:rPr lang="en-US" b="1" dirty="0"/>
              <a:t>initialize data members</a:t>
            </a:r>
            <a:endParaRPr lang="en-US" dirty="0"/>
          </a:p>
          <a:p>
            <a:r>
              <a:rPr lang="en-US" dirty="0"/>
              <a:t>Has </a:t>
            </a:r>
            <a:r>
              <a:rPr lang="en-US" b="1" dirty="0"/>
              <a:t>no return type</a:t>
            </a:r>
            <a:r>
              <a:rPr lang="en-US" dirty="0"/>
              <a:t> (not even void)</a:t>
            </a:r>
          </a:p>
          <a:p>
            <a:endParaRPr lang="en-US" dirty="0"/>
          </a:p>
          <a:p>
            <a:r>
              <a:rPr lang="en-US" b="1" dirty="0"/>
              <a:t>Why Do We Need a Constructor?</a:t>
            </a:r>
          </a:p>
          <a:p>
            <a:r>
              <a:rPr lang="en-US" dirty="0"/>
              <a:t>When an object is created, memory is allocated.</a:t>
            </a:r>
            <a:br>
              <a:rPr lang="en-US" dirty="0"/>
            </a:br>
            <a:r>
              <a:rPr lang="en-US" dirty="0"/>
              <a:t>A constructor initializes the object with proper values.</a:t>
            </a:r>
          </a:p>
          <a:p>
            <a:r>
              <a:rPr lang="en-US" dirty="0"/>
              <a:t>Without constructor → data members may contain garbage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46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4827E-3098-9576-0A77-2C34426B3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r>
              <a:rPr lang="en-US" b="1" dirty="0"/>
              <a:t>Types of Constructors in C++</a:t>
            </a:r>
          </a:p>
          <a:p>
            <a:r>
              <a:rPr lang="en-US" dirty="0"/>
              <a:t>Default Constructor</a:t>
            </a:r>
          </a:p>
          <a:p>
            <a:r>
              <a:rPr lang="en-US" dirty="0"/>
              <a:t>Parameterized Constructor</a:t>
            </a:r>
          </a:p>
          <a:p>
            <a:r>
              <a:rPr lang="en-US" dirty="0"/>
              <a:t>Copy Constructor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6430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BBB9-EFB5-9642-2325-BEAAB28E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B41D1-5D7A-DA93-E84F-66B27194E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Default Constructor</a:t>
            </a:r>
          </a:p>
          <a:p>
            <a:r>
              <a:rPr lang="en-US" dirty="0"/>
              <a:t>A constructor with </a:t>
            </a:r>
            <a:r>
              <a:rPr lang="en-US" b="1" dirty="0"/>
              <a:t>no parameters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Student() {        // Default constructor</a:t>
            </a:r>
          </a:p>
          <a:p>
            <a:pPr marL="0" indent="0">
              <a:buNone/>
            </a:pPr>
            <a:r>
              <a:rPr lang="en-IN" dirty="0"/>
              <a:t>        roll = 101;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"Roll: " &lt;&lt;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s1;   // Constructor automatically called</a:t>
            </a:r>
          </a:p>
          <a:p>
            <a:pPr marL="0" indent="0">
              <a:buNone/>
            </a:pPr>
            <a:r>
              <a:rPr lang="en-IN" dirty="0"/>
              <a:t>    s1.display();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275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5022-647F-8EB5-0AE7-5A5C9DEE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AF37-E675-FEAB-724D-A599D970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Parameterized Constructor</a:t>
            </a:r>
          </a:p>
          <a:p>
            <a:r>
              <a:rPr lang="en-US" dirty="0"/>
              <a:t>A constructor that takes arguments.</a:t>
            </a:r>
          </a:p>
          <a:p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Student(int r) {     // Parameterized constructor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"Roll: " &lt;&lt;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s1(105);</a:t>
            </a:r>
          </a:p>
          <a:p>
            <a:pPr marL="0" indent="0">
              <a:buNone/>
            </a:pPr>
            <a:r>
              <a:rPr lang="en-IN" dirty="0"/>
              <a:t>    s1.display();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723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A08C-6347-5BB4-D93D-6CA11467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3C09-0E93-8631-634D-03763AA97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Copy Constructor</a:t>
            </a:r>
          </a:p>
          <a:p>
            <a:r>
              <a:rPr lang="en-US" dirty="0"/>
              <a:t>Used to copy one object into another object.</a:t>
            </a:r>
          </a:p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    int roll;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Student(int r) {</a:t>
            </a:r>
          </a:p>
          <a:p>
            <a:pPr marL="0" indent="0">
              <a:buNone/>
            </a:pPr>
            <a:r>
              <a:rPr lang="en-US" dirty="0"/>
              <a:t>        roll = r;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Student(const Student &amp;s) {   // copy constructor</a:t>
            </a:r>
          </a:p>
          <a:p>
            <a:pPr marL="0" indent="0">
              <a:buNone/>
            </a:pPr>
            <a:r>
              <a:rPr lang="en-US" dirty="0"/>
              <a:t>        roll = </a:t>
            </a:r>
            <a:r>
              <a:rPr lang="en-US" dirty="0" err="1"/>
              <a:t>s.roll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void display()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"Roll: " &lt;&lt; roll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Student s1(10);</a:t>
            </a:r>
          </a:p>
          <a:p>
            <a:pPr marL="0" indent="0">
              <a:buNone/>
            </a:pPr>
            <a:r>
              <a:rPr lang="en-US" dirty="0"/>
              <a:t>    Student s2(s1);</a:t>
            </a:r>
          </a:p>
          <a:p>
            <a:pPr marL="0" indent="0">
              <a:buNone/>
            </a:pPr>
            <a:r>
              <a:rPr lang="en-US" dirty="0"/>
              <a:t>    s2.display();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1940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144D-D251-0112-C528-FED456C6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4F78-C231-E321-A5E0-E567C9903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Constructor with Default Arguments – </a:t>
            </a:r>
          </a:p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b="1" dirty="0"/>
              <a:t>    Student(int r = 100) {</a:t>
            </a:r>
          </a:p>
          <a:p>
            <a:pPr marL="0" indent="0">
              <a:buNone/>
            </a:pPr>
            <a:r>
              <a:rPr lang="en-IN" b="1" dirty="0"/>
              <a:t>        roll = r;</a:t>
            </a:r>
          </a:p>
          <a:p>
            <a:pPr marL="0" indent="0">
              <a:buNone/>
            </a:pPr>
            <a:r>
              <a:rPr lang="en-IN" b="1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"Roll: " &lt;&lt;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s1;      // Uses default value</a:t>
            </a:r>
          </a:p>
          <a:p>
            <a:pPr marL="0" indent="0">
              <a:buNone/>
            </a:pPr>
            <a:r>
              <a:rPr lang="en-IN" dirty="0"/>
              <a:t>    Student s2(200);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s1.display();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s2.display();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946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CAEC-61A9-C581-BFD8-24F42FB2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BF5C6-5A65-2FFD-B17E-C11CDA78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Constructor Overloading</a:t>
            </a:r>
          </a:p>
          <a:p>
            <a:r>
              <a:rPr lang="en-US" dirty="0"/>
              <a:t>When multiple constructors exist in same class with different parameters.</a:t>
            </a:r>
          </a:p>
          <a:p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1️⃣ Default Constructor</a:t>
            </a:r>
          </a:p>
          <a:p>
            <a:pPr marL="0" indent="0">
              <a:buNone/>
            </a:pPr>
            <a:r>
              <a:rPr lang="en-IN" dirty="0"/>
              <a:t>    Student() {</a:t>
            </a:r>
          </a:p>
          <a:p>
            <a:pPr marL="0" indent="0">
              <a:buNone/>
            </a:pPr>
            <a:r>
              <a:rPr lang="en-IN" dirty="0"/>
              <a:t>        roll = 0;</a:t>
            </a:r>
          </a:p>
          <a:p>
            <a:pPr marL="0" indent="0">
              <a:buNone/>
            </a:pPr>
            <a:r>
              <a:rPr lang="en-IN" dirty="0"/>
              <a:t>        name = "Not Assigned";</a:t>
            </a:r>
          </a:p>
          <a:p>
            <a:pPr marL="0" indent="0">
              <a:buNone/>
            </a:pPr>
            <a:r>
              <a:rPr lang="en-IN" dirty="0"/>
              <a:t>        marks = 0.0;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5086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092B-7D4D-C4EA-3694-FB5825A28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C211D-0D84-F353-CADD-7A5A3B7B0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88883"/>
            <a:ext cx="5181600" cy="578808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 // 2️⃣ Constructor with 1 parameter</a:t>
            </a:r>
          </a:p>
          <a:p>
            <a:pPr marL="0" indent="0">
              <a:buNone/>
            </a:pPr>
            <a:r>
              <a:rPr lang="en-IN" dirty="0"/>
              <a:t>    Student(int r) {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    name = "Unknown";</a:t>
            </a:r>
          </a:p>
          <a:p>
            <a:pPr marL="0" indent="0">
              <a:buNone/>
            </a:pPr>
            <a:r>
              <a:rPr lang="en-IN" dirty="0"/>
              <a:t>        marks = 0.0;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3️⃣ Constructor with 2 parameters</a:t>
            </a:r>
          </a:p>
          <a:p>
            <a:pPr marL="0" indent="0">
              <a:buNone/>
            </a:pPr>
            <a:r>
              <a:rPr lang="en-IN" dirty="0"/>
              <a:t>    Student(int r, string n) {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    name = n;</a:t>
            </a:r>
          </a:p>
          <a:p>
            <a:pPr marL="0" indent="0">
              <a:buNone/>
            </a:pPr>
            <a:r>
              <a:rPr lang="en-IN" dirty="0"/>
              <a:t>        marks = 0.0;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4️⃣ Constructor with 3 parameters</a:t>
            </a:r>
          </a:p>
          <a:p>
            <a:pPr marL="0" indent="0">
              <a:buNone/>
            </a:pPr>
            <a:r>
              <a:rPr lang="en-IN" dirty="0"/>
              <a:t>    Student(int r, string n, float m) {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    name = n;</a:t>
            </a:r>
          </a:p>
          <a:p>
            <a:pPr marL="0" indent="0">
              <a:buNone/>
            </a:pPr>
            <a:r>
              <a:rPr lang="en-IN" dirty="0"/>
              <a:t>        marks = m;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42C75-BAD6-5941-4B18-A93D7D6FF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88883"/>
            <a:ext cx="5181600" cy="578808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"Name: " &lt;&lt; name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"-------------------"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Student s1;                         // Default constructor</a:t>
            </a:r>
          </a:p>
          <a:p>
            <a:pPr marL="0" indent="0">
              <a:buNone/>
            </a:pPr>
            <a:r>
              <a:rPr lang="en-IN" dirty="0"/>
              <a:t>    Student s2(101);                    // 1 parameter</a:t>
            </a:r>
          </a:p>
          <a:p>
            <a:pPr marL="0" indent="0">
              <a:buNone/>
            </a:pPr>
            <a:r>
              <a:rPr lang="en-IN" dirty="0"/>
              <a:t>    Student s3(102, "Rahul");           // 2 parameters</a:t>
            </a:r>
          </a:p>
          <a:p>
            <a:pPr marL="0" indent="0">
              <a:buNone/>
            </a:pPr>
            <a:r>
              <a:rPr lang="en-IN" dirty="0"/>
              <a:t>    Student s4(103, "Aman", 88.5);      // 3 parameters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s1.display();</a:t>
            </a:r>
          </a:p>
          <a:p>
            <a:pPr marL="0" indent="0">
              <a:buNone/>
            </a:pPr>
            <a:r>
              <a:rPr lang="en-IN" dirty="0"/>
              <a:t>    s2.display();</a:t>
            </a:r>
          </a:p>
          <a:p>
            <a:pPr marL="0" indent="0">
              <a:buNone/>
            </a:pPr>
            <a:r>
              <a:rPr lang="en-IN" dirty="0"/>
              <a:t>    s3.display();</a:t>
            </a:r>
          </a:p>
          <a:p>
            <a:pPr marL="0" indent="0">
              <a:buNone/>
            </a:pPr>
            <a:r>
              <a:rPr lang="en-IN" dirty="0"/>
              <a:t>    s4.display();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3784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842A-D871-5AAB-A605-0E69F868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A931-E7FD-6745-AAA3-218413C6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r>
              <a:rPr lang="en-US" b="1" dirty="0"/>
              <a:t>What Happens If You Don’t Write a Constructor?</a:t>
            </a:r>
          </a:p>
          <a:p>
            <a:r>
              <a:rPr lang="en-US" dirty="0"/>
              <a:t>C++ provides a </a:t>
            </a:r>
            <a:r>
              <a:rPr lang="en-US" b="1" dirty="0"/>
              <a:t>default constructor automatically</a:t>
            </a:r>
            <a:r>
              <a:rPr lang="en-US" dirty="0"/>
              <a:t> (only if you don’t write any constructor).</a:t>
            </a:r>
          </a:p>
          <a:p>
            <a:r>
              <a:rPr lang="en-US" dirty="0"/>
              <a:t>If you write any constructor → compiler does NOT create default constructor.</a:t>
            </a:r>
          </a:p>
          <a:p>
            <a:r>
              <a:rPr lang="en-US" dirty="0"/>
              <a:t>It does NOT </a:t>
            </a:r>
            <a:r>
              <a:rPr lang="en-US" dirty="0" err="1"/>
              <a:t>initialise</a:t>
            </a:r>
            <a:r>
              <a:rPr lang="en-US" dirty="0"/>
              <a:t> normal data members.</a:t>
            </a:r>
          </a:p>
          <a:p>
            <a:r>
              <a:rPr lang="en-US" dirty="0"/>
              <a:t>It only allocates memory.</a:t>
            </a:r>
          </a:p>
          <a:p>
            <a:r>
              <a:rPr lang="en-US" dirty="0"/>
              <a:t>Members may contain garbage values (for local objects).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534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BD78A-072C-07E9-1F39-563BF20C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Destructors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92B1-B4E9-C62E-4A7D-AC0CCB8A8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destructor</a:t>
            </a:r>
            <a:r>
              <a:rPr lang="en-US" dirty="0"/>
              <a:t> is a special member function of a class that:</a:t>
            </a:r>
          </a:p>
          <a:p>
            <a:r>
              <a:rPr lang="en-US" dirty="0"/>
              <a:t>Has the </a:t>
            </a:r>
            <a:r>
              <a:rPr lang="en-US" b="1" dirty="0"/>
              <a:t>same name as the class</a:t>
            </a:r>
            <a:endParaRPr lang="en-US" dirty="0"/>
          </a:p>
          <a:p>
            <a:r>
              <a:rPr lang="en-US" dirty="0"/>
              <a:t>Is preceded by ~ (tilde)</a:t>
            </a:r>
          </a:p>
          <a:p>
            <a:r>
              <a:rPr lang="en-US" dirty="0"/>
              <a:t>Has </a:t>
            </a:r>
            <a:r>
              <a:rPr lang="en-US" b="1" dirty="0"/>
              <a:t>no return type</a:t>
            </a:r>
            <a:endParaRPr lang="en-US" dirty="0"/>
          </a:p>
          <a:p>
            <a:r>
              <a:rPr lang="en-US" dirty="0"/>
              <a:t>Takes </a:t>
            </a:r>
            <a:r>
              <a:rPr lang="en-US" b="1" dirty="0"/>
              <a:t>no parameters</a:t>
            </a:r>
            <a:endParaRPr lang="en-US" dirty="0"/>
          </a:p>
          <a:p>
            <a:r>
              <a:rPr lang="en-US" dirty="0"/>
              <a:t>Is called </a:t>
            </a:r>
            <a:r>
              <a:rPr lang="en-US" b="1" dirty="0"/>
              <a:t>automatically when object is destroyed</a:t>
            </a:r>
          </a:p>
          <a:p>
            <a:endParaRPr lang="en-US" dirty="0"/>
          </a:p>
          <a:p>
            <a:r>
              <a:rPr lang="en-US" b="1" dirty="0"/>
              <a:t>Why Do We Need Destructor?</a:t>
            </a:r>
          </a:p>
          <a:p>
            <a:r>
              <a:rPr lang="en-US" dirty="0"/>
              <a:t>Destructor is used to:</a:t>
            </a:r>
          </a:p>
          <a:p>
            <a:r>
              <a:rPr lang="en-US" dirty="0"/>
              <a:t>Free dynamically allocated memory</a:t>
            </a:r>
          </a:p>
          <a:p>
            <a:r>
              <a:rPr lang="en-US" dirty="0"/>
              <a:t>Close files</a:t>
            </a:r>
          </a:p>
          <a:p>
            <a:r>
              <a:rPr lang="en-US" dirty="0"/>
              <a:t>Release resources</a:t>
            </a:r>
          </a:p>
          <a:p>
            <a:r>
              <a:rPr lang="en-US" dirty="0"/>
              <a:t>Clean up before object is removed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1667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CFC0-1305-B27E-4071-987B7A36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9F580-F2CD-5C84-EAE7-AC7883E4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Syntax</a:t>
            </a:r>
          </a:p>
          <a:p>
            <a:r>
              <a:rPr lang="en-IN" dirty="0"/>
              <a:t>~</a:t>
            </a:r>
            <a:r>
              <a:rPr lang="en-IN" dirty="0" err="1"/>
              <a:t>ClassName</a:t>
            </a:r>
            <a:r>
              <a:rPr lang="en-IN" dirty="0"/>
              <a:t>() {</a:t>
            </a:r>
          </a:p>
          <a:p>
            <a:r>
              <a:rPr lang="en-IN" dirty="0"/>
              <a:t>    // cleanup code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Student()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"Constructor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~Student()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193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8DC31-951E-4506-3156-19267783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1AC4C3-47B5-EC52-9656-D0E78EBEA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9" y="463941"/>
            <a:ext cx="9963509" cy="16165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0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When is Destructor Called?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40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5349EBE-C05D-81AA-0208-A9EBBD805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673636"/>
              </p:ext>
            </p:extLst>
          </p:nvPr>
        </p:nvGraphicFramePr>
        <p:xfrm>
          <a:off x="905668" y="3303671"/>
          <a:ext cx="10383431" cy="2556650"/>
        </p:xfrm>
        <a:graphic>
          <a:graphicData uri="http://schemas.openxmlformats.org/drawingml/2006/table">
            <a:tbl>
              <a:tblPr/>
              <a:tblGrid>
                <a:gridCol w="5844597">
                  <a:extLst>
                    <a:ext uri="{9D8B030D-6E8A-4147-A177-3AD203B41FA5}">
                      <a16:colId xmlns:a16="http://schemas.microsoft.com/office/drawing/2014/main" val="723568768"/>
                    </a:ext>
                  </a:extLst>
                </a:gridCol>
                <a:gridCol w="4538834">
                  <a:extLst>
                    <a:ext uri="{9D8B030D-6E8A-4147-A177-3AD203B41FA5}">
                      <a16:colId xmlns:a16="http://schemas.microsoft.com/office/drawing/2014/main" val="1107191712"/>
                    </a:ext>
                  </a:extLst>
                </a:gridCol>
              </a:tblGrid>
              <a:tr h="51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Situation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Destructor Called?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332708"/>
                  </a:ext>
                </a:extLst>
              </a:tr>
              <a:tr h="51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Object goes out of scope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672120"/>
                  </a:ext>
                </a:extLst>
              </a:tr>
              <a:tr h="51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Function ends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195900"/>
                  </a:ext>
                </a:extLst>
              </a:tr>
              <a:tr h="51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Program ends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77551"/>
                  </a:ext>
                </a:extLst>
              </a:tr>
              <a:tr h="51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Courier New" panose="02070309020205020404" pitchFamily="49" charset="0"/>
                        </a:rPr>
                        <a:t>delete</a:t>
                      </a: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 is used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16211" marR="116211" marT="58106" marB="581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86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139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1BCE-CEB6-DB84-36AD-F534DFC2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6CEB-35C8-55AC-D4DA-4B805287E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r>
              <a:rPr lang="en-US" b="1" dirty="0"/>
              <a:t>Important Rules</a:t>
            </a:r>
          </a:p>
          <a:p>
            <a:r>
              <a:rPr lang="en-US" b="1" dirty="0"/>
              <a:t>1. Only ONE destructor per class</a:t>
            </a:r>
          </a:p>
          <a:p>
            <a:r>
              <a:rPr lang="en-US" dirty="0"/>
              <a:t>(No overloading allowed)</a:t>
            </a:r>
          </a:p>
          <a:p>
            <a:r>
              <a:rPr lang="en-US" b="1" dirty="0"/>
              <a:t>2. Cannot take parameters</a:t>
            </a:r>
          </a:p>
          <a:p>
            <a:r>
              <a:rPr lang="en-US" b="1" dirty="0"/>
              <a:t>3. Cannot return any value</a:t>
            </a:r>
          </a:p>
          <a:p>
            <a:r>
              <a:rPr lang="en-US" b="1" dirty="0"/>
              <a:t>4. Called automatically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4675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E1E3-B225-8394-0285-DFCF8925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363DD-218A-62F4-614D-89A03A392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8372"/>
            <a:ext cx="5181600" cy="57985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Constructors are called in </a:t>
            </a:r>
            <a:r>
              <a:rPr lang="en-US" b="1" dirty="0"/>
              <a:t>top-to-bottom order of object creation</a:t>
            </a:r>
            <a:r>
              <a:rPr lang="en-US" dirty="0"/>
              <a:t>, whereas destructors are called in the </a:t>
            </a:r>
            <a:r>
              <a:rPr lang="en-US" b="1" dirty="0"/>
              <a:t>reverse order (bottom-to-top)</a:t>
            </a:r>
            <a:r>
              <a:rPr lang="en-US" dirty="0"/>
              <a:t> of destruction.</a:t>
            </a:r>
          </a:p>
          <a:p>
            <a:endParaRPr lang="en-US" dirty="0"/>
          </a:p>
          <a:p>
            <a:r>
              <a:rPr lang="en-US" dirty="0"/>
              <a:t>Example – </a:t>
            </a:r>
          </a:p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Demo {</a:t>
            </a:r>
          </a:p>
          <a:p>
            <a:pPr marL="0" indent="0">
              <a:buNone/>
            </a:pPr>
            <a:r>
              <a:rPr lang="en-US" dirty="0"/>
              <a:t>    int id;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Demo(int 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id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"Constructor Called for Object d" &lt;&lt; id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D42E9-86CC-3491-5A73-47EAA63F8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8372"/>
            <a:ext cx="5181600" cy="579859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~Demo()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"Destructor Called for Object d" &lt;&lt; id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"Inside main()"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Demo d1(1);</a:t>
            </a:r>
          </a:p>
          <a:p>
            <a:pPr marL="0" indent="0">
              <a:buNone/>
            </a:pPr>
            <a:r>
              <a:rPr lang="en-US" dirty="0"/>
              <a:t>    Demo d2(2);</a:t>
            </a:r>
          </a:p>
          <a:p>
            <a:pPr marL="0" indent="0">
              <a:buNone/>
            </a:pPr>
            <a:r>
              <a:rPr lang="en-US" dirty="0"/>
              <a:t>    Demo d3(3);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"End of main()"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6052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E07633-6643-D7C8-9A94-C870EEBD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Overloading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F3CA4-65C0-D87E-8368-79FC95771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Function Overloading</a:t>
            </a:r>
            <a:r>
              <a:rPr lang="en-US" dirty="0"/>
              <a:t> means:</a:t>
            </a:r>
          </a:p>
          <a:p>
            <a:r>
              <a:rPr lang="en-US" dirty="0"/>
              <a:t>Same function name</a:t>
            </a:r>
          </a:p>
          <a:p>
            <a:r>
              <a:rPr lang="en-US" dirty="0"/>
              <a:t>Different parameter list (type / number / order)</a:t>
            </a:r>
          </a:p>
          <a:p>
            <a:r>
              <a:rPr lang="en-US" dirty="0"/>
              <a:t>C++ decides which function to call based on arguments.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108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2BEE-C246-A28E-4072-A7203440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36343-9639-E679-9F02-BC7C61B84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88579"/>
            <a:ext cx="5181600" cy="558838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add(int a, int b) {</a:t>
            </a:r>
          </a:p>
          <a:p>
            <a:pPr marL="0" indent="0">
              <a:buNone/>
            </a:pPr>
            <a:r>
              <a:rPr lang="en-IN" dirty="0"/>
              <a:t>        return a + b;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float add(float a, float b) {</a:t>
            </a:r>
          </a:p>
          <a:p>
            <a:pPr marL="0" indent="0">
              <a:buNone/>
            </a:pPr>
            <a:r>
              <a:rPr lang="en-IN" dirty="0"/>
              <a:t>        return a + b;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add(int a, int b, int c) {</a:t>
            </a:r>
          </a:p>
          <a:p>
            <a:pPr marL="0" indent="0">
              <a:buNone/>
            </a:pPr>
            <a:r>
              <a:rPr lang="en-IN" dirty="0"/>
              <a:t>        return a + b + c;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96C3E-0A82-F11A-6D7A-8F6E2E54C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72359"/>
            <a:ext cx="5181600" cy="530460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Demo 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d.add</a:t>
            </a:r>
            <a:r>
              <a:rPr lang="en-IN" dirty="0"/>
              <a:t>(10, 20) &lt;&lt; </a:t>
            </a:r>
            <a:r>
              <a:rPr lang="en-IN" dirty="0" err="1"/>
              <a:t>endl</a:t>
            </a:r>
            <a:r>
              <a:rPr lang="en-IN" dirty="0"/>
              <a:t>;        // int version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d.add</a:t>
            </a:r>
            <a:r>
              <a:rPr lang="en-IN" dirty="0"/>
              <a:t>(5.5f, 2.5f) &lt;&lt; </a:t>
            </a:r>
            <a:r>
              <a:rPr lang="en-IN" dirty="0" err="1"/>
              <a:t>endl</a:t>
            </a:r>
            <a:r>
              <a:rPr lang="en-IN" dirty="0"/>
              <a:t>;    // float version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d.add</a:t>
            </a:r>
            <a:r>
              <a:rPr lang="en-IN" dirty="0"/>
              <a:t>(1, 2, 3) &lt;&lt; </a:t>
            </a:r>
            <a:r>
              <a:rPr lang="en-IN" dirty="0" err="1"/>
              <a:t>endl</a:t>
            </a:r>
            <a:r>
              <a:rPr lang="en-IN" dirty="0"/>
              <a:t>;       // 3 parameter version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b="1" dirty="0"/>
              <a:t>How Compiler Decides?</a:t>
            </a:r>
          </a:p>
          <a:p>
            <a:r>
              <a:rPr lang="en-US" dirty="0"/>
              <a:t>It checks:</a:t>
            </a:r>
          </a:p>
          <a:p>
            <a:r>
              <a:rPr lang="en-US" dirty="0"/>
              <a:t>Number of parameters</a:t>
            </a:r>
          </a:p>
          <a:p>
            <a:r>
              <a:rPr lang="en-US" dirty="0"/>
              <a:t>Data types</a:t>
            </a:r>
          </a:p>
          <a:p>
            <a:r>
              <a:rPr lang="en-US" dirty="0"/>
              <a:t>Order of parameters</a:t>
            </a:r>
          </a:p>
          <a:p>
            <a:r>
              <a:rPr lang="en-US" dirty="0"/>
              <a:t>This process is called </a:t>
            </a:r>
            <a:r>
              <a:rPr lang="en-US" b="1" dirty="0"/>
              <a:t>compile-time polymorphism</a:t>
            </a:r>
            <a:r>
              <a:rPr lang="en-US" dirty="0"/>
              <a:t>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382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C564-6B3B-522B-20F7-DE9703FB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40EAF-53C4-5E14-BB70-A9DFA11D3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r>
              <a:rPr lang="en-US" b="1" dirty="0"/>
              <a:t>Invalid Overloading Example</a:t>
            </a:r>
          </a:p>
          <a:p>
            <a:r>
              <a:rPr lang="en-US" dirty="0"/>
              <a:t>Only return type different → Not allowed</a:t>
            </a:r>
          </a:p>
          <a:p>
            <a:r>
              <a:rPr lang="en-US" dirty="0"/>
              <a:t>int add(int a, int b);</a:t>
            </a:r>
          </a:p>
          <a:p>
            <a:r>
              <a:rPr lang="en-US" dirty="0"/>
              <a:t>float add(int a, int b);   //  Error</a:t>
            </a:r>
          </a:p>
          <a:p>
            <a:r>
              <a:rPr lang="en-US" dirty="0"/>
              <a:t>Because parameter list is same.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4764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27ED-3A08-7470-9C51-D864E478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05A2-2ACF-2F5F-D673-08E91E0B8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Ambiguity in Function Overloading </a:t>
            </a:r>
          </a:p>
          <a:p>
            <a:r>
              <a:rPr lang="en-US" dirty="0"/>
              <a:t>Ambiguity happens when the </a:t>
            </a:r>
            <a:r>
              <a:rPr lang="en-US" b="1" dirty="0"/>
              <a:t>compiler cannot decide</a:t>
            </a:r>
            <a:r>
              <a:rPr lang="en-US" dirty="0"/>
              <a:t> which overloaded function to call.</a:t>
            </a:r>
          </a:p>
          <a:p>
            <a:r>
              <a:rPr lang="en-IN" b="1" dirty="0"/>
              <a:t>Case 1: Type Conversion Ambiguity</a:t>
            </a:r>
          </a:p>
          <a:p>
            <a:r>
              <a:rPr lang="en-IN" dirty="0"/>
              <a:t>#include&lt;iostream&gt;</a:t>
            </a:r>
          </a:p>
          <a:p>
            <a:r>
              <a:rPr lang="en-IN" dirty="0"/>
              <a:t>using namespace std;</a:t>
            </a:r>
          </a:p>
          <a:p>
            <a:endParaRPr lang="en-IN" dirty="0"/>
          </a:p>
          <a:p>
            <a:r>
              <a:rPr lang="en-IN" dirty="0"/>
              <a:t>void fun(int x) 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"int version";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void fun(float x) 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"float version";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 {</a:t>
            </a:r>
          </a:p>
          <a:p>
            <a:r>
              <a:rPr lang="en-IN" dirty="0"/>
              <a:t>    fun(10.5);   // Ambiguous</a:t>
            </a:r>
          </a:p>
          <a:p>
            <a:r>
              <a:rPr lang="en-IN" dirty="0"/>
              <a:t>}</a:t>
            </a:r>
          </a:p>
          <a:p>
            <a:endParaRPr lang="en-IN" b="1" dirty="0"/>
          </a:p>
          <a:p>
            <a:r>
              <a:rPr lang="en-IN" b="1" dirty="0"/>
              <a:t>Why?</a:t>
            </a:r>
          </a:p>
          <a:p>
            <a:r>
              <a:rPr lang="en-IN" dirty="0"/>
              <a:t>10.5 is double by default.</a:t>
            </a:r>
          </a:p>
          <a:p>
            <a:r>
              <a:rPr lang="en-IN" dirty="0"/>
              <a:t>Compiler can convert:</a:t>
            </a:r>
          </a:p>
          <a:p>
            <a:r>
              <a:rPr lang="en-IN" dirty="0"/>
              <a:t>double → int</a:t>
            </a:r>
          </a:p>
          <a:p>
            <a:r>
              <a:rPr lang="en-IN" dirty="0"/>
              <a:t>double → float</a:t>
            </a:r>
          </a:p>
          <a:p>
            <a:r>
              <a:rPr lang="en-IN" dirty="0"/>
              <a:t>Both are possible → compiler confused → </a:t>
            </a:r>
            <a:r>
              <a:rPr lang="en-IN" b="1" dirty="0"/>
              <a:t>error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3027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8AB9-A214-3012-401C-41268D21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C310-A663-C4A5-EDD1-B7DA1ABC8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Case 2: Default Arguments Ambiguity</a:t>
            </a:r>
          </a:p>
          <a:p>
            <a:r>
              <a:rPr lang="en-IN" dirty="0"/>
              <a:t>#include&lt;iostream&gt;</a:t>
            </a:r>
          </a:p>
          <a:p>
            <a:r>
              <a:rPr lang="en-IN" dirty="0"/>
              <a:t>using namespace std;</a:t>
            </a:r>
          </a:p>
          <a:p>
            <a:endParaRPr lang="en-IN" dirty="0"/>
          </a:p>
          <a:p>
            <a:r>
              <a:rPr lang="en-IN" dirty="0"/>
              <a:t>void fun(int a) 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"One parameter";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fun(int a, int b = 0) 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"Two parameters";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fun(5);   // Ambiguous</a:t>
            </a:r>
          </a:p>
          <a:p>
            <a:r>
              <a:rPr lang="en-IN" dirty="0"/>
              <a:t>}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fun(5) matches:</a:t>
            </a:r>
          </a:p>
          <a:p>
            <a:r>
              <a:rPr lang="en-IN" dirty="0"/>
              <a:t>fun(int)</a:t>
            </a:r>
          </a:p>
          <a:p>
            <a:r>
              <a:rPr lang="en-IN" dirty="0"/>
              <a:t>fun(int, int=0)</a:t>
            </a:r>
          </a:p>
          <a:p>
            <a:r>
              <a:rPr lang="en-IN" dirty="0"/>
              <a:t>Both valid → compiler confused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4161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C8F72-8A54-E6B0-720D-41678B18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7219-DF54-AE6A-5EF2-32B3DA793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Case 3: Similar Parameter Types</a:t>
            </a:r>
          </a:p>
          <a:p>
            <a:r>
              <a:rPr lang="en-IN" dirty="0"/>
              <a:t>#include&lt;iostream&gt;</a:t>
            </a:r>
          </a:p>
          <a:p>
            <a:r>
              <a:rPr lang="en-IN" dirty="0"/>
              <a:t>using namespace std;</a:t>
            </a:r>
          </a:p>
          <a:p>
            <a:endParaRPr lang="en-IN" dirty="0"/>
          </a:p>
          <a:p>
            <a:r>
              <a:rPr lang="en-IN" dirty="0"/>
              <a:t>void fun(long x) 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"long version";</a:t>
            </a:r>
          </a:p>
          <a:p>
            <a:r>
              <a:rPr lang="en-IN"/>
              <a:t>}</a:t>
            </a:r>
            <a:endParaRPr lang="en-IN" dirty="0"/>
          </a:p>
          <a:p>
            <a:r>
              <a:rPr lang="en-IN" dirty="0"/>
              <a:t>void fun(double x) 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"double version";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 {</a:t>
            </a:r>
          </a:p>
          <a:p>
            <a:r>
              <a:rPr lang="en-IN" dirty="0"/>
              <a:t>    fun(10);   // Ambiguous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b="1" dirty="0"/>
              <a:t>Why?</a:t>
            </a:r>
          </a:p>
          <a:p>
            <a:r>
              <a:rPr lang="en-IN" dirty="0"/>
              <a:t>10 is int</a:t>
            </a:r>
          </a:p>
          <a:p>
            <a:r>
              <a:rPr lang="en-IN" dirty="0"/>
              <a:t>Compiler can convert:</a:t>
            </a:r>
          </a:p>
          <a:p>
            <a:r>
              <a:rPr lang="en-IN" dirty="0"/>
              <a:t>int → long</a:t>
            </a:r>
          </a:p>
          <a:p>
            <a:r>
              <a:rPr lang="en-IN" dirty="0"/>
              <a:t>int → double</a:t>
            </a:r>
          </a:p>
          <a:p>
            <a:r>
              <a:rPr lang="en-IN" dirty="0"/>
              <a:t>Both valid → ambiguity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7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741D-AE5D-1137-A703-F25E480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618A4-F004-5955-31C0-82857A2D1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45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A257-E50B-A43F-4CD9-A3830C55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7F2EB-F125-FCB7-1A21-A26D7603C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9326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EACB-F7C1-B485-7C49-3E001A9B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D39A-B68A-4BFC-2DE0-46247C51D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090"/>
            <a:ext cx="10515600" cy="573864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70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5084</Words>
  <Application>Microsoft Office PowerPoint</Application>
  <PresentationFormat>Widescreen</PresentationFormat>
  <Paragraphs>1098</Paragraphs>
  <Slides>61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Aptos</vt:lpstr>
      <vt:lpstr>Aptos Display</vt:lpstr>
      <vt:lpstr>Arial</vt:lpstr>
      <vt:lpstr>Courier New</vt:lpstr>
      <vt:lpstr>Office Theme</vt:lpstr>
      <vt:lpstr>Unit 3</vt:lpstr>
      <vt:lpstr>Data Hiding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Encapsulation </vt:lpstr>
      <vt:lpstr>PowerPoint Presentation</vt:lpstr>
      <vt:lpstr>PowerPoint Presentation</vt:lpstr>
      <vt:lpstr>Member Function</vt:lpstr>
      <vt:lpstr>PowerPoint Presentation</vt:lpstr>
      <vt:lpstr>PowerPoint Presentation</vt:lpstr>
      <vt:lpstr>PowerPoint Presentation</vt:lpstr>
      <vt:lpstr>PowerPoint Presentation</vt:lpstr>
      <vt:lpstr>Memory allocation,</vt:lpstr>
      <vt:lpstr>PowerPoint Presentation</vt:lpstr>
      <vt:lpstr>PowerPoint Presentation</vt:lpstr>
      <vt:lpstr>Static </vt:lpstr>
      <vt:lpstr>PowerPoint Presentation</vt:lpstr>
      <vt:lpstr>PowerPoint Presentation</vt:lpstr>
      <vt:lpstr>PowerPoint Presentation</vt:lpstr>
      <vt:lpstr>PowerPoint Presentation</vt:lpstr>
      <vt:lpstr>static object</vt:lpstr>
      <vt:lpstr>PowerPoint Presentation</vt:lpstr>
      <vt:lpstr>PowerPoint Presentation</vt:lpstr>
      <vt:lpstr>PowerPoint Presentation</vt:lpstr>
      <vt:lpstr>PowerPoint Presentation</vt:lpstr>
      <vt:lpstr>Array of Objects</vt:lpstr>
      <vt:lpstr>PowerPoint Presentation</vt:lpstr>
      <vt:lpstr>Friend Function</vt:lpstr>
      <vt:lpstr>PowerPoint Presentation</vt:lpstr>
      <vt:lpstr>PowerPoint Presentation</vt:lpstr>
      <vt:lpstr>PowerPoint Presentation</vt:lpstr>
      <vt:lpstr>Pointers to Members</vt:lpstr>
      <vt:lpstr>PowerPoint Presentation</vt:lpstr>
      <vt:lpstr>PowerPoint Presentation</vt:lpstr>
      <vt:lpstr>constructors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Destructors </vt:lpstr>
      <vt:lpstr>PowerPoint Presentation</vt:lpstr>
      <vt:lpstr>PowerPoint Presentation</vt:lpstr>
      <vt:lpstr>PowerPoint Presentation</vt:lpstr>
      <vt:lpstr>PowerPoint Presentation</vt:lpstr>
      <vt:lpstr>Function Overloading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Kamboj</dc:creator>
  <cp:lastModifiedBy>Rohit Kamboj</cp:lastModifiedBy>
  <cp:revision>190</cp:revision>
  <dcterms:created xsi:type="dcterms:W3CDTF">2026-02-11T08:53:47Z</dcterms:created>
  <dcterms:modified xsi:type="dcterms:W3CDTF">2026-02-18T03:59:15Z</dcterms:modified>
</cp:coreProperties>
</file>